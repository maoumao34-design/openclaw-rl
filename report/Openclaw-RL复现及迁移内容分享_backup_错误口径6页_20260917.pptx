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61" r:id="rId2"/>
    <p:sldId id="368" r:id="rId3"/>
    <p:sldId id="369" r:id="rId4"/>
    <p:sldId id="370" r:id="rId5"/>
    <p:sldId id="371" r:id="rId14"/>
    <p:sldId id="36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1"/>
            <p14:sldId id="368"/>
            <p14:sldId id="369"/>
            <p14:sldId id="370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自进化调研及OpenClaw-RL 方法总览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OpenClaw-RL复现实验结果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    </a:t>
            </a:r>
            <a:r>
              <a:rPr lang="en-US" altLang="zh-CN" sz="1200" noProof="1">
                <a:latin typeface="Segoe UI"/>
                <a:ea typeface="微软雅黑"/>
              </a:rPr>
              <a:t>————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    </a:t>
            </a:r>
            <a:r>
              <a:rPr lang="en-US" altLang="zh-CN" sz="1200" noProof="1">
                <a:latin typeface="Segoe UI"/>
                <a:ea typeface="微软雅黑"/>
              </a:rPr>
              <a:t>——</a:t>
            </a:r>
            <a:r>
              <a:rPr lang="zh-CN" altLang="en-US" sz="1200" noProof="1">
                <a:latin typeface="Segoe UI"/>
                <a:ea typeface="微软雅黑"/>
              </a:rPr>
              <a:t>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3453224"/>
            <a:ext cx="5248656" cy="3240184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lang="zh-CN" altLang="en-US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lang="zh-CN" altLang="en-US" noProof="1">
                <a:latin typeface="Segoe UI"/>
                <a:ea typeface="微软雅黑"/>
              </a:rPr>
              <a:t>方法已在 Personal Agent 场景复现校准，换到 </a:t>
            </a:r>
            <a:r>
              <a:rPr sz="1150" b="1" lang="zh-CN" altLang="en-US" noProof="1">
                <a:latin typeface="Segoe UI"/>
                <a:ea typeface="微软雅黑"/>
              </a:rPr>
              <a:t>MetaClaw-Bench</a:t>
            </a:r>
            <a:r>
              <a:rPr sz="1150" lang="zh-CN" altLang="en-US" noProof="1">
                <a:latin typeface="Segoe UI"/>
                <a:ea typeface="微软雅黑"/>
              </a:rPr>
              <a:t>（30 天连续任务流、CLI agent）验证方法能否迁移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lang="zh-CN" altLang="en-US" noProof="1">
                <a:latin typeface="Segoe UI"/>
                <a:ea typeface="微软雅黑"/>
              </a:rPr>
              <a:t>② 当前进展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lang="zh-CN" altLang="en-US" noProof="1">
                <a:latin typeface="Segoe UI"/>
                <a:ea typeface="微软雅黑"/>
              </a:rPr>
              <a:t>零训练基线已定版；训练前半段相对基线有提升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150" lang="zh-CN" altLang="en-US" noProof="1">
                <a:latin typeface="Segoe UI"/>
                <a:ea typeface="微软雅黑"/>
              </a:rPr>
              <a:t>后期会被长度爆炸打穿，尚未稳定跑满 30 天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4632" y="2996024"/>
            <a:ext cx="52486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sz="1000" lang="zh-CN" altLang="en-US" noProof="1">
                <a:latin typeface="Segoe UI"/>
                <a:ea typeface="微软雅黑"/>
              </a:rPr>
              <a:t>不含 MetaClaw 技能库；训练效果只跟自己的零训练基线比，不直接对照论文 Table 1</a:t>
            </a:r>
          </a:p>
        </p:txBody>
      </p:sp>
      <p:pic>
        <p:nvPicPr>
          <p:cNvPr id="8" name="Picture 7" descr="metaclaw_baseline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024128"/>
            <a:ext cx="4370832" cy="19170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56032"/>
            <a:ext cx="8677656" cy="822960"/>
          </a:xfrm>
        </p:spPr>
        <p:txBody>
          <a:bodyPr/>
          <a:lstStyle/>
          <a:p>
            <a:pPr algn="l"/>
            <a:r>
              <a:rPr sz="2600" b="1" lang="zh-CN" altLang="en-US" noProof="1">
                <a:latin typeface="Segoe UI"/>
                <a:ea typeface="微软雅黑"/>
              </a:rPr>
              <a:t>迁移实验结果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115568"/>
            <a:ext cx="5669280" cy="4160520"/>
          </a:xfrm>
        </p:spPr>
        <p:txBody>
          <a:bodyPr wrap="square"/>
          <a:lstStyle/>
          <a:p>
            <a:pPr marL="0" indent="0">
              <a:spcAft>
                <a:spcPts val="600"/>
              </a:spcAft>
              <a:buNone/>
            </a:pPr>
            <a:r>
              <a:rPr sz="1500" b="1" lang="zh-CN" altLang="en-US" noProof="1">
                <a:latin typeface="Segoe UI"/>
                <a:ea typeface="微软雅黑"/>
              </a:rPr>
              <a:t>零训练基线（按天 K=0）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lang="zh-CN" altLang="en-US" noProof="1">
                <a:latin typeface="Segoe UI"/>
                <a:ea typeface="微软雅黑"/>
              </a:rPr>
              <a:t>Acc.　　</a:t>
            </a:r>
            <a:r>
              <a:rPr sz="2400" b="1" lang="zh-CN" altLang="en-US" noProof="1">
                <a:latin typeface="Segoe UI"/>
                <a:ea typeface="微软雅黑"/>
              </a:rPr>
              <a:t>41.1%</a:t>
            </a:r>
          </a:p>
          <a:p>
            <a:pPr marL="0" indent="0">
              <a:spcAft>
                <a:spcPts val="400"/>
              </a:spcAft>
              <a:buNone/>
            </a:pPr>
            <a:r>
              <a:rPr sz="1200" lang="zh-CN" altLang="en-US" noProof="1">
                <a:latin typeface="Segoe UI"/>
                <a:ea typeface="微软雅黑"/>
              </a:rPr>
              <a:t>Compl.　</a:t>
            </a:r>
            <a:r>
              <a:rPr sz="2400" b="1" lang="zh-CN" altLang="en-US" noProof="1">
                <a:latin typeface="Segoe UI"/>
                <a:ea typeface="微软雅黑"/>
              </a:rPr>
              <a:t>26.3%</a:t>
            </a:r>
          </a:p>
          <a:p>
            <a:pPr marL="0" indent="0">
              <a:lnSpc>
                <a:spcPct val="115000"/>
              </a:lnSpc>
              <a:spcBef>
                <a:spcPts val="200"/>
              </a:spcBef>
              <a:spcAft>
                <a:spcPts val="1000"/>
              </a:spcAft>
              <a:buNone/>
            </a:pPr>
            <a:r>
              <a:rPr sz="1100" lang="zh-CN" altLang="en-US" noProof="1">
                <a:latin typeface="Segoe UI"/>
                <a:ea typeface="微软雅黑"/>
              </a:rPr>
              <a:t>同配置再跑一趟：44.7% / 25.9%（Acc 噪声约 ±3.6pt）</a:t>
            </a:r>
          </a:p>
          <a:p>
            <a:pPr marL="0" indent="0">
              <a:spcAft>
                <a:spcPts val="600"/>
              </a:spcAft>
              <a:buNone/>
            </a:pPr>
            <a:r>
              <a:rPr sz="1500" b="1" lang="zh-CN" altLang="en-US" noProof="1">
                <a:latin typeface="Segoe UI"/>
                <a:ea typeface="微软雅黑"/>
              </a:rPr>
              <a:t>最新训练 · 干净窗（day01–07）</a:t>
            </a:r>
          </a:p>
          <a:p>
            <a:pPr marL="0" indent="0">
              <a:spcAft>
                <a:spcPts val="200"/>
              </a:spcAft>
              <a:buNone/>
            </a:pPr>
            <a:r>
              <a:rPr sz="1200" lang="zh-CN" altLang="en-US" noProof="1">
                <a:latin typeface="Segoe UI"/>
                <a:ea typeface="微软雅黑"/>
              </a:rPr>
              <a:t>相对基线同窗　　</a:t>
            </a:r>
            <a:r>
              <a:rPr sz="2400" b="1" lang="zh-CN" altLang="en-US" noProof="1">
                <a:latin typeface="Segoe UI"/>
                <a:ea typeface="微软雅黑"/>
              </a:rPr>
              <a:t>+7.1 pt</a:t>
            </a:r>
          </a:p>
          <a:p>
            <a:pPr marL="0" indent="0">
              <a:lnSpc>
                <a:spcPct val="115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sz="1100" lang="zh-CN" altLang="en-US" noProof="1">
                <a:latin typeface="Segoe UI"/>
                <a:ea typeface="微软雅黑"/>
              </a:rPr>
              <a:t>Acc 67.1% vs 基线同窗 60.0%（约四分之一题量，还不是完整结论）</a:t>
            </a:r>
          </a:p>
          <a:p>
            <a:pPr marL="0" indent="0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100" lang="zh-CN" altLang="en-US" noProof="1">
                <a:latin typeface="Segoe UI"/>
                <a:ea typeface="微软雅黑"/>
              </a:rPr>
              <a:t>day08 起被超长回复打穿，全程未跑满 30 天</a:t>
            </a:r>
          </a:p>
          <a:p>
            <a:pPr marL="0" indent="0">
              <a:lnSpc>
                <a:spcPct val="115000"/>
              </a:lnSpc>
              <a:spcBef>
                <a:spcPts val="800"/>
              </a:spcBef>
              <a:spcAft>
                <a:spcPts val="200"/>
              </a:spcAft>
              <a:buNone/>
            </a:pPr>
            <a:r>
              <a:rPr sz="1100" lang="zh-CN" altLang="en-US" noProof="1">
                <a:latin typeface="Segoe UI"/>
                <a:ea typeface="微软雅黑"/>
              </a:rPr>
              <a:t>配置：Policy = Qwen3-4B-Thinking-2507　｜　30 天 / 346 题　｜　按天会话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0" y="1115568"/>
            <a:ext cx="53035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zh-CN" altLang="en-US" noProof="1">
                <a:latin typeface="Segoe UI"/>
                <a:ea typeface="微软雅黑"/>
              </a:rPr>
              <a:t>① 已确认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lang="zh-CN" altLang="en-US" noProof="1">
                <a:latin typeface="Segoe UI"/>
                <a:ea typeface="微软雅黑"/>
              </a:rPr>
              <a:t>长度爆炸是训练造成的——基线同期没有大面积 timeout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lang="zh-CN" altLang="en-US" noProof="1">
                <a:latin typeface="Segoe UI"/>
                <a:ea typeface="微软雅黑"/>
              </a:rPr>
              <a:t>训练会放大退化：一次 17% 的复读扰动，被后续更新打成 85% 的整趟崩溃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zh-CN" altLang="en-US" noProof="1">
                <a:latin typeface="Segoe UI"/>
                <a:ea typeface="微软雅黑"/>
              </a:rPr>
              <a:t>② 卡在哪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lang="zh-CN" altLang="en-US" noProof="1">
                <a:latin typeface="Segoe UI"/>
                <a:ea typeface="微软雅黑"/>
              </a:rPr>
              <a:t>还没有一趟「稳定训满 30 天、全程显著高于基线」的完整结果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lang="zh-CN" altLang="en-US" noProof="1">
                <a:latin typeface="Segoe UI"/>
                <a:ea typeface="微软雅黑"/>
              </a:rPr>
              <a:t>下一步：拦住退化样本后再训，看曲线是否走平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lang="zh-CN" altLang="en-US" noProof="1">
                <a:latin typeface="Segoe UI"/>
                <a:ea typeface="微软雅黑"/>
              </a:rPr>
              <a:t>③ 对照口径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300" lang="zh-CN" altLang="en-US" noProof="1">
                <a:latin typeface="Segoe UI"/>
                <a:ea typeface="微软雅黑"/>
              </a:rPr>
              <a:t>全套工具 agent + 30 天 / 346 题，跟论文 Table 1 任何一格都不是同一条件，不能直接比</a:t>
            </a:r>
          </a:p>
        </p:txBody>
      </p:sp>
      <p:pic>
        <p:nvPicPr>
          <p:cNvPr id="10" name="Picture 9" descr="metaclaw_dege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5394960"/>
            <a:ext cx="11219688" cy="1028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1298</Words>
  <Application>Microsoft Office PowerPoint</Application>
  <PresentationFormat>宽屏</PresentationFormat>
  <Paragraphs>46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PangMenZhengDao</vt:lpstr>
      <vt:lpstr>等线</vt:lpstr>
      <vt:lpstr>Arial</vt:lpstr>
      <vt:lpstr>Calibri</vt:lpstr>
      <vt:lpstr>Segoe UI</vt:lpstr>
      <vt:lpstr>Office Theme</vt:lpstr>
      <vt:lpstr>自进化调研及OpenClaw-RL 方法总览</vt:lpstr>
      <vt:lpstr>OpenClaw-RL 实现方法</vt:lpstr>
      <vt:lpstr>OpenClaw-RL复现实验结果</vt:lpstr>
      <vt:lpstr>方法泛化方案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21</cp:revision>
  <dcterms:created xsi:type="dcterms:W3CDTF">2025-08-12T09:33:41Z</dcterms:created>
  <dcterms:modified xsi:type="dcterms:W3CDTF">2026-09-17T01:54:03Z</dcterms:modified>
</cp:coreProperties>
</file>
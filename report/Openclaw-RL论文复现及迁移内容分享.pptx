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61" r:id="rId2"/>
    <p:sldId id="368" r:id="rId3"/>
    <p:sldId id="369" r:id="rId4"/>
    <p:sldId id="370" r:id="rId5"/>
    <p:sldId id="371" r:id="rId6"/>
    <p:sldId id="36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1"/>
            <p14:sldId id="368"/>
            <p14:sldId id="369"/>
            <p14:sldId id="370"/>
            <p14:sldId id="371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自进化调研及OpenClaw-RL 方法总览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600200"/>
            <a:ext cx="5303520" cy="4572000"/>
          </a:xfrm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① 自进化的理解</a:t>
            </a:r>
            <a:r>
              <a:rPr lang="zh-CN" altLang="en-US" sz="1500" noProof="1">
                <a:latin typeface="Segoe UI"/>
                <a:ea typeface="微软雅黑"/>
              </a:rPr>
              <a:t>　（综述 [1]）</a:t>
            </a:r>
            <a:endParaRPr lang="en-US" altLang="zh-CN" dirty="0"/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“…agentic AI is no longer defined only by what a model can infer from static data, but by how a </a:t>
            </a:r>
            <a:r>
              <a:rPr lang="zh-CN" altLang="en-US" sz="1300" b="1" noProof="1">
                <a:latin typeface="Segoe UI"/>
                <a:ea typeface="微软雅黑"/>
              </a:rPr>
              <a:t>deployed system </a:t>
            </a:r>
            <a:r>
              <a:rPr lang="zh-CN" altLang="en-US" sz="1300" noProof="1">
                <a:latin typeface="Segoe UI"/>
                <a:ea typeface="微软雅黑"/>
              </a:rPr>
              <a:t>accumulates, organizes, and reuses experience from </a:t>
            </a:r>
            <a:r>
              <a:rPr lang="zh-CN" altLang="en-US" sz="1300" b="1" noProof="1">
                <a:latin typeface="Segoe UI"/>
                <a:ea typeface="微软雅黑"/>
              </a:rPr>
              <a:t>interaction</a:t>
            </a:r>
            <a:r>
              <a:rPr lang="zh-CN" altLang="en-US" sz="1300" noProof="1">
                <a:latin typeface="Segoe UI"/>
                <a:ea typeface="微软雅黑"/>
              </a:rPr>
              <a:t>.”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② 经验的五个更新层面</a:t>
            </a:r>
            <a:r>
              <a:rPr lang="zh-CN" altLang="en-US" sz="1500" noProof="1">
                <a:latin typeface="Segoe UI"/>
                <a:ea typeface="微软雅黑"/>
              </a:rPr>
              <a:t>　（同上）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reusable skill / persistent memory / verifiable environment feedback / </a:t>
            </a:r>
            <a:r>
              <a:rPr lang="zh-CN" altLang="en-US" sz="1300" b="1" noProof="1">
                <a:latin typeface="Segoe UI"/>
                <a:ea typeface="微软雅黑"/>
              </a:rPr>
              <a:t>trainable model behavior</a:t>
            </a:r>
            <a:r>
              <a:rPr lang="zh-CN" altLang="en-US" sz="1300" noProof="1">
                <a:latin typeface="Segoe UI"/>
                <a:ea typeface="微软雅黑"/>
              </a:rPr>
              <a:t> / meta-level control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③ 本次实验的主要难点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不在 RL 算法本身，而在“经验 → 更新”这条链路：信号怎么提取、怎么区分环境故障与模型失败、训练怎么在真实运行时里跑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④ 本次工作的定位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b="1" noProof="1">
                <a:latin typeface="Segoe UI"/>
                <a:ea typeface="微软雅黑"/>
              </a:rPr>
              <a:t>OpenClaw-RL</a:t>
            </a:r>
            <a:r>
              <a:rPr lang="zh-CN" altLang="en-US" sz="1300" noProof="1">
                <a:latin typeface="Segoe UI"/>
                <a:ea typeface="微软雅黑"/>
              </a:rPr>
              <a:t> ＝ </a:t>
            </a:r>
            <a:r>
              <a:rPr lang="zh-CN" altLang="en-US" sz="1300" b="1" noProof="1">
                <a:latin typeface="Segoe UI"/>
                <a:ea typeface="微软雅黑"/>
              </a:rPr>
              <a:t>模型权重</a:t>
            </a:r>
            <a:r>
              <a:rPr lang="zh-CN" altLang="en-US" sz="1300" noProof="1">
                <a:latin typeface="Segoe UI"/>
                <a:ea typeface="微软雅黑"/>
              </a:rPr>
              <a:t>这一层，训练直接跑在真实对话流中 —— 对话本身就是训练信号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632" y="63276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950" noProof="1">
                <a:latin typeface="Segoe UI"/>
                <a:ea typeface="微软雅黑"/>
              </a:rPr>
              <a:t>[1] Self-Improving Agents in the Era of Experience: A Survey of Self- to Meta-Evolution (2026)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31720"/>
            <a:ext cx="5897880" cy="333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89657"/>
            <a:ext cx="6858000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OpenClaw-RL 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687711"/>
            <a:ext cx="6858000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① 三个角色，一套真实环境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Simulator（Qwen3-32B）按人设扮演 Student / TA / Teacher，在 OpenClaw 里与 Policy（Qwen3-4B）对话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② 两种训练顺序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b="1" noProof="1">
                <a:latin typeface="Segoe UI"/>
                <a:ea typeface="微软雅黑"/>
              </a:rPr>
              <a:t>Separate</a:t>
            </a:r>
            <a:r>
              <a:rPr lang="zh-CN" altLang="en-US" sz="1400" noProof="1">
                <a:latin typeface="Segoe UI"/>
                <a:ea typeface="微软雅黑"/>
              </a:rPr>
              <a:t>（本次已完成）：三角色各训一个模型，须依次进行　｜　</a:t>
            </a:r>
            <a:r>
              <a:rPr lang="zh-CN" altLang="en-US" sz="1400" b="1" noProof="1">
                <a:latin typeface="Segoe UI"/>
                <a:ea typeface="微软雅黑"/>
              </a:rPr>
              <a:t>Joint</a:t>
            </a:r>
            <a:r>
              <a:rPr lang="zh-CN" altLang="en-US" sz="1400" noProof="1">
                <a:latin typeface="Segoe UI"/>
                <a:ea typeface="微软雅黑"/>
              </a:rPr>
              <a:t>：三角色共享一个模型，同时训练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③ 一次回复，两条去向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对话循环：回复照常送回用户　｜　训练循环：同一次回复交给判官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④ 两类信号，同一个判官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Eval 判官答“好不好”→ GRPO；Hint 判官答“该怎么改”→ OPD。同一份 PRM 权重，只是提示词不同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⑤ 一次反传，权重回流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两个损失加权合并后一次更新，新权重同步回线上 Policy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zh-CN" altLang="en-US" sz="1600" noProof="1">
                <a:latin typeface="Segoe UI"/>
                <a:ea typeface="微软雅黑"/>
              </a:rPr>
              <a:t>训练与对话</a:t>
            </a:r>
            <a:r>
              <a:rPr lang="zh-CN" altLang="en-US" sz="1600" b="1" noProof="1">
                <a:latin typeface="Segoe UI"/>
                <a:ea typeface="微软雅黑"/>
              </a:rPr>
              <a:t>异步并行</a:t>
            </a:r>
            <a:r>
              <a:rPr lang="zh-CN" altLang="en-US" sz="1600" noProof="1">
                <a:latin typeface="Segoe UI"/>
                <a:ea typeface="微软雅黑"/>
              </a:rPr>
              <a:t>：回应照常送出，权重在线更新，全程不停机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B2743E83-F1A3-D176-F18E-8F9D99B55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265" y="320040"/>
            <a:ext cx="4400374" cy="6217920"/>
          </a:xfrm>
          <a:prstGeom prst="rect">
            <a:avLst/>
          </a:prstGeom>
        </p:spPr>
      </p:pic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OpenClaw-RL复现实验结果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" y="1481328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300" b="1" noProof="1">
                <a:latin typeface="Segoe UI"/>
                <a:ea typeface="微软雅黑"/>
              </a:rPr>
              <a:t>论文 Table 3 · 达到收敛所需的 session 数（越小越好）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65376"/>
            <a:ext cx="5074920" cy="14580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" y="3456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100" b="0" noProof="1">
                <a:latin typeface="Segoe UI"/>
                <a:ea typeface="微软雅黑"/>
              </a:rPr>
              <a:t>高亮格 19.2 = 本次复现对应的 Separate / Student / Hybrid 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93192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本次复现结果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论文    </a:t>
            </a:r>
            <a:r>
              <a:rPr lang="en-US" altLang="zh-CN" sz="1200" noProof="1">
                <a:latin typeface="Segoe UI"/>
                <a:ea typeface="微软雅黑"/>
              </a:rPr>
              <a:t>————</a:t>
            </a:r>
            <a:r>
              <a:rPr lang="zh-CN" altLang="en-US" sz="1200" noProof="1">
                <a:latin typeface="Segoe UI"/>
                <a:ea typeface="微软雅黑"/>
              </a:rPr>
              <a:t>　</a:t>
            </a:r>
            <a:r>
              <a:rPr lang="zh-CN" altLang="en-US" sz="2400" b="1" noProof="1">
                <a:latin typeface="Segoe UI"/>
                <a:ea typeface="微软雅黑"/>
              </a:rPr>
              <a:t>19.2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本次复现    </a:t>
            </a:r>
            <a:r>
              <a:rPr lang="en-US" altLang="zh-CN" sz="1200" noProof="1">
                <a:latin typeface="Segoe UI"/>
                <a:ea typeface="微软雅黑"/>
              </a:rPr>
              <a:t>——</a:t>
            </a:r>
            <a:r>
              <a:rPr lang="zh-CN" altLang="en-US" sz="1200" noProof="1">
                <a:latin typeface="Segoe UI"/>
                <a:ea typeface="微软雅黑"/>
              </a:rPr>
              <a:t>　</a:t>
            </a:r>
            <a:r>
              <a:rPr lang="zh-CN" altLang="en-US" sz="2400" b="1" noProof="1">
                <a:latin typeface="Segoe UI"/>
                <a:ea typeface="微软雅黑"/>
              </a:rPr>
              <a:t>20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配置：Policy / PRM = Qwen3-4B-Thinking-2507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　　　Simulator = DeepSeek-V4-Flash　｜　GSM8K　｜　Separate-Student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判定：rule-based，连续 3 个 session 的 Turn 1 回复均满足偏好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第 18 个 session 起共 15 次有效回复，14 次 Turn 1 直接达标，仅 1 次退化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63040"/>
            <a:ext cx="65144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1" y="112836"/>
            <a:ext cx="4964523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4460327"/>
            <a:ext cx="5394960" cy="2233081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350" b="1" noProof="1">
                <a:latin typeface="Segoe UI"/>
                <a:ea typeface="微软雅黑"/>
              </a:rPr>
              <a:t>① 任务背景</a:t>
            </a:r>
          </a:p>
          <a:p>
            <a:pPr marL="228600" lvl="1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150" noProof="1">
                <a:latin typeface="Segoe UI"/>
                <a:ea typeface="微软雅黑"/>
              </a:rPr>
              <a:t>方法已在 Personal Agent 场景复现校准，换到 </a:t>
            </a:r>
            <a:r>
              <a:rPr lang="zh-CN" altLang="en-US" sz="1150" b="1" noProof="1">
                <a:latin typeface="Segoe UI"/>
                <a:ea typeface="微软雅黑"/>
              </a:rPr>
              <a:t>MetaClaw-Bench</a:t>
            </a:r>
            <a:r>
              <a:rPr lang="zh-CN" altLang="en-US" sz="1150" noProof="1">
                <a:latin typeface="Segoe UI"/>
                <a:ea typeface="微软雅黑"/>
              </a:rPr>
              <a:t>（30 天连续任务流、CLI agent）验证能否迁移</a:t>
            </a:r>
          </a:p>
          <a:p>
            <a:pPr marL="0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350" b="1" noProof="1">
                <a:latin typeface="Segoe UI"/>
                <a:ea typeface="微软雅黑"/>
              </a:rPr>
              <a:t>② 按题隔离：训练有效果</a:t>
            </a:r>
          </a:p>
          <a:p>
            <a:pPr marL="228600" lvl="1" indent="0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zh-CN" altLang="en-US" sz="1150" noProof="1">
                <a:latin typeface="Segoe UI"/>
                <a:ea typeface="微软雅黑"/>
              </a:rPr>
              <a:t>day 6 相对同路径 day 0：Acc +2.9pt / Compl +1.8pt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metaclaw_mi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28" y="176565"/>
            <a:ext cx="6015547" cy="65168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407627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000" noProof="1">
                <a:latin typeface="Segoe UI"/>
                <a:ea typeface="微软雅黑"/>
              </a:rPr>
              <a:t>上表为本次按题隔离，不与论文 Table 1 数字直接对比</a:t>
            </a:r>
          </a:p>
        </p:txBody>
      </p:sp>
      <p:pic>
        <p:nvPicPr>
          <p:cNvPr id="8" name="Picture 7" descr="table1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987552"/>
            <a:ext cx="5394960" cy="14161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4632" y="2440305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noProof="1">
                <a:latin typeface="Segoe UI"/>
                <a:ea typeface="微软雅黑"/>
              </a:rPr>
              <a:t>论文 Table 1　·　Part I / Part II 全表（Acc. / Compl.）</a:t>
            </a:r>
          </a:p>
        </p:txBody>
      </p:sp>
      <p:pic>
        <p:nvPicPr>
          <p:cNvPr id="10" name="Picture 9" descr="perq_k0_k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2714625"/>
            <a:ext cx="5394960" cy="13250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56032"/>
            <a:ext cx="11155680" cy="822960"/>
          </a:xfrm>
        </p:spPr>
        <p:txBody>
          <a:bodyPr/>
          <a:lstStyle/>
          <a:p>
            <a:pPr algn="l"/>
            <a:r>
              <a:rPr lang="zh-CN" altLang="en-US" sz="2600" b="1" noProof="1">
                <a:latin typeface="Segoe UI"/>
                <a:ea typeface="微软雅黑"/>
              </a:rPr>
              <a:t>按天隔离实验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0" y="4224528"/>
            <a:ext cx="5605272" cy="2011680"/>
          </a:xfrm>
        </p:spPr>
        <p:txBody>
          <a:bodyPr wrap="square"/>
          <a:lstStyle/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800" b="1" noProof="1">
                <a:latin typeface="Segoe UI"/>
                <a:ea typeface="微软雅黑"/>
              </a:rPr>
              <a:t>问题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400" noProof="1">
                <a:latin typeface="Segoe UI"/>
                <a:ea typeface="微软雅黑"/>
              </a:rPr>
              <a:t>① 前八天 Acc 升、Compl 持平；day09–20 相对基线 Acc/Compl 都掉（+5.5pt → −33pt）。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1400" noProof="1">
                <a:latin typeface="Segoe UI"/>
                <a:ea typeface="微软雅黑"/>
              </a:rPr>
              <a:t>② 后半崩，是因为 day09 起大部分题目 timeout。</a:t>
            </a:r>
          </a:p>
          <a:p>
            <a:pPr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noProof="1">
                <a:latin typeface="Segoe UI"/>
                <a:ea typeface="微软雅黑"/>
              </a:rPr>
              <a:t>③ timeout 基本是重复 thinking 把 context 顶满。day09 一次 MAIN turn：同一句 ×1388，thinking 15.9 万字，finish_reason=length。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005840"/>
            <a:ext cx="11155680" cy="312359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4224528"/>
            <a:ext cx="5394960" cy="16090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67669" y="6169723"/>
            <a:ext cx="865666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noProof="1">
                <a:latin typeface="Segoe UI"/>
                <a:ea typeface="微软雅黑"/>
              </a:rPr>
              <a:t>The user's message is a user instruction, so the assistant's response is a tool call to the write tool.   </a:t>
            </a:r>
            <a:r>
              <a:rPr lang="zh-CN" altLang="en-US" sz="1500" b="1" noProof="1">
                <a:solidFill>
                  <a:srgbClr val="B02A2A"/>
                </a:solidFill>
                <a:latin typeface="Segoe UI"/>
                <a:ea typeface="微软雅黑"/>
              </a:rPr>
              <a:t>×1388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10969" i="1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5695" i="1" spc="-158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1574</Words>
  <Application>Microsoft Office PowerPoint</Application>
  <PresentationFormat>宽屏</PresentationFormat>
  <Paragraphs>53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PangMenZhengDao</vt:lpstr>
      <vt:lpstr>等线</vt:lpstr>
      <vt:lpstr>Arial</vt:lpstr>
      <vt:lpstr>Calibri</vt:lpstr>
      <vt:lpstr>Segoe UI</vt:lpstr>
      <vt:lpstr>Office Theme</vt:lpstr>
      <vt:lpstr>自进化调研及OpenClaw-RL 方法总览</vt:lpstr>
      <vt:lpstr>OpenClaw-RL 实现方法</vt:lpstr>
      <vt:lpstr>OpenClaw-RL复现实验结果</vt:lpstr>
      <vt:lpstr>方法泛化方案</vt:lpstr>
      <vt:lpstr>按天隔离实验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23</cp:revision>
  <dcterms:created xsi:type="dcterms:W3CDTF">2025-08-12T09:33:41Z</dcterms:created>
  <dcterms:modified xsi:type="dcterms:W3CDTF">2026-09-18T05:38:49Z</dcterms:modified>
</cp:coreProperties>
</file>
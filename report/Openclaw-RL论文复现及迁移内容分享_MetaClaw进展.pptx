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61" r:id="rId2"/>
    <p:sldId id="368" r:id="rId3"/>
    <p:sldId id="369" r:id="rId4"/>
    <p:sldId id="370" r:id="rId5"/>
    <p:sldId id="371" r:id="rId6"/>
    <p:sldId id="372" r:id="rId15"/>
    <p:sldId id="373" r:id="rId16"/>
    <p:sldId id="374" r:id="rId17"/>
    <p:sldId id="375" r:id="rId18"/>
    <p:sldId id="3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1"/>
            <p14:sldId id="368"/>
            <p14:sldId id="369"/>
            <p14:sldId id="370"/>
            <p14:sldId id="371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自进化调研及OpenClaw-RL 方法总览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    </a:t>
            </a:r>
            <a:r>
              <a:rPr lang="en-US" altLang="zh-CN" sz="1200" noProof="1">
                <a:latin typeface="Segoe UI"/>
                <a:ea typeface="微软雅黑"/>
              </a:rPr>
              <a:t>————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    </a:t>
            </a:r>
            <a:r>
              <a:rPr lang="en-US" altLang="zh-CN" sz="1200" noProof="1">
                <a:latin typeface="Segoe UI"/>
                <a:ea typeface="微软雅黑"/>
              </a:rPr>
              <a:t>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4460327"/>
            <a:ext cx="5394960" cy="2233081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marL="228600" lvl="1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（30 天连续任务流、CLI agent）验证能否迁移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350" b="1" noProof="1">
                <a:latin typeface="Segoe UI"/>
                <a:ea typeface="微软雅黑"/>
              </a:rPr>
              <a:t>② 按题隔离：训练有效果</a:t>
            </a:r>
          </a:p>
          <a:p>
            <a:pPr marL="228600" lvl="1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150" noProof="1">
                <a:latin typeface="Segoe UI"/>
                <a:ea typeface="微软雅黑"/>
              </a:rPr>
              <a:t>day 6 相对同路径 day 0：Acc +2.9pt / Compl +1.8pt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407627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上表为本次按题隔离，不与论文 Table 1 数字直接对比</a:t>
            </a:r>
          </a:p>
        </p:txBody>
      </p:sp>
      <p:pic>
        <p:nvPicPr>
          <p:cNvPr id="8" name="Picture 7" descr="table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987552"/>
            <a:ext cx="5394960" cy="1416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" y="244030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noProof="1">
                <a:latin typeface="Segoe UI"/>
                <a:ea typeface="微软雅黑"/>
              </a:rPr>
              <a:t>论文 Table 1　·　Part I / Part II 全表（Acc. / Compl.）</a:t>
            </a:r>
          </a:p>
        </p:txBody>
      </p:sp>
      <p:pic>
        <p:nvPicPr>
          <p:cNvPr id="10" name="Picture 9" descr="perq_k0_k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714625"/>
            <a:ext cx="5394960" cy="1325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lang="zh-CN" altLang="en-US" sz="2600" b="1" noProof="1">
                <a:latin typeface="Segoe UI"/>
                <a:ea typeface="微软雅黑"/>
              </a:rPr>
              <a:t>按天隔离实验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0" y="4224528"/>
            <a:ext cx="5605272" cy="2011680"/>
          </a:xfrm>
        </p:spPr>
        <p:txBody>
          <a:bodyPr wrap="square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noProof="1">
                <a:latin typeface="Segoe UI"/>
                <a:ea typeface="微软雅黑"/>
              </a:rPr>
              <a:t>问题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① 前八天 Acc 升、Compl 持平；day09–20 相对基线 Acc/Compl 都掉（+5.5pt → −33pt）。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② 后半崩，是因为 day09 起大部分题目 timeout。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③ timeout 基本是重复 thinking 把 context 顶满。day09 一次 MAIN turn：同一句 ×1388，thinking 15.9 万字，finish_reason=length。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005840"/>
            <a:ext cx="11155680" cy="312359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4224528"/>
            <a:ext cx="5394960" cy="16090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67669" y="6169723"/>
            <a:ext cx="86566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The user's message is a user instruction, so the assistant's response is a tool call to the write tool.   </a:t>
            </a:r>
            <a:r>
              <a:rPr lang="zh-CN" altLang="en-US" sz="1500" b="1" noProof="1">
                <a:solidFill>
                  <a:srgbClr val="B02A2A"/>
                </a:solidFill>
                <a:latin typeface="Segoe UI"/>
                <a:ea typeface="微软雅黑"/>
              </a:rPr>
              <a:t>×1388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lang="zh-CN" altLang="en-US" sz="2600" b="1" noProof="1">
                <a:solidFill>
                  <a:srgbClr val="262626"/>
                </a:solidFill>
                <a:latin typeface="Segoe UI"/>
                <a:ea typeface="微软雅黑"/>
              </a:rPr>
              <a:t>消融实验：RL 与 OPD 各自的作用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4882895"/>
            <a:ext cx="11219688" cy="1837944"/>
          </a:xfrm>
        </p:spPr>
        <p:txBody>
          <a:bodyPr wrap="square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noProof="1">
                <a:solidFill>
                  <a:srgbClr val="262626"/>
                </a:solidFill>
                <a:latin typeface="Segoe UI"/>
                <a:ea typeface="微软雅黑"/>
              </a:rPr>
              <a:t>结论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① 零训练两趟都不崩（DROPPED = 0）：崩溃由训练引起，不是题集本身的性质。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② 复读 thinking 只出现在开了 OPD 的训练里：纯 OPD day04 起病，比混合早 5 天（停在 day05 第 8 轮，当天已跑的 8 轮全部超时）。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③ 纯 RL 不复读 thinking，但 day12 起 Acc 归零直到 day27：day13 起当天 main turn 从约 20 涨到 141，反复写同一文件（day18 一轮 write ×499），最后上下文撑爆、压缩超时。</a:t>
            </a:r>
          </a:p>
        </p:txBody>
      </p:sp>
      <p:sp>
        <p:nvSpPr>
          <p:cNvPr id="4" name="Panel"/>
          <p:cNvSpPr/>
          <p:nvPr/>
        </p:nvSpPr>
        <p:spPr>
          <a:xfrm>
            <a:off x="484632" y="1078992"/>
            <a:ext cx="11219688" cy="3675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9453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noProof="1">
                <a:solidFill>
                  <a:srgbClr val="262626"/>
                </a:solidFill>
                <a:latin typeface="Segoe UI"/>
                <a:ea typeface="微软雅黑"/>
              </a:rPr>
              <a:t>对照：混合训练（第 5 页那趟）　｜　变量：去掉 RL / 去掉 OPD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499616"/>
          <a:ext cx="10945362" cy="2724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5960"/>
                <a:gridCol w="1214627"/>
                <a:gridCol w="1214627"/>
                <a:gridCol w="1214627"/>
                <a:gridCol w="1214627"/>
                <a:gridCol w="1214627"/>
                <a:gridCol w="1214627"/>
                <a:gridCol w="1691640"/>
              </a:tblGrid>
              <a:tr h="347472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实验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day01–03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day05–08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day09–11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day12–20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day21–27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成批复读首日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零训练基线 B0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59.6 / 36.4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66.7 / 30.0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57.3 / 32.6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52.4 / 26.5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47.2 / 19.2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19.4 / 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零训练基线 B0'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71.7 / 39.4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63.3 / 30.0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61.1 / 39.1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40.2 / 14.7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48.5 / 18.3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26.6 / 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混合（对照）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64.6 / 30.3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55.0 / 20.0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66.9 / 39.1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46.8 / 32.4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31%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5.3 / 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56%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7F7F7F"/>
                          </a:solidFill>
                          <a:latin typeface="Times New Roman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93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纯 OPD（去掉 RL）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74.7 / 39.4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36.7 / 10.0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26%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7F7F7F"/>
                          </a:solidFill>
                          <a:latin typeface="Times New Roman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7F7F7F"/>
                          </a:solidFill>
                          <a:latin typeface="Times New Roman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7F7F7F"/>
                          </a:solidFill>
                          <a:latin typeface="Times New Roman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7F7F7F"/>
                          </a:solidFill>
                          <a:latin typeface="Times New Roman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day04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9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纯 RL（去掉 OPD）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62.6 / 33.3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66.7 / 30.0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56.9 / 30.4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32.5 / 26.5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0.0 / 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0.0 / 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day12 起 Acc 归零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16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" y="4288536"/>
            <a:ext cx="109453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noProof="1">
                <a:solidFill>
                  <a:srgbClr val="7F7F7F"/>
                </a:solidFill>
                <a:latin typeface="Segoe UI"/>
                <a:ea typeface="微软雅黑"/>
              </a:rPr>
              <a:t>Acc / Compl（%）。Compl 与第 5 页同口径：file_check 通过数 / 当天全部题数；窗口按题数加总。“—” = 该趟未跑到这一段（没跑到的天不计 0）。红字“复读 xx%” = 该段 copies≥8 的 turn 占比 ≥ 25%；红色数值 = Acc &lt; 10%。B0' 为第二趟零训练基线，作噪声参照。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lang="zh-CN" altLang="en-US" sz="2600" b="1" noProof="1">
                <a:solidFill>
                  <a:srgbClr val="262626"/>
                </a:solidFill>
                <a:latin typeface="Segoe UI"/>
                <a:ea typeface="微软雅黑"/>
              </a:rPr>
              <a:t>正则实验：能否把崩溃挡住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4882895"/>
            <a:ext cx="11219688" cy="1837944"/>
          </a:xfrm>
        </p:spPr>
        <p:txBody>
          <a:bodyPr wrap="square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noProof="1">
                <a:solidFill>
                  <a:srgbClr val="262626"/>
                </a:solidFill>
                <a:latin typeface="Segoe UI"/>
                <a:ea typeface="微软雅黑"/>
              </a:rPr>
              <a:t>结论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① 熵正则：熵确实被抬起来了（entropy 0.157 → 0.638），起病反而从 day09 提前到 day06。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② KL：起病推迟到 day18。day09–17 对照和熵趟都已崩，KL 与基线基本持平（39.3 vs 41.8）；但起病后 3 天内复读占比升到 71%，最终没有挡住。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③ day01–05 各趟在 67.6–75.6 之间，与两趟零训练基线自身的差距（67.6 vs 74.4）同量级，不能看作收益。</a:t>
            </a:r>
          </a:p>
        </p:txBody>
      </p:sp>
      <p:sp>
        <p:nvSpPr>
          <p:cNvPr id="4" name="Panel"/>
          <p:cNvSpPr/>
          <p:nvPr/>
        </p:nvSpPr>
        <p:spPr>
          <a:xfrm>
            <a:off x="484632" y="1078992"/>
            <a:ext cx="11219688" cy="3675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9453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noProof="1">
                <a:solidFill>
                  <a:srgbClr val="262626"/>
                </a:solidFill>
                <a:latin typeface="Segoe UI"/>
                <a:ea typeface="微软雅黑"/>
              </a:rPr>
              <a:t>对照：混合训练（第 5 页那趟）　｜　变量：+ 熵正则 0.1 / + KL 正则 0.1（锚定初始模型）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499616"/>
          <a:ext cx="10945364" cy="2724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5960"/>
                <a:gridCol w="1821941"/>
                <a:gridCol w="1821941"/>
                <a:gridCol w="1821941"/>
                <a:gridCol w="1821941"/>
                <a:gridCol w="1691640"/>
              </a:tblGrid>
              <a:tr h="347472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实验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day01–05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day06–08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day09–17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day18–20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成批复读首日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零训练基线 B0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67.6 / 39.3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45.0 / 24.2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41.8 / 14.7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67.4 / 38.9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零训练基线 B0'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74.4 / 41.1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49.9 / 33.3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41.0 / 11.8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61.9 / 33.3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混合（对照）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68.2 / 33.9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58.9 / 33.3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21.0 / 10.8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40%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0.0 / 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82%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93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+ 熵 0.1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70.8 / 46.4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43.5 / 21.2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33%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2.9 / 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57%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0.0 / 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69%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day06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227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+ KL 0.1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75.6 / 41.1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64.8 / 36.4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39.3 / 8.8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0.0 / 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71%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1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day18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7F7F7F"/>
                          </a:solidFill>
                          <a:latin typeface="Segoe UI"/>
                          <a:ea typeface="微软雅黑"/>
                        </a:rPr>
                        <a:t>DROPPED 38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" y="4288536"/>
            <a:ext cx="109453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noProof="1">
                <a:solidFill>
                  <a:srgbClr val="7F7F7F"/>
                </a:solidFill>
                <a:latin typeface="Segoe UI"/>
                <a:ea typeface="微软雅黑"/>
              </a:rPr>
              <a:t>Acc / Compl（%）。Compl 与第 5 页同口径：file_check 通过数 / 当天全部题数；窗口按题数加总。“—” = 该趟未跑到这一段（没跑到的天不计 0）。红字“复读 xx%” = 该段 copies≥8 的 turn 占比 ≥ 25%；红色数值 = Acc &lt; 10%。B0' 为第二趟零训练基线，作噪声参照。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lang="zh-CN" altLang="en-US" sz="2600" b="1" noProof="1">
                <a:solidFill>
                  <a:srgbClr val="262626"/>
                </a:solidFill>
                <a:latin typeface="Segoe UI"/>
                <a:ea typeface="微软雅黑"/>
              </a:rPr>
              <a:t>机制验证实验</a:t>
            </a:r>
          </a:p>
        </p:txBody>
      </p:sp>
      <p:sp>
        <p:nvSpPr>
          <p:cNvPr id="4" name="Panel"/>
          <p:cNvSpPr/>
          <p:nvPr/>
        </p:nvSpPr>
        <p:spPr>
          <a:xfrm>
            <a:off x="484632" y="1078992"/>
            <a:ext cx="5532120" cy="3255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5214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noProof="1">
                <a:solidFill>
                  <a:srgbClr val="262626"/>
                </a:solidFill>
                <a:latin typeface="Segoe UI"/>
                <a:ea typeface="微软雅黑"/>
              </a:rPr>
              <a:t>假设 H-e：OPD 压低了“停止思考”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63039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0" noProof="1">
                <a:solidFill>
                  <a:srgbClr val="7F7F7F"/>
                </a:solidFill>
                <a:latin typeface="Segoe UI"/>
                <a:ea typeface="微软雅黑"/>
              </a:rPr>
              <a:t>对照：纯 OPD　｜　实验：遮住 OPD 对停止决策及随后动作的作用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792224"/>
          <a:ext cx="5257800" cy="24140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1219200"/>
                <a:gridCol w="1219200"/>
                <a:gridCol w="1219200"/>
              </a:tblGrid>
              <a:tr h="36576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实验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day01–03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day05–18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零训练基线 B0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59.6 / 36.4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66.7 / 30.0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48.5 / 21.9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零训练基线 B0'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71.7 / 39.4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63.3 / 30.0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48.0 / 20.6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纯 OPD（去掉 RL）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74.7 / 39.4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36.7 / 10.0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26%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7F7F7F"/>
                          </a:solidFill>
                          <a:latin typeface="Times New Roman"/>
                          <a:ea typeface="微软雅黑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纯 OPD + 遮罩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66.7 / 33.3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73.3 / 40.0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26%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2.8 / 0.0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97%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4632" y="4462272"/>
            <a:ext cx="55321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600" b="1" noProof="1">
                <a:solidFill>
                  <a:srgbClr val="262626"/>
                </a:solidFill>
                <a:latin typeface="Segoe UI"/>
                <a:ea typeface="微软雅黑"/>
              </a:rPr>
              <a:t>结果：否定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300" b="0" noProof="1">
                <a:solidFill>
                  <a:srgbClr val="262626"/>
                </a:solidFill>
                <a:latin typeface="Segoe UI"/>
                <a:ea typeface="微软雅黑"/>
              </a:rPr>
              <a:t>① 遮罩生效：每步 OPD 仍作用的位置占比 0.83–0.98，7 步均在预设区间 [0.8, 1.0) 内。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noProof="1">
                <a:solidFill>
                  <a:srgbClr val="262626"/>
                </a:solidFill>
                <a:latin typeface="Segoe UI"/>
                <a:ea typeface="微软雅黑"/>
              </a:rPr>
              <a:t>② 两趟都是 day04 起病，遮罩趟 day05 起复读占比 97%：一天没推迟，问题出在 OPD 作用于 thinking 内容的部分。</a:t>
            </a:r>
          </a:p>
        </p:txBody>
      </p:sp>
      <p:sp>
        <p:nvSpPr>
          <p:cNvPr id="9" name="Panel"/>
          <p:cNvSpPr/>
          <p:nvPr/>
        </p:nvSpPr>
        <p:spPr>
          <a:xfrm>
            <a:off x="6172200" y="1078992"/>
            <a:ext cx="5532120" cy="3255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52144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1" noProof="1">
                <a:solidFill>
                  <a:srgbClr val="262626"/>
                </a:solidFill>
                <a:latin typeface="Segoe UI"/>
                <a:ea typeface="微软雅黑"/>
              </a:rPr>
              <a:t>假设 H-f：训练用了旧权重生成的样本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39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0" noProof="1">
                <a:solidFill>
                  <a:srgbClr val="7F7F7F"/>
                </a:solidFill>
                <a:latin typeface="Segoe UI"/>
                <a:ea typeface="微软雅黑"/>
              </a:rPr>
              <a:t>对照：混合训练　｜　实验：只用当前权重生成的样本训练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792224"/>
          <a:ext cx="5257800" cy="24140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1219200"/>
                <a:gridCol w="1219200"/>
                <a:gridCol w="1219200"/>
              </a:tblGrid>
              <a:tr h="36576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实验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day01–07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day08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零训练基线 B0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60.0 / 35.1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54.1 / 25.0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37.6 / 18.2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595959"/>
                          </a:solidFill>
                          <a:latin typeface="Segoe UI"/>
                          <a:ea typeface="微软雅黑"/>
                        </a:rPr>
                        <a:t>零训练基线 B0'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71.6 / 40.3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25.0 / 25.0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595959"/>
                          </a:solidFill>
                          <a:latin typeface="Times New Roman"/>
                          <a:ea typeface="微软雅黑"/>
                        </a:rPr>
                        <a:t>37.6 / 18.2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混合（对照）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67.1 / 35.1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49.4 / 25.0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61.5 / 45.5</a:t>
                      </a:r>
                    </a:p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50" b="0" noProof="1">
                          <a:solidFill>
                            <a:srgbClr val="B02A2A"/>
                          </a:solidFill>
                          <a:latin typeface="Segoe UI"/>
                          <a:ea typeface="微软雅黑"/>
                        </a:rPr>
                        <a:t>复读 29%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 + 同策略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63.1 / 31.2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1" noProof="1">
                          <a:solidFill>
                            <a:srgbClr val="B02A2A"/>
                          </a:solidFill>
                          <a:latin typeface="Times New Roman"/>
                          <a:ea typeface="微软雅黑"/>
                        </a:rPr>
                        <a:t>0.0 / 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50" b="0" noProof="1">
                          <a:solidFill>
                            <a:srgbClr val="262626"/>
                          </a:solidFill>
                          <a:latin typeface="Times New Roman"/>
                          <a:ea typeface="微软雅黑"/>
                        </a:rPr>
                        <a:t>23.6 / 0.0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72200" y="4462272"/>
            <a:ext cx="55321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600" b="1" noProof="1">
                <a:solidFill>
                  <a:srgbClr val="262626"/>
                </a:solidFill>
                <a:latin typeface="Segoe UI"/>
                <a:ea typeface="微软雅黑"/>
              </a:rPr>
              <a:t>结果：未定论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300" b="0" noProof="1">
                <a:solidFill>
                  <a:srgbClr val="262626"/>
                </a:solidFill>
                <a:latin typeface="Segoe UI"/>
                <a:ea typeface="微软雅黑"/>
              </a:rPr>
              <a:t>① 到 day09 没有成批复读（对照 day09 为 29%）；但 day09 结束时只训练到 step 7，对照起病时已到 step 11。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noProof="1">
                <a:solidFill>
                  <a:srgbClr val="262626"/>
                </a:solidFill>
                <a:latin typeface="Segoe UI"/>
                <a:ea typeface="微软雅黑"/>
              </a:rPr>
              <a:t>② 出现了别的失效：day08 一个 95 turn 的超长轮次（不是复读 thinking），当天 Acc 0；day09 Compl 0。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6144768"/>
            <a:ext cx="112196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noProof="1">
                <a:solidFill>
                  <a:srgbClr val="7F7F7F"/>
                </a:solidFill>
                <a:latin typeface="Segoe UI"/>
                <a:ea typeface="微软雅黑"/>
              </a:rPr>
              <a:t>Acc / Compl（%）。Compl 与第 5 页同口径：file_check 通过数 / 当天全部题数；窗口按题数加总。“—” = 该趟未跑到这一段（没跑到的天不计 0）。红字“复读 xx%” = 该段 copies≥8 的 turn 占比 ≥ 25%；红色数值 = Acc &lt; 10%。B0' 为第二趟零训练基线，作噪声参照。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lang="zh-CN" altLang="en-US" sz="2600" b="1" noProof="1">
                <a:solidFill>
                  <a:srgbClr val="262626"/>
                </a:solidFill>
                <a:latin typeface="Segoe UI"/>
                <a:ea typeface="微软雅黑"/>
              </a:rP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4389120"/>
            <a:ext cx="11219688" cy="2331720"/>
          </a:xfrm>
        </p:spPr>
        <p:txBody>
          <a:bodyPr wrap="square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① </a:t>
            </a: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零训练基线跑满 30 天不崩；目前所有训练配置都在 30 天内崩溃，没有一趟超过零训练基线。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② </a:t>
            </a: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崩法有两种：开了 OPD → 复读 thinking → idle timeout；纯 RL → 反复 write → 上下文撑爆、压缩超时。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③ </a:t>
            </a: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正则只能改变起病时间：熵提前 3 天，KL 推迟 9 天；两个机制假设中 H-e 已否定，H-f 尚无结论。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④ </a:t>
            </a:r>
            <a:r>
              <a:rPr lang="zh-CN" altLang="en-US" sz="1400" b="0" noProof="1">
                <a:solidFill>
                  <a:srgbClr val="262626"/>
                </a:solidFill>
                <a:latin typeface="Segoe UI"/>
                <a:ea typeface="微软雅黑"/>
              </a:rPr>
              <a:t>口径：健康期 ±10pt 以内的差异在两趟零训练基线的差距范围内；训练中途停止的趟，没跑到的天不计入。</a:t>
            </a:r>
          </a:p>
        </p:txBody>
      </p:sp>
      <p:sp>
        <p:nvSpPr>
          <p:cNvPr id="4" name="Panel"/>
          <p:cNvSpPr/>
          <p:nvPr/>
        </p:nvSpPr>
        <p:spPr>
          <a:xfrm>
            <a:off x="484632" y="1078992"/>
            <a:ext cx="11219688" cy="3145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" y="1261872"/>
          <a:ext cx="10945368" cy="27797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1737360"/>
                <a:gridCol w="3200400"/>
                <a:gridCol w="3630168"/>
              </a:tblGrid>
              <a:tr h="365760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实验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对照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成批复读首日（对照 → 实验）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结论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15875">
                      <a:solidFill>
                        <a:srgbClr val="404040"/>
                      </a:solidFill>
                    </a:lnT>
                    <a:lnB w="952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去掉 RL（纯 OPD）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 → day04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复读 thinking 只在开了 OPD 时出现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去掉 OPD（纯 RL）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 → 无复读；day12 起 Acc 归零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换了一种崩法：反复 write、上下文撑爆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+ 熵 0.1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 → day06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加速崩溃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+ KL 0.1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 → day18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推迟 9 天，挡不住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遮住停止决策（H-e）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纯 OPD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day04 → day04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一天没推迟，假设否定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1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只用当前权重样本（H-f）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混合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day09 → 到 day09 无复读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200" b="0" noProof="1">
                          <a:solidFill>
                            <a:srgbClr val="262626"/>
                          </a:solidFill>
                          <a:latin typeface="Segoe UI"/>
                          <a:ea typeface="微软雅黑"/>
                        </a:rPr>
                        <a:t>步数没对齐、出现别的失效，未定论</a:t>
                      </a:r>
                    </a:p>
                  </a:txBody>
                  <a:tcPr anchor="ctr" marL="54864" marR="54864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40404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1574</Words>
  <Application>Microsoft Office PowerPoint</Application>
  <PresentationFormat>宽屏</PresentationFormat>
  <Paragraphs>53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PangMenZhengDao</vt:lpstr>
      <vt:lpstr>等线</vt:lpstr>
      <vt:lpstr>Arial</vt:lpstr>
      <vt:lpstr>Calibri</vt:lpstr>
      <vt:lpstr>Segoe UI</vt:lpstr>
      <vt:lpstr>Office Theme</vt:lpstr>
      <vt:lpstr>自进化调研及OpenClaw-RL 方法总览</vt:lpstr>
      <vt:lpstr>OpenClaw-RL 实现方法</vt:lpstr>
      <vt:lpstr>OpenClaw-RL复现实验结果</vt:lpstr>
      <vt:lpstr>方法泛化方案</vt:lpstr>
      <vt:lpstr>按天隔离实验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23</cp:revision>
  <dcterms:created xsi:type="dcterms:W3CDTF">2025-08-12T09:33:41Z</dcterms:created>
  <dcterms:modified xsi:type="dcterms:W3CDTF">2026-09-18T05:38:49Z</dcterms:modified>
</cp:coreProperties>
</file>
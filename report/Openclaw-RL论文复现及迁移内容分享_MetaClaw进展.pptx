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361" r:id="rId2"/>
    <p:sldId id="368" r:id="rId3"/>
    <p:sldId id="369" r:id="rId4"/>
    <p:sldId id="370" r:id="rId5"/>
    <p:sldId id="371" r:id="rId6"/>
    <p:sldId id="372" r:id="rId15"/>
    <p:sldId id="373" r:id="rId16"/>
    <p:sldId id="374" r:id="rId17"/>
    <p:sldId id="375" r:id="rId18"/>
    <p:sldId id="376" r:id="rId19"/>
    <p:sldId id="367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答辩说明" id="{57799230-5E46-41DE-81C9-8AA7DCE4A6B5}">
          <p14:sldIdLst>
            <p14:sldId id="361"/>
            <p14:sldId id="368"/>
            <p14:sldId id="369"/>
            <p14:sldId id="370"/>
            <p14:sldId id="371"/>
            <p14:sldId id="3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169CE05-948F-4B2D-B995-35989BAA5BB1}" v="11" dt="2026-08-06T07:48:01.08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Relationship Id="rId14" Type="http://schemas.microsoft.com/office/2015/10/relationships/revisionInfo" Target="revisionInfo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uo Shuo28 Wang" userId="a7996a14-832d-49d1-89cf-13bafcdd9b6e" providerId="ADAL" clId="{E3FCCCF9-0FE8-4A43-91DF-74AAC5AFFE2B}"/>
    <pc:docChg chg="undo custSel modSld">
      <pc:chgData name="Shuo Shuo28 Wang" userId="a7996a14-832d-49d1-89cf-13bafcdd9b6e" providerId="ADAL" clId="{E3FCCCF9-0FE8-4A43-91DF-74AAC5AFFE2B}" dt="2026-08-06T07:48:01.080" v="15" actId="20577"/>
      <pc:docMkLst>
        <pc:docMk/>
      </pc:docMkLst>
      <pc:sldChg chg="modSp">
        <pc:chgData name="Shuo Shuo28 Wang" userId="a7996a14-832d-49d1-89cf-13bafcdd9b6e" providerId="ADAL" clId="{E3FCCCF9-0FE8-4A43-91DF-74AAC5AFFE2B}" dt="2026-08-06T07:48:01.080" v="15" actId="20577"/>
        <pc:sldMkLst>
          <pc:docMk/>
          <pc:sldMk cId="0" sldId="366"/>
        </pc:sldMkLst>
        <pc:spChg chg="mod">
          <ac:chgData name="Shuo Shuo28 Wang" userId="a7996a14-832d-49d1-89cf-13bafcdd9b6e" providerId="ADAL" clId="{E3FCCCF9-0FE8-4A43-91DF-74AAC5AFFE2B}" dt="2026-08-06T04:42:48.102" v="1" actId="20577"/>
          <ac:spMkLst>
            <pc:docMk/>
            <pc:sldMk cId="0" sldId="366"/>
            <ac:spMk id="2" creationId="{00000000-0000-0000-0000-000000000000}"/>
          </ac:spMkLst>
        </pc:spChg>
        <pc:spChg chg="mod">
          <ac:chgData name="Shuo Shuo28 Wang" userId="a7996a14-832d-49d1-89cf-13bafcdd9b6e" providerId="ADAL" clId="{E3FCCCF9-0FE8-4A43-91DF-74AAC5AFFE2B}" dt="2026-08-06T07:48:01.080" v="15" actId="20577"/>
          <ac:spMkLst>
            <pc:docMk/>
            <pc:sldMk cId="0" sldId="366"/>
            <ac:spMk id="7" creationId="{00000000-0000-0000-0000-000000000000}"/>
          </ac:spMkLst>
        </pc:spChg>
      </pc:sldChg>
      <pc:sldChg chg="modSp mod">
        <pc:chgData name="Shuo Shuo28 Wang" userId="a7996a14-832d-49d1-89cf-13bafcdd9b6e" providerId="ADAL" clId="{E3FCCCF9-0FE8-4A43-91DF-74AAC5AFFE2B}" dt="2026-08-06T04:43:17.316" v="9" actId="20577"/>
        <pc:sldMkLst>
          <pc:docMk/>
          <pc:sldMk cId="1423135686" sldId="367"/>
        </pc:sldMkLst>
        <pc:spChg chg="mod">
          <ac:chgData name="Shuo Shuo28 Wang" userId="a7996a14-832d-49d1-89cf-13bafcdd9b6e" providerId="ADAL" clId="{E3FCCCF9-0FE8-4A43-91DF-74AAC5AFFE2B}" dt="2026-08-06T04:43:17.316" v="9" actId="20577"/>
          <ac:spMkLst>
            <pc:docMk/>
            <pc:sldMk cId="1423135686" sldId="367"/>
            <ac:spMk id="10" creationId="{2B692CD4-E07B-3BDB-B3CF-D41A31F90541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779718-1DF5-435A-9AC8-EC7555CF7E10}" type="datetimeFigureOut">
              <a:rPr lang="zh-CN" altLang="en-US" smtClean="0"/>
              <a:t>2026/9/18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D8013B-69F9-44AC-9847-779F3A74C3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6520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129A498-A90A-45E1-A512-B0FECEDE43A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1074156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23481" y="2246933"/>
            <a:ext cx="8199455" cy="15504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46963" y="4098727"/>
            <a:ext cx="6752492" cy="184844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822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64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466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288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11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8932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3754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857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5087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302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1" y="4647903"/>
            <a:ext cx="8199455" cy="1436563"/>
          </a:xfrm>
        </p:spPr>
        <p:txBody>
          <a:bodyPr anchor="t"/>
          <a:lstStyle>
            <a:lvl1pPr algn="l">
              <a:defRPr sz="4219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1" y="3065675"/>
            <a:ext cx="8199455" cy="1582228"/>
          </a:xfrm>
        </p:spPr>
        <p:txBody>
          <a:bodyPr anchor="b"/>
          <a:lstStyle>
            <a:lvl1pPr marL="0" indent="0">
              <a:buNone/>
              <a:defRPr sz="2109">
                <a:solidFill>
                  <a:schemeClr val="tx1">
                    <a:tint val="75000"/>
                  </a:schemeClr>
                </a:solidFill>
              </a:defRPr>
            </a:lvl1pPr>
            <a:lvl2pPr marL="482209" indent="0">
              <a:buNone/>
              <a:defRPr sz="1898">
                <a:solidFill>
                  <a:schemeClr val="tx1">
                    <a:tint val="75000"/>
                  </a:schemeClr>
                </a:solidFill>
              </a:defRPr>
            </a:lvl2pPr>
            <a:lvl3pPr marL="964418" indent="0">
              <a:buNone/>
              <a:defRPr sz="1688">
                <a:solidFill>
                  <a:schemeClr val="tx1">
                    <a:tint val="75000"/>
                  </a:schemeClr>
                </a:solidFill>
              </a:defRPr>
            </a:lvl3pPr>
            <a:lvl4pPr marL="1446627" indent="0">
              <a:buNone/>
              <a:defRPr sz="1477">
                <a:solidFill>
                  <a:schemeClr val="tx1">
                    <a:tint val="75000"/>
                  </a:schemeClr>
                </a:solidFill>
              </a:defRPr>
            </a:lvl4pPr>
            <a:lvl5pPr marL="1928835" indent="0">
              <a:buNone/>
              <a:defRPr sz="1477">
                <a:solidFill>
                  <a:schemeClr val="tx1">
                    <a:tint val="75000"/>
                  </a:schemeClr>
                </a:solidFill>
              </a:defRPr>
            </a:lvl5pPr>
            <a:lvl6pPr marL="2411044" indent="0">
              <a:buNone/>
              <a:defRPr sz="1477">
                <a:solidFill>
                  <a:schemeClr val="tx1">
                    <a:tint val="75000"/>
                  </a:schemeClr>
                </a:solidFill>
              </a:defRPr>
            </a:lvl6pPr>
            <a:lvl7pPr marL="2893253" indent="0">
              <a:buNone/>
              <a:defRPr sz="1477">
                <a:solidFill>
                  <a:schemeClr val="tx1">
                    <a:tint val="75000"/>
                  </a:schemeClr>
                </a:solidFill>
              </a:defRPr>
            </a:lvl7pPr>
            <a:lvl8pPr marL="3375462" indent="0">
              <a:buNone/>
              <a:defRPr sz="1477">
                <a:solidFill>
                  <a:schemeClr val="tx1">
                    <a:tint val="75000"/>
                  </a:schemeClr>
                </a:solidFill>
              </a:defRPr>
            </a:lvl8pPr>
            <a:lvl9pPr marL="3857671" indent="0">
              <a:buNone/>
              <a:defRPr sz="147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3013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82321" y="1687711"/>
            <a:ext cx="4260501" cy="4773477"/>
          </a:xfrm>
        </p:spPr>
        <p:txBody>
          <a:bodyPr/>
          <a:lstStyle>
            <a:lvl1pPr>
              <a:defRPr sz="2953"/>
            </a:lvl1pPr>
            <a:lvl2pPr>
              <a:defRPr sz="2531"/>
            </a:lvl2pPr>
            <a:lvl3pPr>
              <a:defRPr sz="2109"/>
            </a:lvl3pPr>
            <a:lvl4pPr>
              <a:defRPr sz="1898"/>
            </a:lvl4pPr>
            <a:lvl5pPr>
              <a:defRPr sz="1898"/>
            </a:lvl5pPr>
            <a:lvl6pPr>
              <a:defRPr sz="1898"/>
            </a:lvl6pPr>
            <a:lvl7pPr>
              <a:defRPr sz="1898"/>
            </a:lvl7pPr>
            <a:lvl8pPr>
              <a:defRPr sz="1898"/>
            </a:lvl8pPr>
            <a:lvl9pPr>
              <a:defRPr sz="189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03596" y="1687711"/>
            <a:ext cx="4260501" cy="4773477"/>
          </a:xfrm>
        </p:spPr>
        <p:txBody>
          <a:bodyPr/>
          <a:lstStyle>
            <a:lvl1pPr>
              <a:defRPr sz="2953"/>
            </a:lvl1pPr>
            <a:lvl2pPr>
              <a:defRPr sz="2531"/>
            </a:lvl2pPr>
            <a:lvl3pPr>
              <a:defRPr sz="2109"/>
            </a:lvl3pPr>
            <a:lvl4pPr>
              <a:defRPr sz="1898"/>
            </a:lvl4pPr>
            <a:lvl5pPr>
              <a:defRPr sz="1898"/>
            </a:lvl5pPr>
            <a:lvl6pPr>
              <a:defRPr sz="1898"/>
            </a:lvl6pPr>
            <a:lvl7pPr>
              <a:defRPr sz="1898"/>
            </a:lvl7pPr>
            <a:lvl8pPr>
              <a:defRPr sz="1898"/>
            </a:lvl8pPr>
            <a:lvl9pPr>
              <a:defRPr sz="189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5311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2321" y="1619064"/>
            <a:ext cx="4262176" cy="674749"/>
          </a:xfrm>
        </p:spPr>
        <p:txBody>
          <a:bodyPr anchor="b"/>
          <a:lstStyle>
            <a:lvl1pPr marL="0" indent="0">
              <a:buNone/>
              <a:defRPr sz="2531" b="1"/>
            </a:lvl1pPr>
            <a:lvl2pPr marL="482209" indent="0">
              <a:buNone/>
              <a:defRPr sz="2109" b="1"/>
            </a:lvl2pPr>
            <a:lvl3pPr marL="964418" indent="0">
              <a:buNone/>
              <a:defRPr sz="1898" b="1"/>
            </a:lvl3pPr>
            <a:lvl4pPr marL="1446627" indent="0">
              <a:buNone/>
              <a:defRPr sz="1688" b="1"/>
            </a:lvl4pPr>
            <a:lvl5pPr marL="1928835" indent="0">
              <a:buNone/>
              <a:defRPr sz="1688" b="1"/>
            </a:lvl5pPr>
            <a:lvl6pPr marL="2411044" indent="0">
              <a:buNone/>
              <a:defRPr sz="1688" b="1"/>
            </a:lvl6pPr>
            <a:lvl7pPr marL="2893253" indent="0">
              <a:buNone/>
              <a:defRPr sz="1688" b="1"/>
            </a:lvl7pPr>
            <a:lvl8pPr marL="3375462" indent="0">
              <a:buNone/>
              <a:defRPr sz="1688" b="1"/>
            </a:lvl8pPr>
            <a:lvl9pPr marL="3857671" indent="0">
              <a:buNone/>
              <a:defRPr sz="168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2321" y="2293814"/>
            <a:ext cx="4262176" cy="4167374"/>
          </a:xfrm>
        </p:spPr>
        <p:txBody>
          <a:bodyPr/>
          <a:lstStyle>
            <a:lvl1pPr>
              <a:defRPr sz="2531"/>
            </a:lvl1pPr>
            <a:lvl2pPr>
              <a:defRPr sz="2109"/>
            </a:lvl2pPr>
            <a:lvl3pPr>
              <a:defRPr sz="1898"/>
            </a:lvl3pPr>
            <a:lvl4pPr>
              <a:defRPr sz="1688"/>
            </a:lvl4pPr>
            <a:lvl5pPr>
              <a:defRPr sz="1688"/>
            </a:lvl5pPr>
            <a:lvl6pPr>
              <a:defRPr sz="1688"/>
            </a:lvl6pPr>
            <a:lvl7pPr>
              <a:defRPr sz="1688"/>
            </a:lvl7pPr>
            <a:lvl8pPr>
              <a:defRPr sz="1688"/>
            </a:lvl8pPr>
            <a:lvl9pPr>
              <a:defRPr sz="168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00246" y="1619064"/>
            <a:ext cx="4263851" cy="674749"/>
          </a:xfrm>
        </p:spPr>
        <p:txBody>
          <a:bodyPr anchor="b"/>
          <a:lstStyle>
            <a:lvl1pPr marL="0" indent="0">
              <a:buNone/>
              <a:defRPr sz="2531" b="1"/>
            </a:lvl1pPr>
            <a:lvl2pPr marL="482209" indent="0">
              <a:buNone/>
              <a:defRPr sz="2109" b="1"/>
            </a:lvl2pPr>
            <a:lvl3pPr marL="964418" indent="0">
              <a:buNone/>
              <a:defRPr sz="1898" b="1"/>
            </a:lvl3pPr>
            <a:lvl4pPr marL="1446627" indent="0">
              <a:buNone/>
              <a:defRPr sz="1688" b="1"/>
            </a:lvl4pPr>
            <a:lvl5pPr marL="1928835" indent="0">
              <a:buNone/>
              <a:defRPr sz="1688" b="1"/>
            </a:lvl5pPr>
            <a:lvl6pPr marL="2411044" indent="0">
              <a:buNone/>
              <a:defRPr sz="1688" b="1"/>
            </a:lvl6pPr>
            <a:lvl7pPr marL="2893253" indent="0">
              <a:buNone/>
              <a:defRPr sz="1688" b="1"/>
            </a:lvl7pPr>
            <a:lvl8pPr marL="3375462" indent="0">
              <a:buNone/>
              <a:defRPr sz="1688" b="1"/>
            </a:lvl8pPr>
            <a:lvl9pPr marL="3857671" indent="0">
              <a:buNone/>
              <a:defRPr sz="168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00246" y="2293814"/>
            <a:ext cx="4263851" cy="4167374"/>
          </a:xfrm>
        </p:spPr>
        <p:txBody>
          <a:bodyPr/>
          <a:lstStyle>
            <a:lvl1pPr>
              <a:defRPr sz="2531"/>
            </a:lvl1pPr>
            <a:lvl2pPr>
              <a:defRPr sz="2109"/>
            </a:lvl2pPr>
            <a:lvl3pPr>
              <a:defRPr sz="1898"/>
            </a:lvl3pPr>
            <a:lvl4pPr>
              <a:defRPr sz="1688"/>
            </a:lvl4pPr>
            <a:lvl5pPr>
              <a:defRPr sz="1688"/>
            </a:lvl5pPr>
            <a:lvl6pPr>
              <a:defRPr sz="1688"/>
            </a:lvl6pPr>
            <a:lvl7pPr>
              <a:defRPr sz="1688"/>
            </a:lvl7pPr>
            <a:lvl8pPr>
              <a:defRPr sz="1688"/>
            </a:lvl8pPr>
            <a:lvl9pPr>
              <a:defRPr sz="168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1827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2086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489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21" y="287982"/>
            <a:ext cx="3173605" cy="1225600"/>
          </a:xfrm>
        </p:spPr>
        <p:txBody>
          <a:bodyPr anchor="b"/>
          <a:lstStyle>
            <a:lvl1pPr algn="l">
              <a:defRPr sz="2109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1482" y="287983"/>
            <a:ext cx="5392615" cy="6173205"/>
          </a:xfrm>
        </p:spPr>
        <p:txBody>
          <a:bodyPr/>
          <a:lstStyle>
            <a:lvl1pPr>
              <a:defRPr sz="3375"/>
            </a:lvl1pPr>
            <a:lvl2pPr>
              <a:defRPr sz="2953"/>
            </a:lvl2pPr>
            <a:lvl3pPr>
              <a:defRPr sz="2531"/>
            </a:lvl3pPr>
            <a:lvl4pPr>
              <a:defRPr sz="2109"/>
            </a:lvl4pPr>
            <a:lvl5pPr>
              <a:defRPr sz="2109"/>
            </a:lvl5pPr>
            <a:lvl6pPr>
              <a:defRPr sz="2109"/>
            </a:lvl6pPr>
            <a:lvl7pPr>
              <a:defRPr sz="2109"/>
            </a:lvl7pPr>
            <a:lvl8pPr>
              <a:defRPr sz="2109"/>
            </a:lvl8pPr>
            <a:lvl9pPr>
              <a:defRPr sz="210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82321" y="1513582"/>
            <a:ext cx="3173605" cy="4947606"/>
          </a:xfrm>
        </p:spPr>
        <p:txBody>
          <a:bodyPr/>
          <a:lstStyle>
            <a:lvl1pPr marL="0" indent="0">
              <a:buNone/>
              <a:defRPr sz="1477"/>
            </a:lvl1pPr>
            <a:lvl2pPr marL="482209" indent="0">
              <a:buNone/>
              <a:defRPr sz="1266"/>
            </a:lvl2pPr>
            <a:lvl3pPr marL="964418" indent="0">
              <a:buNone/>
              <a:defRPr sz="1055"/>
            </a:lvl3pPr>
            <a:lvl4pPr marL="1446627" indent="0">
              <a:buNone/>
              <a:defRPr sz="949"/>
            </a:lvl4pPr>
            <a:lvl5pPr marL="1928835" indent="0">
              <a:buNone/>
              <a:defRPr sz="949"/>
            </a:lvl5pPr>
            <a:lvl6pPr marL="2411044" indent="0">
              <a:buNone/>
              <a:defRPr sz="949"/>
            </a:lvl6pPr>
            <a:lvl7pPr marL="2893253" indent="0">
              <a:buNone/>
              <a:defRPr sz="949"/>
            </a:lvl7pPr>
            <a:lvl8pPr marL="3375462" indent="0">
              <a:buNone/>
              <a:defRPr sz="949"/>
            </a:lvl8pPr>
            <a:lvl9pPr marL="3857671" indent="0">
              <a:buNone/>
              <a:defRPr sz="94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3751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90765" y="5063133"/>
            <a:ext cx="5787851" cy="597731"/>
          </a:xfrm>
        </p:spPr>
        <p:txBody>
          <a:bodyPr anchor="b"/>
          <a:lstStyle>
            <a:lvl1pPr algn="l">
              <a:defRPr sz="2109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890765" y="646286"/>
            <a:ext cx="5787851" cy="4339828"/>
          </a:xfrm>
        </p:spPr>
        <p:txBody>
          <a:bodyPr/>
          <a:lstStyle>
            <a:lvl1pPr marL="0" indent="0">
              <a:buNone/>
              <a:defRPr sz="3375"/>
            </a:lvl1pPr>
            <a:lvl2pPr marL="482209" indent="0">
              <a:buNone/>
              <a:defRPr sz="2953"/>
            </a:lvl2pPr>
            <a:lvl3pPr marL="964418" indent="0">
              <a:buNone/>
              <a:defRPr sz="2531"/>
            </a:lvl3pPr>
            <a:lvl4pPr marL="1446627" indent="0">
              <a:buNone/>
              <a:defRPr sz="2109"/>
            </a:lvl4pPr>
            <a:lvl5pPr marL="1928835" indent="0">
              <a:buNone/>
              <a:defRPr sz="2109"/>
            </a:lvl5pPr>
            <a:lvl6pPr marL="2411044" indent="0">
              <a:buNone/>
              <a:defRPr sz="2109"/>
            </a:lvl6pPr>
            <a:lvl7pPr marL="2893253" indent="0">
              <a:buNone/>
              <a:defRPr sz="2109"/>
            </a:lvl7pPr>
            <a:lvl8pPr marL="3375462" indent="0">
              <a:buNone/>
              <a:defRPr sz="2109"/>
            </a:lvl8pPr>
            <a:lvl9pPr marL="3857671" indent="0">
              <a:buNone/>
              <a:defRPr sz="2109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890765" y="5660864"/>
            <a:ext cx="5787851" cy="848878"/>
          </a:xfrm>
        </p:spPr>
        <p:txBody>
          <a:bodyPr/>
          <a:lstStyle>
            <a:lvl1pPr marL="0" indent="0">
              <a:buNone/>
              <a:defRPr sz="1477"/>
            </a:lvl1pPr>
            <a:lvl2pPr marL="482209" indent="0">
              <a:buNone/>
              <a:defRPr sz="1266"/>
            </a:lvl2pPr>
            <a:lvl3pPr marL="964418" indent="0">
              <a:buNone/>
              <a:defRPr sz="1055"/>
            </a:lvl3pPr>
            <a:lvl4pPr marL="1446627" indent="0">
              <a:buNone/>
              <a:defRPr sz="949"/>
            </a:lvl4pPr>
            <a:lvl5pPr marL="1928835" indent="0">
              <a:buNone/>
              <a:defRPr sz="949"/>
            </a:lvl5pPr>
            <a:lvl6pPr marL="2411044" indent="0">
              <a:buNone/>
              <a:defRPr sz="949"/>
            </a:lvl6pPr>
            <a:lvl7pPr marL="2893253" indent="0">
              <a:buNone/>
              <a:defRPr sz="949"/>
            </a:lvl7pPr>
            <a:lvl8pPr marL="3375462" indent="0">
              <a:buNone/>
              <a:defRPr sz="949"/>
            </a:lvl8pPr>
            <a:lvl9pPr marL="3857671" indent="0">
              <a:buNone/>
              <a:defRPr sz="94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454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6842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93653" y="289658"/>
            <a:ext cx="2170444" cy="617153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2321" y="289658"/>
            <a:ext cx="6350558" cy="617153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4289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Big Idea">
    <p:bg>
      <p:bgPr>
        <a:solidFill>
          <a:schemeClr val="accent3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CB8992-3FC1-1D5A-F5A3-5A7867B1CF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FEF7F64-EAB6-F941-857A-EB6862B0738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0613" y="2284254"/>
            <a:ext cx="10670779" cy="2289502"/>
          </a:xfrm>
          <a:prstGeom prst="rect">
            <a:avLst/>
          </a:prstGeom>
        </p:spPr>
        <p:txBody>
          <a:bodyPr wrap="square" lIns="0" rIns="0" anchor="ctr" anchorCtr="0">
            <a:sp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8793" b="1">
                <a:solidFill>
                  <a:schemeClr val="bg1"/>
                </a:solidFill>
              </a:defRPr>
            </a:lvl1pPr>
            <a:lvl2pPr marL="609007" indent="0">
              <a:buNone/>
              <a:defRPr/>
            </a:lvl2pPr>
          </a:lstStyle>
          <a:p>
            <a:pPr lvl="0"/>
            <a:r>
              <a:rPr lang="en-US" dirty="0"/>
              <a:t>Click to edit big idea, statement or subject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E0CCBF-ECBB-8D0A-7760-9C09A8DCA070}"/>
              </a:ext>
            </a:extLst>
          </p:cNvPr>
          <p:cNvSpPr txBox="1"/>
          <p:nvPr userDrawn="1"/>
        </p:nvSpPr>
        <p:spPr>
          <a:xfrm>
            <a:off x="1602706" y="6401580"/>
            <a:ext cx="411587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2022 Lenovo Internal. All rights reserved.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9469496-8712-48FF-8E79-3F94F23B18A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0611" y="6348283"/>
            <a:ext cx="777442" cy="259316"/>
            <a:chOff x="547688" y="952500"/>
            <a:chExt cx="12190413" cy="406717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6AD4F68-2171-D53B-BE99-0870458AEC62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47688" y="952500"/>
              <a:ext cx="12190413" cy="40671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797"/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B934C45C-E7A5-5950-4EC8-A0C9DD2B480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922838" y="2319338"/>
              <a:ext cx="1571625" cy="1590675"/>
            </a:xfrm>
            <a:custGeom>
              <a:avLst/>
              <a:gdLst>
                <a:gd name="T0" fmla="*/ 492 w 825"/>
                <a:gd name="T1" fmla="*/ 0 h 834"/>
                <a:gd name="T2" fmla="*/ 225 w 825"/>
                <a:gd name="T3" fmla="*/ 132 h 834"/>
                <a:gd name="T4" fmla="*/ 225 w 825"/>
                <a:gd name="T5" fmla="*/ 132 h 834"/>
                <a:gd name="T6" fmla="*/ 225 w 825"/>
                <a:gd name="T7" fmla="*/ 132 h 834"/>
                <a:gd name="T8" fmla="*/ 225 w 825"/>
                <a:gd name="T9" fmla="*/ 14 h 834"/>
                <a:gd name="T10" fmla="*/ 0 w 825"/>
                <a:gd name="T11" fmla="*/ 14 h 834"/>
                <a:gd name="T12" fmla="*/ 0 w 825"/>
                <a:gd name="T13" fmla="*/ 834 h 834"/>
                <a:gd name="T14" fmla="*/ 225 w 825"/>
                <a:gd name="T15" fmla="*/ 834 h 834"/>
                <a:gd name="T16" fmla="*/ 225 w 825"/>
                <a:gd name="T17" fmla="*/ 367 h 834"/>
                <a:gd name="T18" fmla="*/ 411 w 825"/>
                <a:gd name="T19" fmla="*/ 194 h 834"/>
                <a:gd name="T20" fmla="*/ 600 w 825"/>
                <a:gd name="T21" fmla="*/ 367 h 834"/>
                <a:gd name="T22" fmla="*/ 600 w 825"/>
                <a:gd name="T23" fmla="*/ 834 h 834"/>
                <a:gd name="T24" fmla="*/ 825 w 825"/>
                <a:gd name="T25" fmla="*/ 834 h 834"/>
                <a:gd name="T26" fmla="*/ 825 w 825"/>
                <a:gd name="T27" fmla="*/ 326 h 834"/>
                <a:gd name="T28" fmla="*/ 492 w 825"/>
                <a:gd name="T29" fmla="*/ 0 h 8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25" h="834">
                  <a:moveTo>
                    <a:pt x="492" y="0"/>
                  </a:moveTo>
                  <a:cubicBezTo>
                    <a:pt x="398" y="0"/>
                    <a:pt x="291" y="44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32"/>
                    <a:pt x="225" y="132"/>
                    <a:pt x="225" y="132"/>
                  </a:cubicBezTo>
                  <a:cubicBezTo>
                    <a:pt x="225" y="14"/>
                    <a:pt x="225" y="14"/>
                    <a:pt x="225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834"/>
                    <a:pt x="0" y="834"/>
                    <a:pt x="0" y="834"/>
                  </a:cubicBezTo>
                  <a:cubicBezTo>
                    <a:pt x="225" y="834"/>
                    <a:pt x="225" y="834"/>
                    <a:pt x="225" y="834"/>
                  </a:cubicBezTo>
                  <a:cubicBezTo>
                    <a:pt x="225" y="367"/>
                    <a:pt x="225" y="367"/>
                    <a:pt x="225" y="367"/>
                  </a:cubicBezTo>
                  <a:cubicBezTo>
                    <a:pt x="225" y="283"/>
                    <a:pt x="290" y="194"/>
                    <a:pt x="411" y="194"/>
                  </a:cubicBezTo>
                  <a:cubicBezTo>
                    <a:pt x="504" y="194"/>
                    <a:pt x="600" y="259"/>
                    <a:pt x="600" y="367"/>
                  </a:cubicBezTo>
                  <a:cubicBezTo>
                    <a:pt x="600" y="834"/>
                    <a:pt x="600" y="834"/>
                    <a:pt x="600" y="834"/>
                  </a:cubicBezTo>
                  <a:cubicBezTo>
                    <a:pt x="825" y="834"/>
                    <a:pt x="825" y="834"/>
                    <a:pt x="825" y="834"/>
                  </a:cubicBezTo>
                  <a:cubicBezTo>
                    <a:pt x="825" y="326"/>
                    <a:pt x="825" y="326"/>
                    <a:pt x="825" y="326"/>
                  </a:cubicBezTo>
                  <a:cubicBezTo>
                    <a:pt x="825" y="137"/>
                    <a:pt x="690" y="0"/>
                    <a:pt x="49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797"/>
            </a:p>
          </p:txBody>
        </p:sp>
        <p:sp>
          <p:nvSpPr>
            <p:cNvPr id="12" name="Freeform 8">
              <a:extLst>
                <a:ext uri="{FF2B5EF4-FFF2-40B4-BE49-F238E27FC236}">
                  <a16:creationId xmlns:a16="http://schemas.microsoft.com/office/drawing/2014/main" id="{584A4C2F-986E-EA32-C193-4B162580530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277225" y="2346325"/>
              <a:ext cx="1755775" cy="1563688"/>
            </a:xfrm>
            <a:custGeom>
              <a:avLst/>
              <a:gdLst>
                <a:gd name="T0" fmla="*/ 797 w 1106"/>
                <a:gd name="T1" fmla="*/ 0 h 985"/>
                <a:gd name="T2" fmla="*/ 553 w 1106"/>
                <a:gd name="T3" fmla="*/ 671 h 985"/>
                <a:gd name="T4" fmla="*/ 308 w 1106"/>
                <a:gd name="T5" fmla="*/ 0 h 985"/>
                <a:gd name="T6" fmla="*/ 0 w 1106"/>
                <a:gd name="T7" fmla="*/ 0 h 985"/>
                <a:gd name="T8" fmla="*/ 405 w 1106"/>
                <a:gd name="T9" fmla="*/ 985 h 985"/>
                <a:gd name="T10" fmla="*/ 701 w 1106"/>
                <a:gd name="T11" fmla="*/ 985 h 985"/>
                <a:gd name="T12" fmla="*/ 1106 w 1106"/>
                <a:gd name="T13" fmla="*/ 0 h 985"/>
                <a:gd name="T14" fmla="*/ 797 w 1106"/>
                <a:gd name="T15" fmla="*/ 0 h 9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06" h="985">
                  <a:moveTo>
                    <a:pt x="797" y="0"/>
                  </a:moveTo>
                  <a:lnTo>
                    <a:pt x="553" y="671"/>
                  </a:lnTo>
                  <a:lnTo>
                    <a:pt x="308" y="0"/>
                  </a:lnTo>
                  <a:lnTo>
                    <a:pt x="0" y="0"/>
                  </a:lnTo>
                  <a:lnTo>
                    <a:pt x="405" y="985"/>
                  </a:lnTo>
                  <a:lnTo>
                    <a:pt x="701" y="985"/>
                  </a:lnTo>
                  <a:lnTo>
                    <a:pt x="1106" y="0"/>
                  </a:lnTo>
                  <a:lnTo>
                    <a:pt x="79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797"/>
            </a:p>
          </p:txBody>
        </p:sp>
        <p:sp>
          <p:nvSpPr>
            <p:cNvPr id="13" name="Freeform 9">
              <a:extLst>
                <a:ext uri="{FF2B5EF4-FFF2-40B4-BE49-F238E27FC236}">
                  <a16:creationId xmlns:a16="http://schemas.microsoft.com/office/drawing/2014/main" id="{2F89DA65-DEB8-60CE-3119-C54CD2F81D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138488" y="2319338"/>
              <a:ext cx="1630363" cy="1617663"/>
            </a:xfrm>
            <a:custGeom>
              <a:avLst/>
              <a:gdLst>
                <a:gd name="T0" fmla="*/ 697 w 856"/>
                <a:gd name="T1" fmla="*/ 582 h 848"/>
                <a:gd name="T2" fmla="*/ 462 w 856"/>
                <a:gd name="T3" fmla="*/ 669 h 848"/>
                <a:gd name="T4" fmla="*/ 280 w 856"/>
                <a:gd name="T5" fmla="*/ 602 h 848"/>
                <a:gd name="T6" fmla="*/ 856 w 856"/>
                <a:gd name="T7" fmla="*/ 363 h 848"/>
                <a:gd name="T8" fmla="*/ 758 w 856"/>
                <a:gd name="T9" fmla="*/ 135 h 848"/>
                <a:gd name="T10" fmla="*/ 434 w 856"/>
                <a:gd name="T11" fmla="*/ 0 h 848"/>
                <a:gd name="T12" fmla="*/ 0 w 856"/>
                <a:gd name="T13" fmla="*/ 424 h 848"/>
                <a:gd name="T14" fmla="*/ 459 w 856"/>
                <a:gd name="T15" fmla="*/ 848 h 848"/>
                <a:gd name="T16" fmla="*/ 840 w 856"/>
                <a:gd name="T17" fmla="*/ 691 h 848"/>
                <a:gd name="T18" fmla="*/ 697 w 856"/>
                <a:gd name="T19" fmla="*/ 582 h 848"/>
                <a:gd name="T20" fmla="*/ 265 w 856"/>
                <a:gd name="T21" fmla="*/ 261 h 848"/>
                <a:gd name="T22" fmla="*/ 438 w 856"/>
                <a:gd name="T23" fmla="*/ 179 h 848"/>
                <a:gd name="T24" fmla="*/ 612 w 856"/>
                <a:gd name="T25" fmla="*/ 294 h 848"/>
                <a:gd name="T26" fmla="*/ 219 w 856"/>
                <a:gd name="T27" fmla="*/ 457 h 848"/>
                <a:gd name="T28" fmla="*/ 265 w 856"/>
                <a:gd name="T29" fmla="*/ 261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56" h="848">
                  <a:moveTo>
                    <a:pt x="697" y="582"/>
                  </a:moveTo>
                  <a:cubicBezTo>
                    <a:pt x="602" y="652"/>
                    <a:pt x="548" y="669"/>
                    <a:pt x="462" y="669"/>
                  </a:cubicBezTo>
                  <a:cubicBezTo>
                    <a:pt x="384" y="669"/>
                    <a:pt x="323" y="645"/>
                    <a:pt x="280" y="602"/>
                  </a:cubicBezTo>
                  <a:cubicBezTo>
                    <a:pt x="856" y="363"/>
                    <a:pt x="856" y="363"/>
                    <a:pt x="856" y="363"/>
                  </a:cubicBezTo>
                  <a:cubicBezTo>
                    <a:pt x="843" y="275"/>
                    <a:pt x="810" y="195"/>
                    <a:pt x="758" y="135"/>
                  </a:cubicBezTo>
                  <a:cubicBezTo>
                    <a:pt x="682" y="47"/>
                    <a:pt x="570" y="0"/>
                    <a:pt x="434" y="0"/>
                  </a:cubicBezTo>
                  <a:cubicBezTo>
                    <a:pt x="186" y="0"/>
                    <a:pt x="0" y="183"/>
                    <a:pt x="0" y="424"/>
                  </a:cubicBezTo>
                  <a:cubicBezTo>
                    <a:pt x="0" y="672"/>
                    <a:pt x="187" y="848"/>
                    <a:pt x="459" y="848"/>
                  </a:cubicBezTo>
                  <a:cubicBezTo>
                    <a:pt x="611" y="848"/>
                    <a:pt x="767" y="776"/>
                    <a:pt x="840" y="691"/>
                  </a:cubicBezTo>
                  <a:lnTo>
                    <a:pt x="697" y="582"/>
                  </a:lnTo>
                  <a:close/>
                  <a:moveTo>
                    <a:pt x="265" y="261"/>
                  </a:moveTo>
                  <a:cubicBezTo>
                    <a:pt x="303" y="210"/>
                    <a:pt x="364" y="179"/>
                    <a:pt x="438" y="179"/>
                  </a:cubicBezTo>
                  <a:cubicBezTo>
                    <a:pt x="519" y="179"/>
                    <a:pt x="581" y="226"/>
                    <a:pt x="612" y="294"/>
                  </a:cubicBezTo>
                  <a:cubicBezTo>
                    <a:pt x="219" y="457"/>
                    <a:pt x="219" y="457"/>
                    <a:pt x="219" y="457"/>
                  </a:cubicBezTo>
                  <a:cubicBezTo>
                    <a:pt x="208" y="374"/>
                    <a:pt x="230" y="308"/>
                    <a:pt x="265" y="26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797"/>
            </a:p>
          </p:txBody>
        </p:sp>
        <p:sp>
          <p:nvSpPr>
            <p:cNvPr id="14" name="Freeform 10">
              <a:extLst>
                <a:ext uri="{FF2B5EF4-FFF2-40B4-BE49-F238E27FC236}">
                  <a16:creationId xmlns:a16="http://schemas.microsoft.com/office/drawing/2014/main" id="{10A3EE42-0227-D024-FDFC-83E58AB899D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5925" y="1879600"/>
              <a:ext cx="1409700" cy="2030413"/>
            </a:xfrm>
            <a:custGeom>
              <a:avLst/>
              <a:gdLst>
                <a:gd name="T0" fmla="*/ 888 w 888"/>
                <a:gd name="T1" fmla="*/ 1030 h 1279"/>
                <a:gd name="T2" fmla="*/ 274 w 888"/>
                <a:gd name="T3" fmla="*/ 1030 h 1279"/>
                <a:gd name="T4" fmla="*/ 274 w 888"/>
                <a:gd name="T5" fmla="*/ 0 h 1279"/>
                <a:gd name="T6" fmla="*/ 0 w 888"/>
                <a:gd name="T7" fmla="*/ 0 h 1279"/>
                <a:gd name="T8" fmla="*/ 0 w 888"/>
                <a:gd name="T9" fmla="*/ 1279 h 1279"/>
                <a:gd name="T10" fmla="*/ 888 w 888"/>
                <a:gd name="T11" fmla="*/ 1279 h 1279"/>
                <a:gd name="T12" fmla="*/ 888 w 888"/>
                <a:gd name="T13" fmla="*/ 1030 h 1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88" h="1279">
                  <a:moveTo>
                    <a:pt x="888" y="1030"/>
                  </a:moveTo>
                  <a:lnTo>
                    <a:pt x="274" y="1030"/>
                  </a:lnTo>
                  <a:lnTo>
                    <a:pt x="274" y="0"/>
                  </a:lnTo>
                  <a:lnTo>
                    <a:pt x="0" y="0"/>
                  </a:lnTo>
                  <a:lnTo>
                    <a:pt x="0" y="1279"/>
                  </a:lnTo>
                  <a:lnTo>
                    <a:pt x="888" y="1279"/>
                  </a:lnTo>
                  <a:lnTo>
                    <a:pt x="888" y="10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797"/>
            </a:p>
          </p:txBody>
        </p:sp>
        <p:sp>
          <p:nvSpPr>
            <p:cNvPr id="15" name="Freeform 10">
              <a:extLst>
                <a:ext uri="{FF2B5EF4-FFF2-40B4-BE49-F238E27FC236}">
                  <a16:creationId xmlns:a16="http://schemas.microsoft.com/office/drawing/2014/main" id="{B71D7F0F-66ED-5122-7E93-2CCDC18FB89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966325" y="2319338"/>
              <a:ext cx="1677988" cy="1617663"/>
            </a:xfrm>
            <a:custGeom>
              <a:avLst/>
              <a:gdLst>
                <a:gd name="T0" fmla="*/ 439 w 881"/>
                <a:gd name="T1" fmla="*/ 848 h 848"/>
                <a:gd name="T2" fmla="*/ 0 w 881"/>
                <a:gd name="T3" fmla="*/ 424 h 848"/>
                <a:gd name="T4" fmla="*/ 442 w 881"/>
                <a:gd name="T5" fmla="*/ 0 h 848"/>
                <a:gd name="T6" fmla="*/ 881 w 881"/>
                <a:gd name="T7" fmla="*/ 424 h 848"/>
                <a:gd name="T8" fmla="*/ 439 w 881"/>
                <a:gd name="T9" fmla="*/ 848 h 848"/>
                <a:gd name="T10" fmla="*/ 439 w 881"/>
                <a:gd name="T11" fmla="*/ 193 h 848"/>
                <a:gd name="T12" fmla="*/ 222 w 881"/>
                <a:gd name="T13" fmla="*/ 424 h 848"/>
                <a:gd name="T14" fmla="*/ 442 w 881"/>
                <a:gd name="T15" fmla="*/ 655 h 848"/>
                <a:gd name="T16" fmla="*/ 659 w 881"/>
                <a:gd name="T17" fmla="*/ 424 h 848"/>
                <a:gd name="T18" fmla="*/ 439 w 881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1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4" y="0"/>
                    <a:pt x="442" y="0"/>
                  </a:cubicBezTo>
                  <a:cubicBezTo>
                    <a:pt x="688" y="0"/>
                    <a:pt x="881" y="184"/>
                    <a:pt x="881" y="424"/>
                  </a:cubicBezTo>
                  <a:cubicBezTo>
                    <a:pt x="881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3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59" y="557"/>
                    <a:pt x="659" y="424"/>
                  </a:cubicBezTo>
                  <a:cubicBezTo>
                    <a:pt x="659" y="295"/>
                    <a:pt x="562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797"/>
            </a:p>
          </p:txBody>
        </p:sp>
        <p:sp>
          <p:nvSpPr>
            <p:cNvPr id="16" name="Freeform 11">
              <a:extLst>
                <a:ext uri="{FF2B5EF4-FFF2-40B4-BE49-F238E27FC236}">
                  <a16:creationId xmlns:a16="http://schemas.microsoft.com/office/drawing/2014/main" id="{E827DA00-4AC6-AE82-9263-31F727C1786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64325" y="2319338"/>
              <a:ext cx="1679575" cy="1617663"/>
            </a:xfrm>
            <a:custGeom>
              <a:avLst/>
              <a:gdLst>
                <a:gd name="T0" fmla="*/ 439 w 882"/>
                <a:gd name="T1" fmla="*/ 848 h 848"/>
                <a:gd name="T2" fmla="*/ 0 w 882"/>
                <a:gd name="T3" fmla="*/ 424 h 848"/>
                <a:gd name="T4" fmla="*/ 442 w 882"/>
                <a:gd name="T5" fmla="*/ 0 h 848"/>
                <a:gd name="T6" fmla="*/ 882 w 882"/>
                <a:gd name="T7" fmla="*/ 424 h 848"/>
                <a:gd name="T8" fmla="*/ 439 w 882"/>
                <a:gd name="T9" fmla="*/ 848 h 848"/>
                <a:gd name="T10" fmla="*/ 439 w 882"/>
                <a:gd name="T11" fmla="*/ 193 h 848"/>
                <a:gd name="T12" fmla="*/ 222 w 882"/>
                <a:gd name="T13" fmla="*/ 424 h 848"/>
                <a:gd name="T14" fmla="*/ 442 w 882"/>
                <a:gd name="T15" fmla="*/ 655 h 848"/>
                <a:gd name="T16" fmla="*/ 660 w 882"/>
                <a:gd name="T17" fmla="*/ 424 h 848"/>
                <a:gd name="T18" fmla="*/ 439 w 882"/>
                <a:gd name="T19" fmla="*/ 193 h 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82" h="848">
                  <a:moveTo>
                    <a:pt x="439" y="848"/>
                  </a:moveTo>
                  <a:cubicBezTo>
                    <a:pt x="193" y="848"/>
                    <a:pt x="0" y="664"/>
                    <a:pt x="0" y="424"/>
                  </a:cubicBezTo>
                  <a:cubicBezTo>
                    <a:pt x="0" y="186"/>
                    <a:pt x="195" y="0"/>
                    <a:pt x="442" y="0"/>
                  </a:cubicBezTo>
                  <a:cubicBezTo>
                    <a:pt x="689" y="0"/>
                    <a:pt x="882" y="184"/>
                    <a:pt x="882" y="424"/>
                  </a:cubicBezTo>
                  <a:cubicBezTo>
                    <a:pt x="882" y="662"/>
                    <a:pt x="687" y="848"/>
                    <a:pt x="439" y="848"/>
                  </a:cubicBezTo>
                  <a:moveTo>
                    <a:pt x="439" y="193"/>
                  </a:moveTo>
                  <a:cubicBezTo>
                    <a:pt x="314" y="193"/>
                    <a:pt x="222" y="288"/>
                    <a:pt x="222" y="424"/>
                  </a:cubicBezTo>
                  <a:cubicBezTo>
                    <a:pt x="222" y="553"/>
                    <a:pt x="319" y="655"/>
                    <a:pt x="442" y="655"/>
                  </a:cubicBezTo>
                  <a:cubicBezTo>
                    <a:pt x="568" y="655"/>
                    <a:pt x="660" y="557"/>
                    <a:pt x="660" y="424"/>
                  </a:cubicBezTo>
                  <a:cubicBezTo>
                    <a:pt x="660" y="295"/>
                    <a:pt x="563" y="193"/>
                    <a:pt x="439" y="19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797"/>
            </a:p>
          </p:txBody>
        </p:sp>
      </p:grpSp>
    </p:spTree>
    <p:extLst>
      <p:ext uri="{BB962C8B-B14F-4D97-AF65-F5344CB8AC3E}">
        <p14:creationId xmlns:p14="http://schemas.microsoft.com/office/powerpoint/2010/main" val="485655762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2321" y="289657"/>
            <a:ext cx="8681776" cy="12055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2321" y="1687711"/>
            <a:ext cx="8681776" cy="47734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82321" y="6703963"/>
            <a:ext cx="2250831" cy="38509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6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95859" y="6703963"/>
            <a:ext cx="3054699" cy="38509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6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13266" y="6703963"/>
            <a:ext cx="2250831" cy="38509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6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7E6F169F-4747-3D14-9542-4F34E8B206F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0183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4" r:id="rId12"/>
  </p:sldLayoutIdLst>
  <p:txStyles>
    <p:titleStyle>
      <a:lvl1pPr algn="ctr" defTabSz="964418" rtl="0" eaLnBrk="1" latinLnBrk="0" hangingPunct="1">
        <a:spcBef>
          <a:spcPct val="0"/>
        </a:spcBef>
        <a:buNone/>
        <a:defRPr sz="464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1657" indent="-361657" algn="l" defTabSz="964418" rtl="0" eaLnBrk="1" latinLnBrk="0" hangingPunct="1">
        <a:spcBef>
          <a:spcPct val="20000"/>
        </a:spcBef>
        <a:buFont typeface="Arial" pitchFamily="34" charset="0"/>
        <a:buChar char="•"/>
        <a:defRPr sz="3375" kern="1200">
          <a:solidFill>
            <a:schemeClr val="tx1"/>
          </a:solidFill>
          <a:latin typeface="+mn-lt"/>
          <a:ea typeface="+mn-ea"/>
          <a:cs typeface="+mn-cs"/>
        </a:defRPr>
      </a:lvl1pPr>
      <a:lvl2pPr marL="783589" indent="-301381" algn="l" defTabSz="964418" rtl="0" eaLnBrk="1" latinLnBrk="0" hangingPunct="1">
        <a:spcBef>
          <a:spcPct val="20000"/>
        </a:spcBef>
        <a:buFont typeface="Arial" pitchFamily="34" charset="0"/>
        <a:buChar char="–"/>
        <a:defRPr sz="2953" kern="1200">
          <a:solidFill>
            <a:schemeClr val="tx1"/>
          </a:solidFill>
          <a:latin typeface="+mn-lt"/>
          <a:ea typeface="+mn-ea"/>
          <a:cs typeface="+mn-cs"/>
        </a:defRPr>
      </a:lvl2pPr>
      <a:lvl3pPr marL="1205522" indent="-241104" algn="l" defTabSz="964418" rtl="0" eaLnBrk="1" latinLnBrk="0" hangingPunct="1">
        <a:spcBef>
          <a:spcPct val="20000"/>
        </a:spcBef>
        <a:buFont typeface="Arial" pitchFamily="34" charset="0"/>
        <a:buChar char="•"/>
        <a:defRPr sz="2531" kern="1200">
          <a:solidFill>
            <a:schemeClr val="tx1"/>
          </a:solidFill>
          <a:latin typeface="+mn-lt"/>
          <a:ea typeface="+mn-ea"/>
          <a:cs typeface="+mn-cs"/>
        </a:defRPr>
      </a:lvl3pPr>
      <a:lvl4pPr marL="1687731" indent="-241104" algn="l" defTabSz="964418" rtl="0" eaLnBrk="1" latinLnBrk="0" hangingPunct="1">
        <a:spcBef>
          <a:spcPct val="20000"/>
        </a:spcBef>
        <a:buFont typeface="Arial" pitchFamily="34" charset="0"/>
        <a:buChar char="–"/>
        <a:defRPr sz="2109" kern="1200">
          <a:solidFill>
            <a:schemeClr val="tx1"/>
          </a:solidFill>
          <a:latin typeface="+mn-lt"/>
          <a:ea typeface="+mn-ea"/>
          <a:cs typeface="+mn-cs"/>
        </a:defRPr>
      </a:lvl4pPr>
      <a:lvl5pPr marL="2169940" indent="-241104" algn="l" defTabSz="964418" rtl="0" eaLnBrk="1" latinLnBrk="0" hangingPunct="1">
        <a:spcBef>
          <a:spcPct val="20000"/>
        </a:spcBef>
        <a:buFont typeface="Arial" pitchFamily="34" charset="0"/>
        <a:buChar char="»"/>
        <a:defRPr sz="2109" kern="1200">
          <a:solidFill>
            <a:schemeClr val="tx1"/>
          </a:solidFill>
          <a:latin typeface="+mn-lt"/>
          <a:ea typeface="+mn-ea"/>
          <a:cs typeface="+mn-cs"/>
        </a:defRPr>
      </a:lvl5pPr>
      <a:lvl6pPr marL="2652149" indent="-241104" algn="l" defTabSz="964418" rtl="0" eaLnBrk="1" latinLnBrk="0" hangingPunct="1">
        <a:spcBef>
          <a:spcPct val="20000"/>
        </a:spcBef>
        <a:buFont typeface="Arial" pitchFamily="34" charset="0"/>
        <a:buChar char="•"/>
        <a:defRPr sz="2109" kern="1200">
          <a:solidFill>
            <a:schemeClr val="tx1"/>
          </a:solidFill>
          <a:latin typeface="+mn-lt"/>
          <a:ea typeface="+mn-ea"/>
          <a:cs typeface="+mn-cs"/>
        </a:defRPr>
      </a:lvl6pPr>
      <a:lvl7pPr marL="3134357" indent="-241104" algn="l" defTabSz="964418" rtl="0" eaLnBrk="1" latinLnBrk="0" hangingPunct="1">
        <a:spcBef>
          <a:spcPct val="20000"/>
        </a:spcBef>
        <a:buFont typeface="Arial" pitchFamily="34" charset="0"/>
        <a:buChar char="•"/>
        <a:defRPr sz="2109" kern="1200">
          <a:solidFill>
            <a:schemeClr val="tx1"/>
          </a:solidFill>
          <a:latin typeface="+mn-lt"/>
          <a:ea typeface="+mn-ea"/>
          <a:cs typeface="+mn-cs"/>
        </a:defRPr>
      </a:lvl7pPr>
      <a:lvl8pPr marL="3616566" indent="-241104" algn="l" defTabSz="964418" rtl="0" eaLnBrk="1" latinLnBrk="0" hangingPunct="1">
        <a:spcBef>
          <a:spcPct val="20000"/>
        </a:spcBef>
        <a:buFont typeface="Arial" pitchFamily="34" charset="0"/>
        <a:buChar char="•"/>
        <a:defRPr sz="2109" kern="1200">
          <a:solidFill>
            <a:schemeClr val="tx1"/>
          </a:solidFill>
          <a:latin typeface="+mn-lt"/>
          <a:ea typeface="+mn-ea"/>
          <a:cs typeface="+mn-cs"/>
        </a:defRPr>
      </a:lvl8pPr>
      <a:lvl9pPr marL="4098775" indent="-241104" algn="l" defTabSz="964418" rtl="0" eaLnBrk="1" latinLnBrk="0" hangingPunct="1">
        <a:spcBef>
          <a:spcPct val="20000"/>
        </a:spcBef>
        <a:buFont typeface="Arial" pitchFamily="34" charset="0"/>
        <a:buChar char="•"/>
        <a:defRPr sz="21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64418" rtl="0" eaLnBrk="1" latinLnBrk="0" hangingPunct="1">
        <a:defRPr sz="1898" kern="1200">
          <a:solidFill>
            <a:schemeClr val="tx1"/>
          </a:solidFill>
          <a:latin typeface="+mn-lt"/>
          <a:ea typeface="+mn-ea"/>
          <a:cs typeface="+mn-cs"/>
        </a:defRPr>
      </a:lvl1pPr>
      <a:lvl2pPr marL="482209" algn="l" defTabSz="964418" rtl="0" eaLnBrk="1" latinLnBrk="0" hangingPunct="1">
        <a:defRPr sz="1898" kern="1200">
          <a:solidFill>
            <a:schemeClr val="tx1"/>
          </a:solidFill>
          <a:latin typeface="+mn-lt"/>
          <a:ea typeface="+mn-ea"/>
          <a:cs typeface="+mn-cs"/>
        </a:defRPr>
      </a:lvl2pPr>
      <a:lvl3pPr marL="964418" algn="l" defTabSz="964418" rtl="0" eaLnBrk="1" latinLnBrk="0" hangingPunct="1">
        <a:defRPr sz="1898" kern="1200">
          <a:solidFill>
            <a:schemeClr val="tx1"/>
          </a:solidFill>
          <a:latin typeface="+mn-lt"/>
          <a:ea typeface="+mn-ea"/>
          <a:cs typeface="+mn-cs"/>
        </a:defRPr>
      </a:lvl3pPr>
      <a:lvl4pPr marL="1446627" algn="l" defTabSz="964418" rtl="0" eaLnBrk="1" latinLnBrk="0" hangingPunct="1">
        <a:defRPr sz="1898" kern="1200">
          <a:solidFill>
            <a:schemeClr val="tx1"/>
          </a:solidFill>
          <a:latin typeface="+mn-lt"/>
          <a:ea typeface="+mn-ea"/>
          <a:cs typeface="+mn-cs"/>
        </a:defRPr>
      </a:lvl4pPr>
      <a:lvl5pPr marL="1928835" algn="l" defTabSz="964418" rtl="0" eaLnBrk="1" latinLnBrk="0" hangingPunct="1">
        <a:defRPr sz="1898" kern="1200">
          <a:solidFill>
            <a:schemeClr val="tx1"/>
          </a:solidFill>
          <a:latin typeface="+mn-lt"/>
          <a:ea typeface="+mn-ea"/>
          <a:cs typeface="+mn-cs"/>
        </a:defRPr>
      </a:lvl5pPr>
      <a:lvl6pPr marL="2411044" algn="l" defTabSz="964418" rtl="0" eaLnBrk="1" latinLnBrk="0" hangingPunct="1">
        <a:defRPr sz="1898" kern="1200">
          <a:solidFill>
            <a:schemeClr val="tx1"/>
          </a:solidFill>
          <a:latin typeface="+mn-lt"/>
          <a:ea typeface="+mn-ea"/>
          <a:cs typeface="+mn-cs"/>
        </a:defRPr>
      </a:lvl6pPr>
      <a:lvl7pPr marL="2893253" algn="l" defTabSz="964418" rtl="0" eaLnBrk="1" latinLnBrk="0" hangingPunct="1">
        <a:defRPr sz="1898" kern="1200">
          <a:solidFill>
            <a:schemeClr val="tx1"/>
          </a:solidFill>
          <a:latin typeface="+mn-lt"/>
          <a:ea typeface="+mn-ea"/>
          <a:cs typeface="+mn-cs"/>
        </a:defRPr>
      </a:lvl7pPr>
      <a:lvl8pPr marL="3375462" algn="l" defTabSz="964418" rtl="0" eaLnBrk="1" latinLnBrk="0" hangingPunct="1">
        <a:defRPr sz="1898" kern="1200">
          <a:solidFill>
            <a:schemeClr val="tx1"/>
          </a:solidFill>
          <a:latin typeface="+mn-lt"/>
          <a:ea typeface="+mn-ea"/>
          <a:cs typeface="+mn-cs"/>
        </a:defRPr>
      </a:lvl8pPr>
      <a:lvl9pPr marL="3857671" algn="l" defTabSz="964418" rtl="0" eaLnBrk="1" latinLnBrk="0" hangingPunct="1">
        <a:defRPr sz="18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A63695-6735-4CD9-BD4C-80E9698F2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zh-CN" altLang="en-US" sz="2600" b="1" noProof="1">
                <a:latin typeface="Segoe UI"/>
                <a:ea typeface="微软雅黑"/>
              </a:rPr>
              <a:t>自进化调研及OpenClaw-RL 方法总览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59802A3-7BFB-4341-AA58-ACF0DC4170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84632" y="1600200"/>
            <a:ext cx="5303520" cy="4572000"/>
          </a:xfrm>
        </p:spPr>
        <p:txBody>
          <a:bodyPr wrap="square"/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zh-CN" altLang="en-US" sz="1500" b="1" noProof="1">
                <a:latin typeface="Segoe UI"/>
                <a:ea typeface="微软雅黑"/>
              </a:rPr>
              <a:t>① 自进化的理解</a:t>
            </a:r>
            <a:r>
              <a:rPr lang="zh-CN" altLang="en-US" sz="1500" noProof="1">
                <a:latin typeface="Segoe UI"/>
                <a:ea typeface="微软雅黑"/>
              </a:rPr>
              <a:t>　（综述 [1]）</a:t>
            </a:r>
            <a:endParaRPr lang="en-US" altLang="zh-CN" dirty="0"/>
          </a:p>
          <a:p>
            <a:pPr lvl="1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lang="zh-CN" altLang="en-US" sz="1300" noProof="1">
                <a:latin typeface="Segoe UI"/>
                <a:ea typeface="微软雅黑"/>
              </a:rPr>
              <a:t>“…agentic AI is no longer defined only by what a model can infer from static data, but by how a </a:t>
            </a:r>
            <a:r>
              <a:rPr lang="zh-CN" altLang="en-US" sz="1300" b="1" noProof="1">
                <a:latin typeface="Segoe UI"/>
                <a:ea typeface="微软雅黑"/>
              </a:rPr>
              <a:t>deployed system </a:t>
            </a:r>
            <a:r>
              <a:rPr lang="zh-CN" altLang="en-US" sz="1300" noProof="1">
                <a:latin typeface="Segoe UI"/>
                <a:ea typeface="微软雅黑"/>
              </a:rPr>
              <a:t>accumulates, organizes, and reuses experience from </a:t>
            </a:r>
            <a:r>
              <a:rPr lang="zh-CN" altLang="en-US" sz="1300" b="1" noProof="1">
                <a:latin typeface="Segoe UI"/>
                <a:ea typeface="微软雅黑"/>
              </a:rPr>
              <a:t>interaction</a:t>
            </a:r>
            <a:r>
              <a:rPr lang="zh-CN" altLang="en-US" sz="1300" noProof="1">
                <a:latin typeface="Segoe UI"/>
                <a:ea typeface="微软雅黑"/>
              </a:rPr>
              <a:t>.”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zh-CN" altLang="en-US" sz="1500" b="1" noProof="1">
                <a:latin typeface="Segoe UI"/>
                <a:ea typeface="微软雅黑"/>
              </a:rPr>
              <a:t>② 经验的五个更新层面</a:t>
            </a:r>
            <a:r>
              <a:rPr lang="zh-CN" altLang="en-US" sz="1500" noProof="1">
                <a:latin typeface="Segoe UI"/>
                <a:ea typeface="微软雅黑"/>
              </a:rPr>
              <a:t>　（同上）</a:t>
            </a:r>
          </a:p>
          <a:p>
            <a:pPr lvl="1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lang="zh-CN" altLang="en-US" sz="1300" noProof="1">
                <a:latin typeface="Segoe UI"/>
                <a:ea typeface="微软雅黑"/>
              </a:rPr>
              <a:t>reusable skill / persistent memory / verifiable environment feedback / </a:t>
            </a:r>
            <a:r>
              <a:rPr lang="zh-CN" altLang="en-US" sz="1300" b="1" noProof="1">
                <a:latin typeface="Segoe UI"/>
                <a:ea typeface="微软雅黑"/>
              </a:rPr>
              <a:t>trainable model behavior</a:t>
            </a:r>
            <a:r>
              <a:rPr lang="zh-CN" altLang="en-US" sz="1300" noProof="1">
                <a:latin typeface="Segoe UI"/>
                <a:ea typeface="微软雅黑"/>
              </a:rPr>
              <a:t> / meta-level control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zh-CN" altLang="en-US" sz="1500" b="1" noProof="1">
                <a:latin typeface="Segoe UI"/>
                <a:ea typeface="微软雅黑"/>
              </a:rPr>
              <a:t>③ 本次实验的主要难点</a:t>
            </a:r>
          </a:p>
          <a:p>
            <a:pPr lvl="1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lang="zh-CN" altLang="en-US" sz="1300" noProof="1">
                <a:latin typeface="Segoe UI"/>
                <a:ea typeface="微软雅黑"/>
              </a:rPr>
              <a:t>不在 RL 算法本身，而在“经验 → 更新”这条链路：信号怎么提取、怎么区分环境故障与模型失败、训练怎么在真实运行时里跑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zh-CN" altLang="en-US" sz="1500" b="1" noProof="1">
                <a:latin typeface="Segoe UI"/>
                <a:ea typeface="微软雅黑"/>
              </a:rPr>
              <a:t>④ 本次工作的定位</a:t>
            </a:r>
          </a:p>
          <a:p>
            <a:pPr lvl="1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lang="zh-CN" altLang="en-US" sz="1300" b="1" noProof="1">
                <a:latin typeface="Segoe UI"/>
                <a:ea typeface="微软雅黑"/>
              </a:rPr>
              <a:t>OpenClaw-RL</a:t>
            </a:r>
            <a:r>
              <a:rPr lang="zh-CN" altLang="en-US" sz="1300" noProof="1">
                <a:latin typeface="Segoe UI"/>
                <a:ea typeface="微软雅黑"/>
              </a:rPr>
              <a:t> ＝ </a:t>
            </a:r>
            <a:r>
              <a:rPr lang="zh-CN" altLang="en-US" sz="1300" b="1" noProof="1">
                <a:latin typeface="Segoe UI"/>
                <a:ea typeface="微软雅黑"/>
              </a:rPr>
              <a:t>模型权重</a:t>
            </a:r>
            <a:r>
              <a:rPr lang="zh-CN" altLang="en-US" sz="1300" noProof="1">
                <a:latin typeface="Segoe UI"/>
                <a:ea typeface="微软雅黑"/>
              </a:rPr>
              <a:t>这一层，训练直接跑在真实对话流中 —— 对话本身就是训练信号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5E1BF21-69A6-41E3-BFEA-C098016B98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398691" y="6827996"/>
            <a:ext cx="463035" cy="163949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zh-CN"/>
            </a:defPPr>
            <a:lvl1pPr marL="0" algn="ctr" defTabSz="964418" rtl="0" eaLnBrk="1" latinLnBrk="0" hangingPunct="1">
              <a:defRPr sz="1055" kern="1200">
                <a:solidFill>
                  <a:schemeClr val="tx1"/>
                </a:solidFill>
                <a:latin typeface="微软雅黑" panose="020B0502040204020203" pitchFamily="34" charset="-122"/>
                <a:ea typeface="微软雅黑" panose="020B0502040204020203" pitchFamily="34" charset="-122"/>
                <a:cs typeface="Arial" panose="020B0604020202020204" pitchFamily="34" charset="0"/>
              </a:defRPr>
            </a:lvl1pPr>
            <a:lvl2pPr marL="482209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64418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6627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28835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11044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893253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375462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57671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212"/>
            <a:fld id="{6D22F896-40B5-4ADD-8801-0D06FADFA095}" type="slidenum">
              <a:rPr lang="en-US">
                <a:solidFill>
                  <a:prstClr val="black"/>
                </a:solidFill>
              </a:rPr>
              <a:pPr defTabSz="1218212"/>
              <a:t>1</a:t>
            </a:fld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84632" y="632764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lang="zh-CN" altLang="en-US" sz="950" noProof="1">
                <a:latin typeface="Segoe UI"/>
                <a:ea typeface="微软雅黑"/>
              </a:rPr>
              <a:t>[1] Self-Improving Agents in the Era of Experience: A Survey of Self- to Meta-Evolution (2026)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331720"/>
            <a:ext cx="5897880" cy="333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7621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4632" y="289657"/>
            <a:ext cx="6858000" cy="1205508"/>
          </a:xfrm>
        </p:spPr>
        <p:txBody>
          <a:bodyPr/>
          <a:lstStyle/>
          <a:p>
            <a:pPr>
              <a:lnSpc>
                <a:spcPct val="110000"/>
              </a:lnSpc>
            </a:pPr>
            <a:r>
              <a:rPr lang="zh-CN" altLang="en-US" sz="2600" b="1" noProof="1">
                <a:latin typeface="Segoe UI"/>
                <a:ea typeface="微软雅黑"/>
              </a:rPr>
              <a:t>OpenClaw-RL 实现方法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1687711"/>
            <a:ext cx="6858000" cy="4773477"/>
          </a:xfrm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lang="zh-CN" altLang="en-US" sz="1600" b="1" noProof="1">
                <a:latin typeface="Segoe UI"/>
                <a:ea typeface="微软雅黑"/>
              </a:rPr>
              <a:t>① 三个角色，一套真实环境</a:t>
            </a:r>
          </a:p>
          <a:p>
            <a:pPr lvl="1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lang="zh-CN" altLang="en-US" sz="1400" noProof="1">
                <a:latin typeface="Segoe UI"/>
                <a:ea typeface="微软雅黑"/>
              </a:rPr>
              <a:t>Simulator（Qwen3-32B）按人设扮演 Student / TA / Teacher，在 OpenClaw 里与 Policy（Qwen3-4B）对话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lang="zh-CN" altLang="en-US" sz="1600" b="1" noProof="1">
                <a:latin typeface="Segoe UI"/>
                <a:ea typeface="微软雅黑"/>
              </a:rPr>
              <a:t>② 两种训练顺序</a:t>
            </a:r>
          </a:p>
          <a:p>
            <a:pPr lvl="1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lang="zh-CN" altLang="en-US" sz="1400" b="1" noProof="1">
                <a:latin typeface="Segoe UI"/>
                <a:ea typeface="微软雅黑"/>
              </a:rPr>
              <a:t>Separate</a:t>
            </a:r>
            <a:r>
              <a:rPr lang="zh-CN" altLang="en-US" sz="1400" noProof="1">
                <a:latin typeface="Segoe UI"/>
                <a:ea typeface="微软雅黑"/>
              </a:rPr>
              <a:t>（本次已完成）：三角色各训一个模型，须依次进行　｜　</a:t>
            </a:r>
            <a:r>
              <a:rPr lang="zh-CN" altLang="en-US" sz="1400" b="1" noProof="1">
                <a:latin typeface="Segoe UI"/>
                <a:ea typeface="微软雅黑"/>
              </a:rPr>
              <a:t>Joint</a:t>
            </a:r>
            <a:r>
              <a:rPr lang="zh-CN" altLang="en-US" sz="1400" noProof="1">
                <a:latin typeface="Segoe UI"/>
                <a:ea typeface="微软雅黑"/>
              </a:rPr>
              <a:t>：三角色共享一个模型，同时训练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lang="zh-CN" altLang="en-US" sz="1600" b="1" noProof="1">
                <a:latin typeface="Segoe UI"/>
                <a:ea typeface="微软雅黑"/>
              </a:rPr>
              <a:t>③ 一次回复，两条去向</a:t>
            </a:r>
          </a:p>
          <a:p>
            <a:pPr lvl="1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lang="zh-CN" altLang="en-US" sz="1400" noProof="1">
                <a:latin typeface="Segoe UI"/>
                <a:ea typeface="微软雅黑"/>
              </a:rPr>
              <a:t>对话循环：回复照常送回用户　｜　训练循环：同一次回复交给判官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lang="zh-CN" altLang="en-US" sz="1600" b="1" noProof="1">
                <a:latin typeface="Segoe UI"/>
                <a:ea typeface="微软雅黑"/>
              </a:rPr>
              <a:t>④ 两类信号，同一个判官</a:t>
            </a:r>
          </a:p>
          <a:p>
            <a:pPr lvl="1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lang="zh-CN" altLang="en-US" sz="1400" noProof="1">
                <a:latin typeface="Segoe UI"/>
                <a:ea typeface="微软雅黑"/>
              </a:rPr>
              <a:t>Eval 判官答“好不好”→ GRPO；Hint 判官答“该怎么改”→ OPD。同一份 PRM 权重，只是提示词不同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lang="zh-CN" altLang="en-US" sz="1600" b="1" noProof="1">
                <a:latin typeface="Segoe UI"/>
                <a:ea typeface="微软雅黑"/>
              </a:rPr>
              <a:t>⑤ 一次反传，权重回流</a:t>
            </a:r>
          </a:p>
          <a:p>
            <a:pPr lvl="1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lang="zh-CN" altLang="en-US" sz="1400" noProof="1">
                <a:latin typeface="Segoe UI"/>
                <a:ea typeface="微软雅黑"/>
              </a:rPr>
              <a:t>两个损失加权合并后一次更新，新权重同步回线上 Policy</a:t>
            </a:r>
          </a:p>
          <a:p>
            <a:pPr marL="0" indent="0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zh-CN" altLang="en-US" sz="1600" noProof="1">
                <a:latin typeface="Segoe UI"/>
                <a:ea typeface="微软雅黑"/>
              </a:rPr>
              <a:t>训练与对话</a:t>
            </a:r>
            <a:r>
              <a:rPr lang="zh-CN" altLang="en-US" sz="1600" b="1" noProof="1">
                <a:latin typeface="Segoe UI"/>
                <a:ea typeface="微软雅黑"/>
              </a:rPr>
              <a:t>异步并行</a:t>
            </a:r>
            <a:r>
              <a:rPr lang="zh-CN" altLang="en-US" sz="1600" noProof="1">
                <a:latin typeface="Segoe UI"/>
                <a:ea typeface="微软雅黑"/>
              </a:rPr>
              <a:t>：回应照常送出，权重在线更新，全程不停机</a:t>
            </a:r>
          </a:p>
        </p:txBody>
      </p:sp>
      <p:pic>
        <p:nvPicPr>
          <p:cNvPr id="5" name="图片 4" descr="图示&#10;&#10;AI 生成的内容可能不正确。">
            <a:extLst>
              <a:ext uri="{FF2B5EF4-FFF2-40B4-BE49-F238E27FC236}">
                <a16:creationId xmlns:a16="http://schemas.microsoft.com/office/drawing/2014/main" id="{B2743E83-F1A3-D176-F18E-8F9D99B55A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8265" y="320040"/>
            <a:ext cx="4400374" cy="6217920"/>
          </a:xfrm>
          <a:prstGeom prst="rect">
            <a:avLst/>
          </a:prstGeom>
        </p:spPr>
      </p:pic>
      <p:sp>
        <p:nvSpPr>
          <p:cNvPr id="4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12398691" y="6827996"/>
            <a:ext cx="463035" cy="163949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zh-CN"/>
            </a:defPPr>
            <a:lvl1pPr marL="0" algn="ctr" defTabSz="964418" rtl="0" eaLnBrk="1" latinLnBrk="0" hangingPunct="1">
              <a:defRPr sz="1055" kern="1200">
                <a:solidFill>
                  <a:schemeClr val="tx1"/>
                </a:solidFill>
                <a:latin typeface="微软雅黑" panose="020B0502040204020203" pitchFamily="34" charset="-122"/>
                <a:ea typeface="微软雅黑" panose="020B0502040204020203" pitchFamily="34" charset="-122"/>
                <a:cs typeface="Arial" panose="020B0604020202020204" pitchFamily="34" charset="0"/>
              </a:defRPr>
            </a:lvl1pPr>
            <a:lvl2pPr marL="482209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64418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6627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28835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11044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893253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375462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57671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212">
              <a:defRPr/>
            </a:pPr>
            <a:fld id="{6D22F896-40B5-4ADD-8801-0D06FADFA095}" type="slidenum">
              <a:rPr lang="en-US">
                <a:solidFill>
                  <a:prstClr val="black"/>
                </a:solidFill>
              </a:rPr>
              <a:pPr defTabSz="1218212">
                <a:defRPr/>
              </a:pPr>
              <a:t>2</a:t>
            </a:fld>
            <a:endParaRPr lang="en-US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21" y="289657"/>
            <a:ext cx="8681776" cy="1205508"/>
          </a:xfrm>
        </p:spPr>
        <p:txBody>
          <a:bodyPr/>
          <a:lstStyle/>
          <a:p>
            <a:pPr>
              <a:lnSpc>
                <a:spcPct val="110000"/>
              </a:lnSpc>
            </a:pPr>
            <a:r>
              <a:rPr lang="zh-CN" altLang="en-US" sz="2600" b="1" noProof="1">
                <a:latin typeface="Segoe UI"/>
                <a:ea typeface="微软雅黑"/>
              </a:rPr>
              <a:t>OpenClaw-RL复现实验结果</a:t>
            </a:r>
          </a:p>
        </p:txBody>
      </p:sp>
      <p:sp>
        <p:nvSpPr>
          <p:cNvPr id="8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12398691" y="6827996"/>
            <a:ext cx="463035" cy="163949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zh-CN"/>
            </a:defPPr>
            <a:lvl1pPr marL="0" algn="ctr" defTabSz="964418" rtl="0" eaLnBrk="1" latinLnBrk="0" hangingPunct="1">
              <a:defRPr sz="1055" kern="1200">
                <a:solidFill>
                  <a:schemeClr val="tx1"/>
                </a:solidFill>
                <a:latin typeface="微软雅黑" panose="020B0502040204020203" pitchFamily="34" charset="-122"/>
                <a:ea typeface="微软雅黑" panose="020B0502040204020203" pitchFamily="34" charset="-122"/>
                <a:cs typeface="Arial" panose="020B0604020202020204" pitchFamily="34" charset="0"/>
              </a:defRPr>
            </a:lvl1pPr>
            <a:lvl2pPr marL="482209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64418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6627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28835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11044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893253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375462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57671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212">
              <a:defRPr/>
            </a:pPr>
            <a:fld id="{6D22F896-40B5-4ADD-8801-0D06FADFA095}" type="slidenum">
              <a:rPr lang="en-US">
                <a:solidFill>
                  <a:prstClr val="black"/>
                </a:solidFill>
              </a:rPr>
              <a:pPr defTabSz="1218212">
                <a:defRPr/>
              </a:pPr>
              <a:t>3</a:t>
            </a:fld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84632" y="1481328"/>
            <a:ext cx="5074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zh-CN" altLang="en-US" sz="1300" b="1" noProof="1">
                <a:latin typeface="Segoe UI"/>
                <a:ea typeface="微软雅黑"/>
              </a:rPr>
              <a:t>论文 Table 3 · 达到收敛所需的 session 数（越小越好）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1865376"/>
            <a:ext cx="5074920" cy="145809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4632" y="3456432"/>
            <a:ext cx="5074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zh-CN" altLang="en-US" sz="1100" b="0" noProof="1">
                <a:latin typeface="Segoe UI"/>
                <a:ea typeface="微软雅黑"/>
              </a:rPr>
              <a:t>高亮格 19.2 = 本次复现对应的 Separate / Student / Hybrid RL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3931920"/>
            <a:ext cx="5074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zh-CN" altLang="en-US" sz="1500" b="1" noProof="1">
                <a:latin typeface="Segoe UI"/>
                <a:ea typeface="微软雅黑"/>
              </a:rPr>
              <a:t>本次复现结果</a:t>
            </a:r>
          </a:p>
          <a:p>
            <a:pPr>
              <a:spcAft>
                <a:spcPts val="200"/>
              </a:spcAft>
            </a:pPr>
            <a:r>
              <a:rPr lang="zh-CN" altLang="en-US" sz="1200" noProof="1">
                <a:latin typeface="Segoe UI"/>
                <a:ea typeface="微软雅黑"/>
              </a:rPr>
              <a:t>论文    </a:t>
            </a:r>
            <a:r>
              <a:rPr lang="en-US" altLang="zh-CN" sz="1200" noProof="1">
                <a:latin typeface="Segoe UI"/>
                <a:ea typeface="微软雅黑"/>
              </a:rPr>
              <a:t>————</a:t>
            </a:r>
            <a:r>
              <a:rPr lang="zh-CN" altLang="en-US" sz="1200" noProof="1">
                <a:latin typeface="Segoe UI"/>
                <a:ea typeface="微软雅黑"/>
              </a:rPr>
              <a:t>　</a:t>
            </a:r>
            <a:r>
              <a:rPr lang="zh-CN" altLang="en-US" sz="2400" b="1" noProof="1">
                <a:latin typeface="Segoe UI"/>
                <a:ea typeface="微软雅黑"/>
              </a:rPr>
              <a:t>19.2</a:t>
            </a:r>
          </a:p>
          <a:p>
            <a:pPr>
              <a:spcAft>
                <a:spcPts val="200"/>
              </a:spcAft>
            </a:pPr>
            <a:r>
              <a:rPr lang="zh-CN" altLang="en-US" sz="1200" noProof="1">
                <a:latin typeface="Segoe UI"/>
                <a:ea typeface="微软雅黑"/>
              </a:rPr>
              <a:t>本次复现    </a:t>
            </a:r>
            <a:r>
              <a:rPr lang="en-US" altLang="zh-CN" sz="1200" noProof="1">
                <a:latin typeface="Segoe UI"/>
                <a:ea typeface="微软雅黑"/>
              </a:rPr>
              <a:t>——</a:t>
            </a:r>
            <a:r>
              <a:rPr lang="zh-CN" altLang="en-US" sz="1200" noProof="1">
                <a:latin typeface="Segoe UI"/>
                <a:ea typeface="微软雅黑"/>
              </a:rPr>
              <a:t>　</a:t>
            </a:r>
            <a:r>
              <a:rPr lang="zh-CN" altLang="en-US" sz="2400" b="1" noProof="1">
                <a:latin typeface="Segoe UI"/>
                <a:ea typeface="微软雅黑"/>
              </a:rPr>
              <a:t>20</a:t>
            </a:r>
          </a:p>
          <a:p>
            <a:pPr>
              <a:lnSpc>
                <a:spcPct val="115000"/>
              </a:lnSpc>
              <a:spcBef>
                <a:spcPts val="1000"/>
              </a:spcBef>
              <a:spcAft>
                <a:spcPts val="200"/>
              </a:spcAft>
            </a:pPr>
            <a:r>
              <a:rPr lang="zh-CN" altLang="en-US" sz="1050" noProof="1">
                <a:latin typeface="Segoe UI"/>
                <a:ea typeface="微软雅黑"/>
              </a:rPr>
              <a:t>配置：Policy / PRM = Qwen3-4B-Thinking-2507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lang="zh-CN" altLang="en-US" sz="1050" noProof="1">
                <a:latin typeface="Segoe UI"/>
                <a:ea typeface="微软雅黑"/>
              </a:rPr>
              <a:t>　　　Simulator = DeepSeek-V4-Flash　｜　GSM8K　｜　Separate-Student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200"/>
              </a:spcAft>
            </a:pPr>
            <a:r>
              <a:rPr lang="zh-CN" altLang="en-US" sz="1050" noProof="1">
                <a:latin typeface="Segoe UI"/>
                <a:ea typeface="微软雅黑"/>
              </a:rPr>
              <a:t>判定：rule-based，连续 3 个 session 的 Turn 1 回复均满足偏好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200"/>
              </a:spcAft>
            </a:pPr>
            <a:r>
              <a:rPr lang="zh-CN" altLang="en-US" sz="1050" noProof="1">
                <a:latin typeface="Segoe UI"/>
                <a:ea typeface="微软雅黑"/>
              </a:rPr>
              <a:t>第 18 个 session 起共 15 次有效回复，14 次 Turn 1 直接达标，仅 1 次退化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1463040"/>
            <a:ext cx="65144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4631" y="112836"/>
            <a:ext cx="4964523" cy="1205508"/>
          </a:xfrm>
        </p:spPr>
        <p:txBody>
          <a:bodyPr/>
          <a:lstStyle/>
          <a:p>
            <a:pPr>
              <a:lnSpc>
                <a:spcPct val="110000"/>
              </a:lnSpc>
            </a:pPr>
            <a:r>
              <a:rPr lang="zh-CN" altLang="en-US" sz="2600" b="1" noProof="1">
                <a:latin typeface="Segoe UI"/>
                <a:ea typeface="微软雅黑"/>
              </a:rPr>
              <a:t>方法泛化方案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4460327"/>
            <a:ext cx="5394960" cy="2233081"/>
          </a:xfrm>
        </p:spPr>
        <p:txBody>
          <a:bodyPr wrap="square">
            <a:normAutofit/>
          </a:bodyPr>
          <a:lstStyle/>
          <a:p>
            <a:pPr marL="0" indent="0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zh-CN" altLang="en-US" sz="1350" b="1" noProof="1">
                <a:latin typeface="Segoe UI"/>
                <a:ea typeface="微软雅黑"/>
              </a:rPr>
              <a:t>① 任务背景</a:t>
            </a:r>
          </a:p>
          <a:p>
            <a:pPr marL="228600" lvl="1" indent="0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zh-CN" altLang="en-US" sz="1150" noProof="1">
                <a:latin typeface="Segoe UI"/>
                <a:ea typeface="微软雅黑"/>
              </a:rPr>
              <a:t>方法已在 Personal Agent 场景复现校准，换到 </a:t>
            </a:r>
            <a:r>
              <a:rPr lang="zh-CN" altLang="en-US" sz="1150" b="1" noProof="1">
                <a:latin typeface="Segoe UI"/>
                <a:ea typeface="微软雅黑"/>
              </a:rPr>
              <a:t>MetaClaw-Bench</a:t>
            </a:r>
            <a:r>
              <a:rPr lang="zh-CN" altLang="en-US" sz="1150" noProof="1">
                <a:latin typeface="Segoe UI"/>
                <a:ea typeface="微软雅黑"/>
              </a:rPr>
              <a:t>（30 天连续任务流、CLI agent）验证能否迁移</a:t>
            </a:r>
          </a:p>
          <a:p>
            <a:pPr marL="0" indent="0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zh-CN" altLang="en-US" sz="1350" b="1" noProof="1">
                <a:latin typeface="Segoe UI"/>
                <a:ea typeface="微软雅黑"/>
              </a:rPr>
              <a:t>② 按题隔离：训练有效果</a:t>
            </a:r>
          </a:p>
          <a:p>
            <a:pPr marL="228600" lvl="1" indent="0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zh-CN" altLang="en-US" sz="1150" noProof="1">
                <a:latin typeface="Segoe UI"/>
                <a:ea typeface="微软雅黑"/>
              </a:rPr>
              <a:t>day 6 相对同路径 day 0：Acc +2.9pt / Compl +1.8pt</a:t>
            </a:r>
          </a:p>
        </p:txBody>
      </p:sp>
      <p:sp>
        <p:nvSpPr>
          <p:cNvPr id="4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12398691" y="6827996"/>
            <a:ext cx="463035" cy="163949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zh-CN"/>
            </a:defPPr>
            <a:lvl1pPr marL="0" algn="ctr" defTabSz="964418" rtl="0" eaLnBrk="1" latinLnBrk="0" hangingPunct="1">
              <a:defRPr sz="1055" kern="1200">
                <a:solidFill>
                  <a:schemeClr val="tx1"/>
                </a:solidFill>
                <a:latin typeface="微软雅黑" panose="020B0502040204020203" pitchFamily="34" charset="-122"/>
                <a:ea typeface="微软雅黑" panose="020B0502040204020203" pitchFamily="34" charset="-122"/>
                <a:cs typeface="Arial" panose="020B0604020202020204" pitchFamily="34" charset="0"/>
              </a:defRPr>
            </a:lvl1pPr>
            <a:lvl2pPr marL="482209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64418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6627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28835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11044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893253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375462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57671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212">
              <a:defRPr/>
            </a:pPr>
            <a:fld id="{6D22F896-40B5-4ADD-8801-0D06FADFA095}" type="slidenum">
              <a:rPr lang="en-US">
                <a:solidFill>
                  <a:prstClr val="black"/>
                </a:solidFill>
              </a:rPr>
              <a:pPr defTabSz="1218212">
                <a:defRPr/>
              </a:pPr>
              <a:t>4</a:t>
            </a:fld>
            <a:endParaRPr lang="en-US" dirty="0">
              <a:solidFill>
                <a:srgbClr val="000000"/>
              </a:solidFill>
            </a:endParaRPr>
          </a:p>
        </p:txBody>
      </p:sp>
      <p:pic>
        <p:nvPicPr>
          <p:cNvPr id="5" name="Picture 4" descr="metaclaw_migration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8028" y="176565"/>
            <a:ext cx="6015547" cy="651684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4076279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</a:pPr>
            <a:r>
              <a:rPr lang="zh-CN" altLang="en-US" sz="1000" noProof="1">
                <a:latin typeface="Segoe UI"/>
                <a:ea typeface="微软雅黑"/>
              </a:rPr>
              <a:t>上表为本次按题隔离，不与论文 Table 1 数字直接对比</a:t>
            </a:r>
          </a:p>
        </p:txBody>
      </p:sp>
      <p:pic>
        <p:nvPicPr>
          <p:cNvPr id="8" name="Picture 7" descr="table1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987552"/>
            <a:ext cx="5394960" cy="14161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4632" y="2440305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b="1" noProof="1">
                <a:latin typeface="Segoe UI"/>
                <a:ea typeface="微软雅黑"/>
              </a:rPr>
              <a:t>论文 Table 1　·　Part I / Part II 全表（Acc. / Compl.）</a:t>
            </a:r>
          </a:p>
        </p:txBody>
      </p:sp>
      <p:pic>
        <p:nvPicPr>
          <p:cNvPr id="10" name="Picture 9" descr="perq_k0_k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2714625"/>
            <a:ext cx="5394960" cy="132507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4632" y="256032"/>
            <a:ext cx="11155680" cy="822960"/>
          </a:xfrm>
        </p:spPr>
        <p:txBody>
          <a:bodyPr/>
          <a:lstStyle/>
          <a:p>
            <a:pPr algn="l"/>
            <a:r>
              <a:rPr lang="zh-CN" altLang="en-US" sz="2600" b="1" noProof="1">
                <a:latin typeface="Segoe UI"/>
                <a:ea typeface="微软雅黑"/>
              </a:rPr>
              <a:t>按天隔离实验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5040" y="4224528"/>
            <a:ext cx="5605272" cy="2011680"/>
          </a:xfrm>
        </p:spPr>
        <p:txBody>
          <a:bodyPr wrap="square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zh-CN" altLang="en-US" sz="1800" b="1" noProof="1">
                <a:latin typeface="Segoe UI"/>
                <a:ea typeface="微软雅黑"/>
              </a:rPr>
              <a:t>问题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zh-CN" altLang="en-US" sz="1400" noProof="1">
                <a:latin typeface="Segoe UI"/>
                <a:ea typeface="微软雅黑"/>
              </a:rPr>
              <a:t>① 前八天 Acc 升、Compl 持平；day09–20 相对基线 Acc/Compl 都掉（+5.5pt → −33pt）。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zh-CN" altLang="en-US" sz="1400" noProof="1">
                <a:latin typeface="Segoe UI"/>
                <a:ea typeface="微软雅黑"/>
              </a:rPr>
              <a:t>② 后半崩，是因为 day09 起大部分题目 timeout。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noProof="1">
                <a:latin typeface="Segoe UI"/>
                <a:ea typeface="微软雅黑"/>
              </a:rPr>
              <a:t>③ timeout 基本是重复 thinking 把 context 顶满。day09 一次 MAIN turn：同一句 ×1388，thinking 15.9 万字，finish_reason=length。</a:t>
            </a:r>
          </a:p>
        </p:txBody>
      </p:sp>
      <p:sp>
        <p:nvSpPr>
          <p:cNvPr id="8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12398691" y="6827996"/>
            <a:ext cx="463035" cy="163949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zh-CN"/>
            </a:defPPr>
            <a:lvl1pPr marL="0" algn="ctr" defTabSz="964418" rtl="0" eaLnBrk="1" latinLnBrk="0" hangingPunct="1">
              <a:defRPr sz="1055" kern="1200">
                <a:solidFill>
                  <a:schemeClr val="tx1"/>
                </a:solidFill>
                <a:latin typeface="微软雅黑" panose="020B0502040204020203" pitchFamily="34" charset="-122"/>
                <a:ea typeface="微软雅黑" panose="020B0502040204020203" pitchFamily="34" charset="-122"/>
                <a:cs typeface="Arial" panose="020B0604020202020204" pitchFamily="34" charset="0"/>
              </a:defRPr>
            </a:lvl1pPr>
            <a:lvl2pPr marL="482209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64418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6627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28835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11044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893253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375462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57671" algn="l" defTabSz="964418" rtl="0" eaLnBrk="1" latinLnBrk="0" hangingPunct="1">
              <a:defRPr sz="18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1218212">
              <a:defRPr/>
            </a:pPr>
            <a:fld id="{6D22F896-40B5-4ADD-8801-0D06FADFA095}" type="slidenum">
              <a:rPr lang="en-US">
                <a:solidFill>
                  <a:prstClr val="black"/>
                </a:solidFill>
              </a:rPr>
              <a:pPr defTabSz="1218212">
                <a:defRPr/>
              </a:pPr>
              <a:t>5</a:t>
            </a:fld>
            <a:endParaRPr lang="en-US" dirty="0">
              <a:solidFill>
                <a:srgbClr val="000000"/>
              </a:solidFill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1005840"/>
            <a:ext cx="11155680" cy="312359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4224528"/>
            <a:ext cx="5394960" cy="160902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67669" y="6169723"/>
            <a:ext cx="865666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noProof="1">
                <a:latin typeface="Segoe UI"/>
                <a:ea typeface="微软雅黑"/>
              </a:rPr>
              <a:t>The user's message is a user instruction, so the assistant's response is a tool call to the write tool.   </a:t>
            </a:r>
            <a:r>
              <a:rPr lang="zh-CN" altLang="en-US" sz="1500" b="1" noProof="1">
                <a:solidFill>
                  <a:srgbClr val="B02A2A"/>
                </a:solidFill>
                <a:latin typeface="Segoe UI"/>
                <a:ea typeface="微软雅黑"/>
              </a:rPr>
              <a:t>×1388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54CF6A62-F30D-BE3B-8824-163E6F4DB6E5}"/>
              </a:ext>
            </a:extLst>
          </p:cNvPr>
          <p:cNvGrpSpPr/>
          <p:nvPr/>
        </p:nvGrpSpPr>
        <p:grpSpPr>
          <a:xfrm>
            <a:off x="3163489" y="2363511"/>
            <a:ext cx="5865022" cy="2130977"/>
            <a:chOff x="3122505" y="1346200"/>
            <a:chExt cx="5560910" cy="2020482"/>
          </a:xfrm>
        </p:grpSpPr>
        <p:sp>
          <p:nvSpPr>
            <p:cNvPr id="2" name="TextBox 1"/>
            <p:cNvSpPr txBox="1"/>
            <p:nvPr/>
          </p:nvSpPr>
          <p:spPr>
            <a:xfrm>
              <a:off x="3122505" y="1346200"/>
              <a:ext cx="5560910" cy="1466074"/>
            </a:xfrm>
            <a:prstGeom prst="rect">
              <a:avLst/>
            </a:prstGeom>
            <a:solidFill>
              <a:srgbClr val="FFFFFF">
                <a:alpha val="0"/>
              </a:srgbClr>
            </a:solidFill>
          </p:spPr>
          <p:txBody>
            <a:bodyPr wrap="square" lIns="33486" tIns="13395" rIns="33486" bIns="13395" rtlCol="0" anchor="t">
              <a:spAutoFit/>
            </a:bodyPr>
            <a:lstStyle/>
            <a:p>
              <a:pPr algn="ctr" defTabSz="964418" latinLnBrk="1">
                <a:lnSpc>
                  <a:spcPct val="90000"/>
                </a:lnSpc>
              </a:pPr>
              <a:r>
                <a:rPr lang="zh-CN" altLang="en-US" sz="10969" i="1" noProof="1">
                  <a:gradFill>
                    <a:gsLst>
                      <a:gs pos="0">
                        <a:srgbClr val="F36629"/>
                      </a:gs>
                      <a:gs pos="100000">
                        <a:srgbClr val="FF9E3A"/>
                      </a:gs>
                    </a:gsLst>
                    <a:lin ang="5400000" scaled="1"/>
                  </a:gradFill>
                  <a:latin typeface="PangMenZhengDao" panose="02010600030101010101" pitchFamily="2" charset="-122"/>
                  <a:ea typeface="PangMenZhengDao" panose="02010600030101010101" pitchFamily="2" charset="-122"/>
                </a:rPr>
                <a:t>THANKS</a:t>
              </a:r>
            </a:p>
          </p:txBody>
        </p:sp>
        <p:sp>
          <p:nvSpPr>
            <p:cNvPr id="10" name="TextBox 1">
              <a:extLst>
                <a:ext uri="{FF2B5EF4-FFF2-40B4-BE49-F238E27FC236}">
                  <a16:creationId xmlns:a16="http://schemas.microsoft.com/office/drawing/2014/main" id="{2B692CD4-E07B-3BDB-B3CF-D41A31F90541}"/>
                </a:ext>
              </a:extLst>
            </p:cNvPr>
            <p:cNvSpPr txBox="1"/>
            <p:nvPr/>
          </p:nvSpPr>
          <p:spPr>
            <a:xfrm>
              <a:off x="3234172" y="2593189"/>
              <a:ext cx="5337576" cy="773493"/>
            </a:xfrm>
            <a:prstGeom prst="rect">
              <a:avLst/>
            </a:prstGeom>
            <a:solidFill>
              <a:srgbClr val="FFFFFF">
                <a:alpha val="0"/>
              </a:srgbClr>
            </a:solidFill>
          </p:spPr>
          <p:txBody>
            <a:bodyPr wrap="square" lIns="33486" tIns="13395" rIns="33486" bIns="13395" rtlCol="0" anchor="t">
              <a:spAutoFit/>
            </a:bodyPr>
            <a:lstStyle/>
            <a:p>
              <a:pPr algn="ctr" defTabSz="964418" latinLnBrk="1">
                <a:lnSpc>
                  <a:spcPct val="90000"/>
                </a:lnSpc>
              </a:pPr>
              <a:r>
                <a:rPr lang="zh-CN" altLang="en-US" sz="5695" i="1" spc="-158" noProof="1">
                  <a:gradFill>
                    <a:gsLst>
                      <a:gs pos="0">
                        <a:srgbClr val="F36629"/>
                      </a:gs>
                      <a:gs pos="100000">
                        <a:srgbClr val="FF9E3A"/>
                      </a:gs>
                    </a:gsLst>
                    <a:lin ang="5400000" scaled="1"/>
                  </a:gradFill>
                  <a:latin typeface="PangMenZhengDao" panose="02010600030101010101" pitchFamily="2" charset="-122"/>
                  <a:ea typeface="PangMenZhengDao" panose="02010600030101010101" pitchFamily="2" charset="-122"/>
                </a:rPr>
                <a:t>FOR WATCHING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3135686"/>
      </p:ext>
    </p:extLst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4632" y="256032"/>
            <a:ext cx="11155680" cy="822960"/>
          </a:xfrm>
        </p:spPr>
        <p:txBody>
          <a:bodyPr/>
          <a:lstStyle/>
          <a:p>
            <a:pPr algn="l"/>
            <a:r>
              <a:rPr lang="zh-CN" altLang="en-US" sz="2600" b="1" noProof="1">
                <a:solidFill>
                  <a:srgbClr val="262626"/>
                </a:solidFill>
                <a:latin typeface="Segoe UI"/>
                <a:ea typeface="微软雅黑"/>
              </a:rPr>
              <a:t>消融实验：RL 与 OPD 各自的作用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4882895"/>
            <a:ext cx="11219688" cy="1837944"/>
          </a:xfrm>
        </p:spPr>
        <p:txBody>
          <a:bodyPr wrap="square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zh-CN" altLang="en-US" sz="1800" b="1" noProof="1">
                <a:solidFill>
                  <a:srgbClr val="262626"/>
                </a:solidFill>
                <a:latin typeface="Segoe UI"/>
                <a:ea typeface="微软雅黑"/>
              </a:rPr>
              <a:t>结论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zh-CN" altLang="en-US" sz="1400" b="0" noProof="1">
                <a:solidFill>
                  <a:srgbClr val="262626"/>
                </a:solidFill>
                <a:latin typeface="Segoe UI"/>
                <a:ea typeface="微软雅黑"/>
              </a:rPr>
              <a:t>① 零训练两趟都不崩（DROPPED = 0）：崩溃由训练引起，不是题集本身的性质。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zh-CN" altLang="en-US" sz="1400" b="0" noProof="1">
                <a:solidFill>
                  <a:srgbClr val="262626"/>
                </a:solidFill>
                <a:latin typeface="Segoe UI"/>
                <a:ea typeface="微软雅黑"/>
              </a:rPr>
              <a:t>② 复读 thinking 只出现在开了 OPD 的训练里：纯 OPD day04 起病，比混合早 5 天（停在 day05 第 8 轮，当天已跑的 8 轮全部超时）。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noProof="1">
                <a:solidFill>
                  <a:srgbClr val="262626"/>
                </a:solidFill>
                <a:latin typeface="Segoe UI"/>
                <a:ea typeface="微软雅黑"/>
              </a:rPr>
              <a:t>③ 纯 RL 不复读 thinking，但 day12 起 Acc 归零直到 day27：day13 起当天 main turn 从约 20 涨到 141，反复写同一文件（day18 一轮 write ×499），最后上下文撑爆、压缩超时。</a:t>
            </a:r>
          </a:p>
        </p:txBody>
      </p:sp>
      <p:sp>
        <p:nvSpPr>
          <p:cNvPr id="4" name="Panel"/>
          <p:cNvSpPr/>
          <p:nvPr/>
        </p:nvSpPr>
        <p:spPr>
          <a:xfrm>
            <a:off x="484632" y="1078992"/>
            <a:ext cx="11219688" cy="36758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170432"/>
            <a:ext cx="109453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1" noProof="1">
                <a:solidFill>
                  <a:srgbClr val="262626"/>
                </a:solidFill>
                <a:latin typeface="Segoe UI"/>
                <a:ea typeface="微软雅黑"/>
              </a:rPr>
              <a:t>对照：混合训练（第 5 页那趟）　｜　变量：去掉 RL / 去掉 OPD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" y="1499616"/>
          <a:ext cx="10945362" cy="27249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65960"/>
                <a:gridCol w="1214627"/>
                <a:gridCol w="1214627"/>
                <a:gridCol w="1214627"/>
                <a:gridCol w="1214627"/>
                <a:gridCol w="1214627"/>
                <a:gridCol w="1214627"/>
                <a:gridCol w="1691640"/>
              </a:tblGrid>
              <a:tr h="347472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实验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day01–03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day04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day05–08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day09–11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day12–20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day21–27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成批复读首日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0" noProof="1">
                          <a:solidFill>
                            <a:srgbClr val="595959"/>
                          </a:solidFill>
                          <a:latin typeface="Segoe UI"/>
                          <a:ea typeface="微软雅黑"/>
                        </a:rPr>
                        <a:t>零训练基线 B0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595959"/>
                          </a:solidFill>
                          <a:latin typeface="Times New Roman"/>
                          <a:ea typeface="微软雅黑"/>
                        </a:rPr>
                        <a:t>59.6 / 36.4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595959"/>
                          </a:solidFill>
                          <a:latin typeface="Times New Roman"/>
                          <a:ea typeface="微软雅黑"/>
                        </a:rPr>
                        <a:t>66.7 / 30.0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595959"/>
                          </a:solidFill>
                          <a:latin typeface="Times New Roman"/>
                          <a:ea typeface="微软雅黑"/>
                        </a:rPr>
                        <a:t>57.3 / 32.6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595959"/>
                          </a:solidFill>
                          <a:latin typeface="Times New Roman"/>
                          <a:ea typeface="微软雅黑"/>
                        </a:rPr>
                        <a:t>52.4 / 26.5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595959"/>
                          </a:solidFill>
                          <a:latin typeface="Times New Roman"/>
                          <a:ea typeface="微软雅黑"/>
                        </a:rPr>
                        <a:t>47.2 / 19.2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595959"/>
                          </a:solidFill>
                          <a:latin typeface="Times New Roman"/>
                          <a:ea typeface="微软雅黑"/>
                        </a:rPr>
                        <a:t>19.4 / 0.0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100" b="0" noProof="1">
                          <a:solidFill>
                            <a:srgbClr val="595959"/>
                          </a:solidFill>
                          <a:latin typeface="Segoe UI"/>
                          <a:ea typeface="微软雅黑"/>
                        </a:rPr>
                        <a:t>无</a:t>
                      </a:r>
                    </a:p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950" b="0" noProof="1">
                          <a:solidFill>
                            <a:srgbClr val="7F7F7F"/>
                          </a:solidFill>
                          <a:latin typeface="Segoe UI"/>
                          <a:ea typeface="微软雅黑"/>
                        </a:rPr>
                        <a:t>DROPPED 0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0" noProof="1">
                          <a:solidFill>
                            <a:srgbClr val="595959"/>
                          </a:solidFill>
                          <a:latin typeface="Segoe UI"/>
                          <a:ea typeface="微软雅黑"/>
                        </a:rPr>
                        <a:t>零训练基线 B0'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595959"/>
                          </a:solidFill>
                          <a:latin typeface="Times New Roman"/>
                          <a:ea typeface="微软雅黑"/>
                        </a:rPr>
                        <a:t>71.7 / 39.4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595959"/>
                          </a:solidFill>
                          <a:latin typeface="Times New Roman"/>
                          <a:ea typeface="微软雅黑"/>
                        </a:rPr>
                        <a:t>63.3 / 30.0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595959"/>
                          </a:solidFill>
                          <a:latin typeface="Times New Roman"/>
                          <a:ea typeface="微软雅黑"/>
                        </a:rPr>
                        <a:t>61.1 / 39.1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595959"/>
                          </a:solidFill>
                          <a:latin typeface="Times New Roman"/>
                          <a:ea typeface="微软雅黑"/>
                        </a:rPr>
                        <a:t>40.2 / 14.7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595959"/>
                          </a:solidFill>
                          <a:latin typeface="Times New Roman"/>
                          <a:ea typeface="微软雅黑"/>
                        </a:rPr>
                        <a:t>48.5 / 18.3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595959"/>
                          </a:solidFill>
                          <a:latin typeface="Times New Roman"/>
                          <a:ea typeface="微软雅黑"/>
                        </a:rPr>
                        <a:t>26.6 / 0.0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100" b="0" noProof="1">
                          <a:solidFill>
                            <a:srgbClr val="595959"/>
                          </a:solidFill>
                          <a:latin typeface="Segoe UI"/>
                          <a:ea typeface="微软雅黑"/>
                        </a:rPr>
                        <a:t>无</a:t>
                      </a:r>
                    </a:p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950" b="0" noProof="1">
                          <a:solidFill>
                            <a:srgbClr val="7F7F7F"/>
                          </a:solidFill>
                          <a:latin typeface="Segoe UI"/>
                          <a:ea typeface="微软雅黑"/>
                        </a:rPr>
                        <a:t>DROPPED 0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混合（对照）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262626"/>
                          </a:solidFill>
                          <a:latin typeface="Times New Roman"/>
                          <a:ea typeface="微软雅黑"/>
                        </a:rPr>
                        <a:t>64.6 / 30.3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262626"/>
                          </a:solidFill>
                          <a:latin typeface="Times New Roman"/>
                          <a:ea typeface="微软雅黑"/>
                        </a:rPr>
                        <a:t>55.0 / 20.0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262626"/>
                          </a:solidFill>
                          <a:latin typeface="Times New Roman"/>
                          <a:ea typeface="微软雅黑"/>
                        </a:rPr>
                        <a:t>66.9 / 39.1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262626"/>
                          </a:solidFill>
                          <a:latin typeface="Times New Roman"/>
                          <a:ea typeface="微软雅黑"/>
                        </a:rPr>
                        <a:t>46.8 / 32.4</a:t>
                      </a:r>
                    </a:p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950" b="0" noProof="1">
                          <a:solidFill>
                            <a:srgbClr val="B02A2A"/>
                          </a:solidFill>
                          <a:latin typeface="Segoe UI"/>
                          <a:ea typeface="微软雅黑"/>
                        </a:rPr>
                        <a:t>复读 31%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1" noProof="1">
                          <a:solidFill>
                            <a:srgbClr val="B02A2A"/>
                          </a:solidFill>
                          <a:latin typeface="Times New Roman"/>
                          <a:ea typeface="微软雅黑"/>
                        </a:rPr>
                        <a:t>5.3 / 0.0</a:t>
                      </a:r>
                    </a:p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950" b="0" noProof="1">
                          <a:solidFill>
                            <a:srgbClr val="B02A2A"/>
                          </a:solidFill>
                          <a:latin typeface="Segoe UI"/>
                          <a:ea typeface="微软雅黑"/>
                        </a:rPr>
                        <a:t>复读 56%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0" noProof="1">
                          <a:solidFill>
                            <a:srgbClr val="7F7F7F"/>
                          </a:solidFill>
                          <a:latin typeface="Times New Roman"/>
                          <a:ea typeface="微软雅黑"/>
                        </a:rPr>
                        <a:t>—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100" b="0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day09</a:t>
                      </a:r>
                    </a:p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950" b="0" noProof="1">
                          <a:solidFill>
                            <a:srgbClr val="7F7F7F"/>
                          </a:solidFill>
                          <a:latin typeface="Segoe UI"/>
                          <a:ea typeface="微软雅黑"/>
                        </a:rPr>
                        <a:t>DROPPED 93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纯 OPD（去掉 RL）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262626"/>
                          </a:solidFill>
                          <a:latin typeface="Times New Roman"/>
                          <a:ea typeface="微软雅黑"/>
                        </a:rPr>
                        <a:t>74.7 / 39.4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262626"/>
                          </a:solidFill>
                          <a:latin typeface="Times New Roman"/>
                          <a:ea typeface="微软雅黑"/>
                        </a:rPr>
                        <a:t>36.7 / 10.0</a:t>
                      </a:r>
                    </a:p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950" b="0" noProof="1">
                          <a:solidFill>
                            <a:srgbClr val="B02A2A"/>
                          </a:solidFill>
                          <a:latin typeface="Segoe UI"/>
                          <a:ea typeface="微软雅黑"/>
                        </a:rPr>
                        <a:t>复读 26%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0" noProof="1">
                          <a:solidFill>
                            <a:srgbClr val="7F7F7F"/>
                          </a:solidFill>
                          <a:latin typeface="Times New Roman"/>
                          <a:ea typeface="微软雅黑"/>
                        </a:rPr>
                        <a:t>—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0" noProof="1">
                          <a:solidFill>
                            <a:srgbClr val="7F7F7F"/>
                          </a:solidFill>
                          <a:latin typeface="Times New Roman"/>
                          <a:ea typeface="微软雅黑"/>
                        </a:rPr>
                        <a:t>—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0" noProof="1">
                          <a:solidFill>
                            <a:srgbClr val="7F7F7F"/>
                          </a:solidFill>
                          <a:latin typeface="Times New Roman"/>
                          <a:ea typeface="微软雅黑"/>
                        </a:rPr>
                        <a:t>—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0" noProof="1">
                          <a:solidFill>
                            <a:srgbClr val="7F7F7F"/>
                          </a:solidFill>
                          <a:latin typeface="Times New Roman"/>
                          <a:ea typeface="微软雅黑"/>
                        </a:rPr>
                        <a:t>—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100" b="0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day04</a:t>
                      </a:r>
                    </a:p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950" b="0" noProof="1">
                          <a:solidFill>
                            <a:srgbClr val="7F7F7F"/>
                          </a:solidFill>
                          <a:latin typeface="Segoe UI"/>
                          <a:ea typeface="微软雅黑"/>
                        </a:rPr>
                        <a:t>DROPPED 9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纯 RL（去掉 OPD）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262626"/>
                          </a:solidFill>
                          <a:latin typeface="Times New Roman"/>
                          <a:ea typeface="微软雅黑"/>
                        </a:rPr>
                        <a:t>62.6 / 33.3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262626"/>
                          </a:solidFill>
                          <a:latin typeface="Times New Roman"/>
                          <a:ea typeface="微软雅黑"/>
                        </a:rPr>
                        <a:t>66.7 / 30.0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262626"/>
                          </a:solidFill>
                          <a:latin typeface="Times New Roman"/>
                          <a:ea typeface="微软雅黑"/>
                        </a:rPr>
                        <a:t>56.9 / 30.4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262626"/>
                          </a:solidFill>
                          <a:latin typeface="Times New Roman"/>
                          <a:ea typeface="微软雅黑"/>
                        </a:rPr>
                        <a:t>32.5 / 26.5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1" noProof="1">
                          <a:solidFill>
                            <a:srgbClr val="B02A2A"/>
                          </a:solidFill>
                          <a:latin typeface="Times New Roman"/>
                          <a:ea typeface="微软雅黑"/>
                        </a:rPr>
                        <a:t>0.0 / 0.0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1" noProof="1">
                          <a:solidFill>
                            <a:srgbClr val="B02A2A"/>
                          </a:solidFill>
                          <a:latin typeface="Times New Roman"/>
                          <a:ea typeface="微软雅黑"/>
                        </a:rPr>
                        <a:t>0.0 / 0.0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100" b="0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无</a:t>
                      </a:r>
                    </a:p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950" b="0" noProof="1">
                          <a:solidFill>
                            <a:srgbClr val="B02A2A"/>
                          </a:solidFill>
                          <a:latin typeface="Segoe UI"/>
                          <a:ea typeface="微软雅黑"/>
                        </a:rPr>
                        <a:t>day12 起 Acc 归零</a:t>
                      </a:r>
                    </a:p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950" b="0" noProof="1">
                          <a:solidFill>
                            <a:srgbClr val="7F7F7F"/>
                          </a:solidFill>
                          <a:latin typeface="Segoe UI"/>
                          <a:ea typeface="微软雅黑"/>
                        </a:rPr>
                        <a:t>DROPPED 16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" y="4288536"/>
            <a:ext cx="1094536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950" b="0" noProof="1">
                <a:solidFill>
                  <a:srgbClr val="7F7F7F"/>
                </a:solidFill>
                <a:latin typeface="Segoe UI"/>
                <a:ea typeface="微软雅黑"/>
              </a:rPr>
              <a:t>Acc / Compl（%）。Compl 与第 5 页同口径：file_check 通过数 / 当天全部题数；窗口按题数加总。“—” = 该趟未跑到这一段（没跑到的天不计 0）。红字“复读 xx%” = 该段 copies≥8 的 turn 占比 ≥ 25%；红色数值 = Acc &lt; 10%。B0' 为第二趟零训练基线，作噪声参照。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4632" y="256032"/>
            <a:ext cx="11155680" cy="822960"/>
          </a:xfrm>
        </p:spPr>
        <p:txBody>
          <a:bodyPr/>
          <a:lstStyle/>
          <a:p>
            <a:pPr algn="l"/>
            <a:r>
              <a:rPr lang="zh-CN" altLang="en-US" sz="2600" b="1" noProof="1">
                <a:solidFill>
                  <a:srgbClr val="262626"/>
                </a:solidFill>
                <a:latin typeface="Segoe UI"/>
                <a:ea typeface="微软雅黑"/>
              </a:rPr>
              <a:t>正则实验：能否把崩溃挡住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4882895"/>
            <a:ext cx="11219688" cy="1837944"/>
          </a:xfrm>
        </p:spPr>
        <p:txBody>
          <a:bodyPr wrap="square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zh-CN" altLang="en-US" sz="1800" b="1" noProof="1">
                <a:solidFill>
                  <a:srgbClr val="262626"/>
                </a:solidFill>
                <a:latin typeface="Segoe UI"/>
                <a:ea typeface="微软雅黑"/>
              </a:rPr>
              <a:t>结论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zh-CN" altLang="en-US" sz="1400" b="0" noProof="1">
                <a:solidFill>
                  <a:srgbClr val="262626"/>
                </a:solidFill>
                <a:latin typeface="Segoe UI"/>
                <a:ea typeface="微软雅黑"/>
              </a:rPr>
              <a:t>① 熵正则：熵确实被抬起来了（entropy 0.157 → 0.638），起病反而从 day09 提前到 day06。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zh-CN" altLang="en-US" sz="1400" b="0" noProof="1">
                <a:solidFill>
                  <a:srgbClr val="262626"/>
                </a:solidFill>
                <a:latin typeface="Segoe UI"/>
                <a:ea typeface="微软雅黑"/>
              </a:rPr>
              <a:t>② KL：起病推迟到 day18。day09–17 对照和熵趟都已崩，KL 与基线基本持平（39.3 vs 41.8）；但起病后 3 天内复读占比升到 71%，最终没有挡住。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noProof="1">
                <a:solidFill>
                  <a:srgbClr val="262626"/>
                </a:solidFill>
                <a:latin typeface="Segoe UI"/>
                <a:ea typeface="微软雅黑"/>
              </a:rPr>
              <a:t>③ day01–05 各趟在 67.6–75.6 之间，与两趟零训练基线自身的差距（67.6 vs 74.4）同量级，不能看作收益。</a:t>
            </a:r>
          </a:p>
        </p:txBody>
      </p:sp>
      <p:sp>
        <p:nvSpPr>
          <p:cNvPr id="4" name="Panel"/>
          <p:cNvSpPr/>
          <p:nvPr/>
        </p:nvSpPr>
        <p:spPr>
          <a:xfrm>
            <a:off x="484632" y="1078992"/>
            <a:ext cx="11219688" cy="36758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170432"/>
            <a:ext cx="109453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1" noProof="1">
                <a:solidFill>
                  <a:srgbClr val="262626"/>
                </a:solidFill>
                <a:latin typeface="Segoe UI"/>
                <a:ea typeface="微软雅黑"/>
              </a:rPr>
              <a:t>对照：混合训练（第 5 页那趟）　｜　变量：+ 熵正则 0.1 / + KL 正则 0.1（锚定初始模型）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" y="1499616"/>
          <a:ext cx="10945364" cy="27249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65960"/>
                <a:gridCol w="1821941"/>
                <a:gridCol w="1821941"/>
                <a:gridCol w="1821941"/>
                <a:gridCol w="1821941"/>
                <a:gridCol w="1691640"/>
              </a:tblGrid>
              <a:tr h="347472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实验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day01–05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day06–08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day09–17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day18–20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成批复读首日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0" noProof="1">
                          <a:solidFill>
                            <a:srgbClr val="595959"/>
                          </a:solidFill>
                          <a:latin typeface="Segoe UI"/>
                          <a:ea typeface="微软雅黑"/>
                        </a:rPr>
                        <a:t>零训练基线 B0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595959"/>
                          </a:solidFill>
                          <a:latin typeface="Times New Roman"/>
                          <a:ea typeface="微软雅黑"/>
                        </a:rPr>
                        <a:t>67.6 / 39.3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595959"/>
                          </a:solidFill>
                          <a:latin typeface="Times New Roman"/>
                          <a:ea typeface="微软雅黑"/>
                        </a:rPr>
                        <a:t>45.0 / 24.2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595959"/>
                          </a:solidFill>
                          <a:latin typeface="Times New Roman"/>
                          <a:ea typeface="微软雅黑"/>
                        </a:rPr>
                        <a:t>41.8 / 14.7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595959"/>
                          </a:solidFill>
                          <a:latin typeface="Times New Roman"/>
                          <a:ea typeface="微软雅黑"/>
                        </a:rPr>
                        <a:t>67.4 / 38.9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100" b="0" noProof="1">
                          <a:solidFill>
                            <a:srgbClr val="595959"/>
                          </a:solidFill>
                          <a:latin typeface="Segoe UI"/>
                          <a:ea typeface="微软雅黑"/>
                        </a:rPr>
                        <a:t>无</a:t>
                      </a:r>
                    </a:p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950" b="0" noProof="1">
                          <a:solidFill>
                            <a:srgbClr val="7F7F7F"/>
                          </a:solidFill>
                          <a:latin typeface="Segoe UI"/>
                          <a:ea typeface="微软雅黑"/>
                        </a:rPr>
                        <a:t>DROPPED 0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0" noProof="1">
                          <a:solidFill>
                            <a:srgbClr val="595959"/>
                          </a:solidFill>
                          <a:latin typeface="Segoe UI"/>
                          <a:ea typeface="微软雅黑"/>
                        </a:rPr>
                        <a:t>零训练基线 B0'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595959"/>
                          </a:solidFill>
                          <a:latin typeface="Times New Roman"/>
                          <a:ea typeface="微软雅黑"/>
                        </a:rPr>
                        <a:t>74.4 / 41.1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595959"/>
                          </a:solidFill>
                          <a:latin typeface="Times New Roman"/>
                          <a:ea typeface="微软雅黑"/>
                        </a:rPr>
                        <a:t>49.9 / 33.3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595959"/>
                          </a:solidFill>
                          <a:latin typeface="Times New Roman"/>
                          <a:ea typeface="微软雅黑"/>
                        </a:rPr>
                        <a:t>41.0 / 11.8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595959"/>
                          </a:solidFill>
                          <a:latin typeface="Times New Roman"/>
                          <a:ea typeface="微软雅黑"/>
                        </a:rPr>
                        <a:t>61.9 / 33.3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100" b="0" noProof="1">
                          <a:solidFill>
                            <a:srgbClr val="595959"/>
                          </a:solidFill>
                          <a:latin typeface="Segoe UI"/>
                          <a:ea typeface="微软雅黑"/>
                        </a:rPr>
                        <a:t>无</a:t>
                      </a:r>
                    </a:p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950" b="0" noProof="1">
                          <a:solidFill>
                            <a:srgbClr val="7F7F7F"/>
                          </a:solidFill>
                          <a:latin typeface="Segoe UI"/>
                          <a:ea typeface="微软雅黑"/>
                        </a:rPr>
                        <a:t>DROPPED 0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混合（对照）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262626"/>
                          </a:solidFill>
                          <a:latin typeface="Times New Roman"/>
                          <a:ea typeface="微软雅黑"/>
                        </a:rPr>
                        <a:t>68.2 / 33.9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262626"/>
                          </a:solidFill>
                          <a:latin typeface="Times New Roman"/>
                          <a:ea typeface="微软雅黑"/>
                        </a:rPr>
                        <a:t>58.9 / 33.3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262626"/>
                          </a:solidFill>
                          <a:latin typeface="Times New Roman"/>
                          <a:ea typeface="微软雅黑"/>
                        </a:rPr>
                        <a:t>21.0 / 10.8</a:t>
                      </a:r>
                    </a:p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950" b="0" noProof="1">
                          <a:solidFill>
                            <a:srgbClr val="B02A2A"/>
                          </a:solidFill>
                          <a:latin typeface="Segoe UI"/>
                          <a:ea typeface="微软雅黑"/>
                        </a:rPr>
                        <a:t>复读 40%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1" noProof="1">
                          <a:solidFill>
                            <a:srgbClr val="B02A2A"/>
                          </a:solidFill>
                          <a:latin typeface="Times New Roman"/>
                          <a:ea typeface="微软雅黑"/>
                        </a:rPr>
                        <a:t>0.0 / 0.0</a:t>
                      </a:r>
                    </a:p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950" b="0" noProof="1">
                          <a:solidFill>
                            <a:srgbClr val="B02A2A"/>
                          </a:solidFill>
                          <a:latin typeface="Segoe UI"/>
                          <a:ea typeface="微软雅黑"/>
                        </a:rPr>
                        <a:t>复读 82%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100" b="0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day09</a:t>
                      </a:r>
                    </a:p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950" b="0" noProof="1">
                          <a:solidFill>
                            <a:srgbClr val="7F7F7F"/>
                          </a:solidFill>
                          <a:latin typeface="Segoe UI"/>
                          <a:ea typeface="微软雅黑"/>
                        </a:rPr>
                        <a:t>DROPPED 93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+ 熵 0.1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262626"/>
                          </a:solidFill>
                          <a:latin typeface="Times New Roman"/>
                          <a:ea typeface="微软雅黑"/>
                        </a:rPr>
                        <a:t>70.8 / 46.4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262626"/>
                          </a:solidFill>
                          <a:latin typeface="Times New Roman"/>
                          <a:ea typeface="微软雅黑"/>
                        </a:rPr>
                        <a:t>43.5 / 21.2</a:t>
                      </a:r>
                    </a:p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950" b="0" noProof="1">
                          <a:solidFill>
                            <a:srgbClr val="B02A2A"/>
                          </a:solidFill>
                          <a:latin typeface="Segoe UI"/>
                          <a:ea typeface="微软雅黑"/>
                        </a:rPr>
                        <a:t>复读 33%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1" noProof="1">
                          <a:solidFill>
                            <a:srgbClr val="B02A2A"/>
                          </a:solidFill>
                          <a:latin typeface="Times New Roman"/>
                          <a:ea typeface="微软雅黑"/>
                        </a:rPr>
                        <a:t>2.9 / 0.0</a:t>
                      </a:r>
                    </a:p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950" b="0" noProof="1">
                          <a:solidFill>
                            <a:srgbClr val="B02A2A"/>
                          </a:solidFill>
                          <a:latin typeface="Segoe UI"/>
                          <a:ea typeface="微软雅黑"/>
                        </a:rPr>
                        <a:t>复读 57%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1" noProof="1">
                          <a:solidFill>
                            <a:srgbClr val="B02A2A"/>
                          </a:solidFill>
                          <a:latin typeface="Times New Roman"/>
                          <a:ea typeface="微软雅黑"/>
                        </a:rPr>
                        <a:t>0.0 / 0.0</a:t>
                      </a:r>
                    </a:p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950" b="0" noProof="1">
                          <a:solidFill>
                            <a:srgbClr val="B02A2A"/>
                          </a:solidFill>
                          <a:latin typeface="Segoe UI"/>
                          <a:ea typeface="微软雅黑"/>
                        </a:rPr>
                        <a:t>复读 69%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100" b="0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day06</a:t>
                      </a:r>
                    </a:p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950" b="0" noProof="1">
                          <a:solidFill>
                            <a:srgbClr val="7F7F7F"/>
                          </a:solidFill>
                          <a:latin typeface="Segoe UI"/>
                          <a:ea typeface="微软雅黑"/>
                        </a:rPr>
                        <a:t>DROPPED 227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+ KL 0.1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262626"/>
                          </a:solidFill>
                          <a:latin typeface="Times New Roman"/>
                          <a:ea typeface="微软雅黑"/>
                        </a:rPr>
                        <a:t>75.6 / 41.1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262626"/>
                          </a:solidFill>
                          <a:latin typeface="Times New Roman"/>
                          <a:ea typeface="微软雅黑"/>
                        </a:rPr>
                        <a:t>64.8 / 36.4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262626"/>
                          </a:solidFill>
                          <a:latin typeface="Times New Roman"/>
                          <a:ea typeface="微软雅黑"/>
                        </a:rPr>
                        <a:t>39.3 / 8.8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1" noProof="1">
                          <a:solidFill>
                            <a:srgbClr val="B02A2A"/>
                          </a:solidFill>
                          <a:latin typeface="Times New Roman"/>
                          <a:ea typeface="微软雅黑"/>
                        </a:rPr>
                        <a:t>0.0 / 0.0</a:t>
                      </a:r>
                    </a:p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950" b="0" noProof="1">
                          <a:solidFill>
                            <a:srgbClr val="B02A2A"/>
                          </a:solidFill>
                          <a:latin typeface="Segoe UI"/>
                          <a:ea typeface="微软雅黑"/>
                        </a:rPr>
                        <a:t>复读 71%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100" b="0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day18</a:t>
                      </a:r>
                    </a:p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950" b="0" noProof="1">
                          <a:solidFill>
                            <a:srgbClr val="7F7F7F"/>
                          </a:solidFill>
                          <a:latin typeface="Segoe UI"/>
                          <a:ea typeface="微软雅黑"/>
                        </a:rPr>
                        <a:t>DROPPED 38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" y="4288536"/>
            <a:ext cx="1094536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950" b="0" noProof="1">
                <a:solidFill>
                  <a:srgbClr val="7F7F7F"/>
                </a:solidFill>
                <a:latin typeface="Segoe UI"/>
                <a:ea typeface="微软雅黑"/>
              </a:rPr>
              <a:t>Acc / Compl（%）。Compl 与第 5 页同口径：file_check 通过数 / 当天全部题数；窗口按题数加总。“—” = 该趟未跑到这一段（没跑到的天不计 0）。红字“复读 xx%” = 该段 copies≥8 的 turn 占比 ≥ 25%；红色数值 = Acc &lt; 10%。B0' 为第二趟零训练基线，作噪声参照。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4632" y="256032"/>
            <a:ext cx="11155680" cy="822960"/>
          </a:xfrm>
        </p:spPr>
        <p:txBody>
          <a:bodyPr/>
          <a:lstStyle/>
          <a:p>
            <a:pPr algn="l"/>
            <a:r>
              <a:rPr lang="zh-CN" altLang="en-US" sz="2600" b="1" noProof="1">
                <a:solidFill>
                  <a:srgbClr val="262626"/>
                </a:solidFill>
                <a:latin typeface="Segoe UI"/>
                <a:ea typeface="微软雅黑"/>
              </a:rPr>
              <a:t>机制验证实验</a:t>
            </a:r>
          </a:p>
        </p:txBody>
      </p:sp>
      <p:sp>
        <p:nvSpPr>
          <p:cNvPr id="4" name="Panel"/>
          <p:cNvSpPr/>
          <p:nvPr/>
        </p:nvSpPr>
        <p:spPr>
          <a:xfrm>
            <a:off x="484632" y="1078992"/>
            <a:ext cx="5532120" cy="32552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152144"/>
            <a:ext cx="5257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1" noProof="1">
                <a:solidFill>
                  <a:srgbClr val="262626"/>
                </a:solidFill>
                <a:latin typeface="Segoe UI"/>
                <a:ea typeface="微软雅黑"/>
              </a:rPr>
              <a:t>假设 H-e：OPD 压低了“停止思考”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463039"/>
            <a:ext cx="5257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50" b="0" noProof="1">
                <a:solidFill>
                  <a:srgbClr val="7F7F7F"/>
                </a:solidFill>
                <a:latin typeface="Segoe UI"/>
                <a:ea typeface="微软雅黑"/>
              </a:rPr>
              <a:t>对照：纯 OPD　｜　实验：遮住 OPD 对停止决策及随后动作的作用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1792" y="1792224"/>
          <a:ext cx="5257800" cy="24140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00200"/>
                <a:gridCol w="1219200"/>
                <a:gridCol w="1219200"/>
                <a:gridCol w="1219200"/>
              </a:tblGrid>
              <a:tr h="36576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实验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day01–03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day04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day05–18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0" noProof="1">
                          <a:solidFill>
                            <a:srgbClr val="595959"/>
                          </a:solidFill>
                          <a:latin typeface="Segoe UI"/>
                          <a:ea typeface="微软雅黑"/>
                        </a:rPr>
                        <a:t>零训练基线 B0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595959"/>
                          </a:solidFill>
                          <a:latin typeface="Times New Roman"/>
                          <a:ea typeface="微软雅黑"/>
                        </a:rPr>
                        <a:t>59.6 / 36.4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595959"/>
                          </a:solidFill>
                          <a:latin typeface="Times New Roman"/>
                          <a:ea typeface="微软雅黑"/>
                        </a:rPr>
                        <a:t>66.7 / 30.0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595959"/>
                          </a:solidFill>
                          <a:latin typeface="Times New Roman"/>
                          <a:ea typeface="微软雅黑"/>
                        </a:rPr>
                        <a:t>48.5 / 21.9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0" noProof="1">
                          <a:solidFill>
                            <a:srgbClr val="595959"/>
                          </a:solidFill>
                          <a:latin typeface="Segoe UI"/>
                          <a:ea typeface="微软雅黑"/>
                        </a:rPr>
                        <a:t>零训练基线 B0'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595959"/>
                          </a:solidFill>
                          <a:latin typeface="Times New Roman"/>
                          <a:ea typeface="微软雅黑"/>
                        </a:rPr>
                        <a:t>71.7 / 39.4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595959"/>
                          </a:solidFill>
                          <a:latin typeface="Times New Roman"/>
                          <a:ea typeface="微软雅黑"/>
                        </a:rPr>
                        <a:t>63.3 / 30.0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595959"/>
                          </a:solidFill>
                          <a:latin typeface="Times New Roman"/>
                          <a:ea typeface="微软雅黑"/>
                        </a:rPr>
                        <a:t>48.0 / 20.6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纯 OPD（去掉 RL）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262626"/>
                          </a:solidFill>
                          <a:latin typeface="Times New Roman"/>
                          <a:ea typeface="微软雅黑"/>
                        </a:rPr>
                        <a:t>74.7 / 39.4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262626"/>
                          </a:solidFill>
                          <a:latin typeface="Times New Roman"/>
                          <a:ea typeface="微软雅黑"/>
                        </a:rPr>
                        <a:t>36.7 / 10.0</a:t>
                      </a:r>
                    </a:p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950" b="0" noProof="1">
                          <a:solidFill>
                            <a:srgbClr val="B02A2A"/>
                          </a:solidFill>
                          <a:latin typeface="Segoe UI"/>
                          <a:ea typeface="微软雅黑"/>
                        </a:rPr>
                        <a:t>复读 26%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0" noProof="1">
                          <a:solidFill>
                            <a:srgbClr val="7F7F7F"/>
                          </a:solidFill>
                          <a:latin typeface="Times New Roman"/>
                          <a:ea typeface="微软雅黑"/>
                        </a:rPr>
                        <a:t>—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纯 OPD + 遮罩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262626"/>
                          </a:solidFill>
                          <a:latin typeface="Times New Roman"/>
                          <a:ea typeface="微软雅黑"/>
                        </a:rPr>
                        <a:t>66.7 / 33.3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262626"/>
                          </a:solidFill>
                          <a:latin typeface="Times New Roman"/>
                          <a:ea typeface="微软雅黑"/>
                        </a:rPr>
                        <a:t>73.3 / 40.0</a:t>
                      </a:r>
                    </a:p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950" b="0" noProof="1">
                          <a:solidFill>
                            <a:srgbClr val="B02A2A"/>
                          </a:solidFill>
                          <a:latin typeface="Segoe UI"/>
                          <a:ea typeface="微软雅黑"/>
                        </a:rPr>
                        <a:t>复读 26%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1" noProof="1">
                          <a:solidFill>
                            <a:srgbClr val="B02A2A"/>
                          </a:solidFill>
                          <a:latin typeface="Times New Roman"/>
                          <a:ea typeface="微软雅黑"/>
                        </a:rPr>
                        <a:t>2.8 / 0.0</a:t>
                      </a:r>
                    </a:p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950" b="0" noProof="1">
                          <a:solidFill>
                            <a:srgbClr val="B02A2A"/>
                          </a:solidFill>
                          <a:latin typeface="Segoe UI"/>
                          <a:ea typeface="微软雅黑"/>
                        </a:rPr>
                        <a:t>复读 97%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84632" y="4462272"/>
            <a:ext cx="5532120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zh-CN" altLang="en-US" sz="1600" b="1" noProof="1">
                <a:solidFill>
                  <a:srgbClr val="262626"/>
                </a:solidFill>
                <a:latin typeface="Segoe UI"/>
                <a:ea typeface="微软雅黑"/>
              </a:rPr>
              <a:t>结果：否定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zh-CN" altLang="en-US" sz="1300" b="0" noProof="1">
                <a:solidFill>
                  <a:srgbClr val="262626"/>
                </a:solidFill>
                <a:latin typeface="Segoe UI"/>
                <a:ea typeface="微软雅黑"/>
              </a:rPr>
              <a:t>① 遮罩生效：每步 OPD 仍作用的位置占比 0.83–0.98，7 步均在预设区间 [0.8, 1.0) 内。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noProof="1">
                <a:solidFill>
                  <a:srgbClr val="262626"/>
                </a:solidFill>
                <a:latin typeface="Segoe UI"/>
                <a:ea typeface="微软雅黑"/>
              </a:rPr>
              <a:t>② 两趟都是 day04 起病，遮罩趟 day05 起复读占比 97%：一天没推迟，问题出在 OPD 作用于 thinking 内容的部分。</a:t>
            </a:r>
          </a:p>
        </p:txBody>
      </p:sp>
      <p:sp>
        <p:nvSpPr>
          <p:cNvPr id="9" name="Panel"/>
          <p:cNvSpPr/>
          <p:nvPr/>
        </p:nvSpPr>
        <p:spPr>
          <a:xfrm>
            <a:off x="6172200" y="1078992"/>
            <a:ext cx="5532120" cy="32552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152144"/>
            <a:ext cx="5257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1" noProof="1">
                <a:solidFill>
                  <a:srgbClr val="262626"/>
                </a:solidFill>
                <a:latin typeface="Segoe UI"/>
                <a:ea typeface="微软雅黑"/>
              </a:rPr>
              <a:t>假设 H-f：训练用了旧权重生成的样本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463039"/>
            <a:ext cx="5257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50" b="0" noProof="1">
                <a:solidFill>
                  <a:srgbClr val="7F7F7F"/>
                </a:solidFill>
                <a:latin typeface="Segoe UI"/>
                <a:ea typeface="微软雅黑"/>
              </a:rPr>
              <a:t>对照：混合训练　｜　实验：只用当前权重生成的样本训练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09360" y="1792224"/>
          <a:ext cx="5257800" cy="24140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00200"/>
                <a:gridCol w="1219200"/>
                <a:gridCol w="1219200"/>
                <a:gridCol w="1219200"/>
              </a:tblGrid>
              <a:tr h="36576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实验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day01–07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day08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day09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0" noProof="1">
                          <a:solidFill>
                            <a:srgbClr val="595959"/>
                          </a:solidFill>
                          <a:latin typeface="Segoe UI"/>
                          <a:ea typeface="微软雅黑"/>
                        </a:rPr>
                        <a:t>零训练基线 B0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595959"/>
                          </a:solidFill>
                          <a:latin typeface="Times New Roman"/>
                          <a:ea typeface="微软雅黑"/>
                        </a:rPr>
                        <a:t>60.0 / 35.1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595959"/>
                          </a:solidFill>
                          <a:latin typeface="Times New Roman"/>
                          <a:ea typeface="微软雅黑"/>
                        </a:rPr>
                        <a:t>54.1 / 25.0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595959"/>
                          </a:solidFill>
                          <a:latin typeface="Times New Roman"/>
                          <a:ea typeface="微软雅黑"/>
                        </a:rPr>
                        <a:t>37.6 / 18.2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0" noProof="1">
                          <a:solidFill>
                            <a:srgbClr val="595959"/>
                          </a:solidFill>
                          <a:latin typeface="Segoe UI"/>
                          <a:ea typeface="微软雅黑"/>
                        </a:rPr>
                        <a:t>零训练基线 B0'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595959"/>
                          </a:solidFill>
                          <a:latin typeface="Times New Roman"/>
                          <a:ea typeface="微软雅黑"/>
                        </a:rPr>
                        <a:t>71.6 / 40.3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595959"/>
                          </a:solidFill>
                          <a:latin typeface="Times New Roman"/>
                          <a:ea typeface="微软雅黑"/>
                        </a:rPr>
                        <a:t>25.0 / 25.0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595959"/>
                          </a:solidFill>
                          <a:latin typeface="Times New Roman"/>
                          <a:ea typeface="微软雅黑"/>
                        </a:rPr>
                        <a:t>37.6 / 18.2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混合（对照）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262626"/>
                          </a:solidFill>
                          <a:latin typeface="Times New Roman"/>
                          <a:ea typeface="微软雅黑"/>
                        </a:rPr>
                        <a:t>67.1 / 35.1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262626"/>
                          </a:solidFill>
                          <a:latin typeface="Times New Roman"/>
                          <a:ea typeface="微软雅黑"/>
                        </a:rPr>
                        <a:t>49.4 / 25.0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262626"/>
                          </a:solidFill>
                          <a:latin typeface="Times New Roman"/>
                          <a:ea typeface="微软雅黑"/>
                        </a:rPr>
                        <a:t>61.5 / 45.5</a:t>
                      </a:r>
                    </a:p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950" b="0" noProof="1">
                          <a:solidFill>
                            <a:srgbClr val="B02A2A"/>
                          </a:solidFill>
                          <a:latin typeface="Segoe UI"/>
                          <a:ea typeface="微软雅黑"/>
                        </a:rPr>
                        <a:t>复读 29%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混合 + 同策略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262626"/>
                          </a:solidFill>
                          <a:latin typeface="Times New Roman"/>
                          <a:ea typeface="微软雅黑"/>
                        </a:rPr>
                        <a:t>63.1 / 31.2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1" noProof="1">
                          <a:solidFill>
                            <a:srgbClr val="B02A2A"/>
                          </a:solidFill>
                          <a:latin typeface="Times New Roman"/>
                          <a:ea typeface="微软雅黑"/>
                        </a:rPr>
                        <a:t>0.0 / 0.0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50" b="0" noProof="1">
                          <a:solidFill>
                            <a:srgbClr val="262626"/>
                          </a:solidFill>
                          <a:latin typeface="Times New Roman"/>
                          <a:ea typeface="微软雅黑"/>
                        </a:rPr>
                        <a:t>23.6 / 0.0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172200" y="4462272"/>
            <a:ext cx="5532120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zh-CN" altLang="en-US" sz="1600" b="1" noProof="1">
                <a:solidFill>
                  <a:srgbClr val="262626"/>
                </a:solidFill>
                <a:latin typeface="Segoe UI"/>
                <a:ea typeface="微软雅黑"/>
              </a:rPr>
              <a:t>结果：未定论（正在重跑，见第 10 页）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zh-CN" altLang="en-US" sz="1300" b="0" noProof="1">
                <a:solidFill>
                  <a:srgbClr val="262626"/>
                </a:solidFill>
                <a:latin typeface="Segoe UI"/>
                <a:ea typeface="微软雅黑"/>
              </a:rPr>
              <a:t>① 到 day09 没有成批复读（对照 day09 为 29%）；但 day09 结束时只训练到 step 7，对照起病时已到 step 11。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noProof="1">
                <a:solidFill>
                  <a:srgbClr val="262626"/>
                </a:solidFill>
                <a:latin typeface="Segoe UI"/>
                <a:ea typeface="微软雅黑"/>
              </a:rPr>
              <a:t>② 出现了别的失效：day08 一个 95 turn 的超长轮次（不是复读 thinking），当天 Acc 0；day09 Compl 0。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6144768"/>
            <a:ext cx="112196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950" b="0" noProof="1">
                <a:solidFill>
                  <a:srgbClr val="7F7F7F"/>
                </a:solidFill>
                <a:latin typeface="Segoe UI"/>
                <a:ea typeface="微软雅黑"/>
              </a:rPr>
              <a:t>Acc / Compl（%）。Compl 与第 5 页同口径：file_check 通过数 / 当天全部题数；窗口按题数加总。“—” = 该趟未跑到这一段（没跑到的天不计 0）。红字“复读 xx%” = 该段 copies≥8 的 turn 占比 ≥ 25%；红色数值 = Acc &lt; 10%。B0' 为第二趟零训练基线，作噪声参照。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4632" y="256032"/>
            <a:ext cx="11155680" cy="822960"/>
          </a:xfrm>
        </p:spPr>
        <p:txBody>
          <a:bodyPr/>
          <a:lstStyle/>
          <a:p>
            <a:pPr algn="l"/>
            <a:r>
              <a:rPr lang="zh-CN" altLang="en-US" sz="2600" b="1" noProof="1">
                <a:solidFill>
                  <a:srgbClr val="262626"/>
                </a:solidFill>
                <a:latin typeface="Segoe UI"/>
                <a:ea typeface="微软雅黑"/>
              </a:rPr>
              <a:t>总结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4389120"/>
            <a:ext cx="11219688" cy="2331720"/>
          </a:xfrm>
        </p:spPr>
        <p:txBody>
          <a:bodyPr wrap="square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zh-CN" altLang="en-US" sz="1400" b="0" noProof="1">
                <a:solidFill>
                  <a:srgbClr val="262626"/>
                </a:solidFill>
                <a:latin typeface="Segoe UI"/>
                <a:ea typeface="微软雅黑"/>
              </a:rPr>
              <a:t>① </a:t>
            </a:r>
            <a:r>
              <a:rPr lang="zh-CN" altLang="en-US" sz="1400" b="0" noProof="1">
                <a:solidFill>
                  <a:srgbClr val="262626"/>
                </a:solidFill>
                <a:latin typeface="Segoe UI"/>
                <a:ea typeface="微软雅黑"/>
              </a:rPr>
              <a:t>零训练基线跑满 30 天不崩；目前所有训练配置都在 30 天内崩溃，没有一趟超过零训练基线。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zh-CN" altLang="en-US" sz="1400" b="0" noProof="1">
                <a:solidFill>
                  <a:srgbClr val="262626"/>
                </a:solidFill>
                <a:latin typeface="Segoe UI"/>
                <a:ea typeface="微软雅黑"/>
              </a:rPr>
              <a:t>② </a:t>
            </a:r>
            <a:r>
              <a:rPr lang="zh-CN" altLang="en-US" sz="1400" b="0" noProof="1">
                <a:solidFill>
                  <a:srgbClr val="262626"/>
                </a:solidFill>
                <a:latin typeface="Segoe UI"/>
                <a:ea typeface="微软雅黑"/>
              </a:rPr>
              <a:t>崩法有两种：开了 OPD → 复读 thinking → idle timeout；纯 RL → 反复 write → 上下文撑爆、压缩超时。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zh-CN" altLang="en-US" sz="1400" b="0" noProof="1">
                <a:solidFill>
                  <a:srgbClr val="262626"/>
                </a:solidFill>
                <a:latin typeface="Segoe UI"/>
                <a:ea typeface="微软雅黑"/>
              </a:rPr>
              <a:t>③ </a:t>
            </a:r>
            <a:r>
              <a:rPr lang="zh-CN" altLang="en-US" sz="1400" b="0" noProof="1">
                <a:solidFill>
                  <a:srgbClr val="262626"/>
                </a:solidFill>
                <a:latin typeface="Segoe UI"/>
                <a:ea typeface="微软雅黑"/>
              </a:rPr>
              <a:t>正则只能改变起病时间：熵提前 3 天，KL 推迟 9 天；两个机制假设中 H-e 已否定，H-f 尚无结论。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noProof="1">
                <a:solidFill>
                  <a:srgbClr val="262626"/>
                </a:solidFill>
                <a:latin typeface="Segoe UI"/>
                <a:ea typeface="微软雅黑"/>
              </a:rPr>
              <a:t>④ </a:t>
            </a:r>
            <a:r>
              <a:rPr lang="zh-CN" altLang="en-US" sz="1400" b="0" noProof="1">
                <a:solidFill>
                  <a:srgbClr val="262626"/>
                </a:solidFill>
                <a:latin typeface="Segoe UI"/>
                <a:ea typeface="微软雅黑"/>
              </a:rPr>
              <a:t>口径：健康期 ±10pt 以内的差异在两趟零训练基线的差距范围内；训练中途停止的趟，没跑到的天不计入。</a:t>
            </a:r>
          </a:p>
        </p:txBody>
      </p:sp>
      <p:sp>
        <p:nvSpPr>
          <p:cNvPr id="4" name="Panel"/>
          <p:cNvSpPr/>
          <p:nvPr/>
        </p:nvSpPr>
        <p:spPr>
          <a:xfrm>
            <a:off x="484632" y="1078992"/>
            <a:ext cx="11219688" cy="3145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" y="1261872"/>
          <a:ext cx="10945368" cy="27797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77440"/>
                <a:gridCol w="1737360"/>
                <a:gridCol w="3200400"/>
                <a:gridCol w="3630168"/>
              </a:tblGrid>
              <a:tr h="365760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实验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对照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成批复读首日（对照 → 实验）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结论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去掉 RL（纯 OPD）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0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混合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0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day09 → day04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0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复读 thinking 只在开了 OPD 时出现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去掉 OPD（纯 RL）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0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混合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0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day09 → 无复读；day12 起 Acc 归零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0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换了一种崩法：反复 write、上下文撑爆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+ 熵 0.1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0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混合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0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day09 → day06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0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加速崩溃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+ KL 0.1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0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混合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0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day09 → day18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0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推迟 9 天，挡不住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遮住停止决策（H-e）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0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纯 OPD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0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day04 → day04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0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一天没推迟，假设否定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只用当前权重样本（H-f）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0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混合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0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day09 → 到 day09 无复读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0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步数没对齐、出现别的失效，正在重跑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4632" y="256032"/>
            <a:ext cx="11155680" cy="822960"/>
          </a:xfrm>
        </p:spPr>
        <p:txBody>
          <a:bodyPr/>
          <a:lstStyle/>
          <a:p>
            <a:pPr algn="l"/>
            <a:r>
              <a:rPr lang="zh-CN" altLang="en-US" sz="2600" b="1" noProof="1">
                <a:solidFill>
                  <a:srgbClr val="262626"/>
                </a:solidFill>
                <a:latin typeface="Segoe UI"/>
                <a:ea typeface="微软雅黑"/>
              </a:rPr>
              <a:t>正在进行：防止旧轨迹影响当前参数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Panel"/>
          <p:cNvSpPr/>
          <p:nvPr/>
        </p:nvSpPr>
        <p:spPr>
          <a:xfrm>
            <a:off x="484632" y="1078992"/>
            <a:ext cx="5532120" cy="2670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" y="1188719"/>
            <a:ext cx="5202936" cy="248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zh-CN" altLang="en-US" sz="1500" b="1" noProof="1">
                <a:solidFill>
                  <a:srgbClr val="262626"/>
                </a:solidFill>
                <a:latin typeface="Segoe UI"/>
                <a:ea typeface="微软雅黑"/>
              </a:rPr>
              <a:t>① 问题：训练数据整批来自上一版权重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zh-CN" altLang="en-US" sz="1250" b="0" noProof="1">
                <a:solidFill>
                  <a:srgbClr val="262626"/>
                </a:solidFill>
                <a:latin typeface="Segoe UI"/>
                <a:ea typeface="微软雅黑"/>
              </a:rPr>
              <a:t>· 官方 slime 异步循环：训练第 r 批时就在用 W_r 收集第 r+1 批，更新前先等收集完；除 step 0 外，每批都由上一版权重生成、新权重训练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zh-CN" altLang="en-US" sz="1250" b="0" noProof="1">
                <a:solidFill>
                  <a:srgbClr val="262626"/>
                </a:solidFill>
                <a:latin typeface="Segoe UI"/>
                <a:ea typeface="微软雅黑"/>
              </a:rPr>
              <a:t>· 没有重要性修正（--use-rollout-logprobs 关闭），旧样本被当作当前权重生成的来训练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zh-CN" altLang="en-US" sz="1250" b="0" noProof="1">
                <a:solidFill>
                  <a:srgbClr val="262626"/>
                </a:solidFill>
                <a:latin typeface="Segoe UI"/>
                <a:ea typeface="微软雅黑"/>
              </a:rPr>
              <a:t>· 同批 token 上「当前权重 vs 生成时权重」的对数概率差：step 0 底线 0.066，之后各步为底线的 1.4–2.7 倍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noProof="1">
                <a:solidFill>
                  <a:srgbClr val="262626"/>
                </a:solidFill>
                <a:latin typeface="Segoe UI"/>
                <a:ea typeface="微软雅黑"/>
              </a:rPr>
              <a:t>· MetaClaw 在技能库版本变化时清空样本缓冲区；本实验把这一原则推广到权重版本</a:t>
            </a:r>
          </a:p>
        </p:txBody>
      </p:sp>
      <p:sp>
        <p:nvSpPr>
          <p:cNvPr id="6" name="Panel"/>
          <p:cNvSpPr/>
          <p:nvPr/>
        </p:nvSpPr>
        <p:spPr>
          <a:xfrm>
            <a:off x="6172200" y="1078992"/>
            <a:ext cx="5532120" cy="2670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36792" y="1188719"/>
            <a:ext cx="5202936" cy="248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zh-CN" altLang="en-US" sz="1500" b="1" noProof="1">
                <a:solidFill>
                  <a:srgbClr val="262626"/>
                </a:solidFill>
                <a:latin typeface="Segoe UI"/>
                <a:ea typeface="微软雅黑"/>
              </a:rPr>
              <a:t>② 做法：只用当前权重生成的样本训练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zh-CN" altLang="en-US" sz="1250" b="0" noProof="1">
                <a:solidFill>
                  <a:srgbClr val="262626"/>
                </a:solidFill>
                <a:latin typeface="Segoe UI"/>
                <a:ea typeface="微软雅黑"/>
              </a:rPr>
              <a:t>· 先更新权重、再收集下一批；训练期间 agent 照常运行，环境不变（无暂停、无 503）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zh-CN" altLang="en-US" sz="1250" b="0" noProof="1">
                <a:solidFill>
                  <a:srgbClr val="262626"/>
                </a:solidFill>
                <a:latin typeface="Segoe UI"/>
                <a:ea typeface="微软雅黑"/>
              </a:rPr>
              <a:t>· 每个 turn 记录生成它的权重版本（SGLang 返回的 weight_version），凑批时只保留所有 turn 都是当前版本的轨迹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zh-CN" altLang="en-US" sz="1250" b="0" noProof="1">
                <a:solidFill>
                  <a:srgbClr val="262626"/>
                </a:solidFill>
                <a:latin typeface="Segoe UI"/>
                <a:ea typeface="微软雅黑"/>
              </a:rPr>
              <a:t>· 有效性检查：目标版本每步 +1；无版本标记的样本为 0；丢弃与保留轨迹的长度比 &lt; 1.5（排除“只是丢掉了长轨迹”）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noProof="1">
                <a:solidFill>
                  <a:srgbClr val="7F7F7F"/>
                </a:solidFill>
                <a:latin typeface="Segoe UI"/>
                <a:ea typeface="微软雅黑"/>
              </a:rPr>
              <a:t>· 临时诊断开关（METACLAW_ONPOLICY），只用于确认假设是否成立，结论出来后回退，不是修复方案</a:t>
            </a:r>
          </a:p>
        </p:txBody>
      </p:sp>
      <p:sp>
        <p:nvSpPr>
          <p:cNvPr id="8" name="Panel"/>
          <p:cNvSpPr/>
          <p:nvPr/>
        </p:nvSpPr>
        <p:spPr>
          <a:xfrm>
            <a:off x="484632" y="3904487"/>
            <a:ext cx="5532120" cy="2788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4014215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500" b="1" noProof="1">
                <a:solidFill>
                  <a:srgbClr val="262626"/>
                </a:solidFill>
                <a:latin typeface="Segoe UI"/>
                <a:ea typeface="微软雅黑"/>
              </a:rPr>
              <a:t>③ 首趟结果（混合训练，day01–09）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9224" y="4379975"/>
          <a:ext cx="5166360" cy="14996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23160"/>
                <a:gridCol w="1371600"/>
                <a:gridCol w="1371600"/>
              </a:tblGrid>
              <a:tr h="292608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/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混合（对照）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200" b="1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混合 + 同策略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150" b="0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day09 复读占比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150" b="0" noProof="1">
                          <a:solidFill>
                            <a:srgbClr val="B02A2A"/>
                          </a:solidFill>
                          <a:latin typeface="Segoe UI"/>
                          <a:ea typeface="微软雅黑"/>
                        </a:rPr>
                        <a:t>29%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150" b="0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0%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150" b="0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day09 结束时训练步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150" b="0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step 11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150" b="0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step 7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150" b="0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样本新旧差（相对 step 0 底线）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150" b="0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1.4–2.7×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150" b="0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多数步 0.75–0.96×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150" b="0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有效性检查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150" b="0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150" b="0" noProof="1">
                          <a:solidFill>
                            <a:srgbClr val="262626"/>
                          </a:solidFill>
                          <a:latin typeface="Segoe UI"/>
                          <a:ea typeface="微软雅黑"/>
                        </a:rPr>
                        <a:t>全部通过</a:t>
                      </a:r>
                    </a:p>
                  </a:txBody>
                  <a:tcPr anchor="ctr" marL="54864" marR="54864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9224" y="5952744"/>
            <a:ext cx="520293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noProof="1">
                <a:solidFill>
                  <a:srgbClr val="262626"/>
                </a:solidFill>
                <a:latin typeface="Segoe UI"/>
                <a:ea typeface="微软雅黑"/>
              </a:rPr>
              <a:t>到 day09 没有成批复读；但训练步数比对照少，且 day08 出现一个 95 turn 的超长轮次（不是复读 thinking），当天 Acc 0。</a:t>
            </a:r>
          </a:p>
        </p:txBody>
      </p:sp>
      <p:sp>
        <p:nvSpPr>
          <p:cNvPr id="12" name="Panel"/>
          <p:cNvSpPr/>
          <p:nvPr/>
        </p:nvSpPr>
        <p:spPr>
          <a:xfrm>
            <a:off x="6172200" y="3904487"/>
            <a:ext cx="5532120" cy="2788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4014215"/>
            <a:ext cx="5202936" cy="2606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zh-CN" altLang="en-US" sz="1500" b="1" noProof="1">
                <a:solidFill>
                  <a:srgbClr val="262626"/>
                </a:solidFill>
                <a:latin typeface="Segoe UI"/>
                <a:ea typeface="微软雅黑"/>
              </a:rPr>
              <a:t>④ 当前：从头重跑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zh-CN" altLang="en-US" sz="1250" b="0" noProof="1">
                <a:solidFill>
                  <a:srgbClr val="262626"/>
                </a:solidFill>
                <a:latin typeface="Segoe UI"/>
                <a:ea typeface="微软雅黑"/>
              </a:rPr>
              <a:t>· 首趟 driver 在 day10 中途退出，只训练到 step 8；checkpoint 每 10 步才存一次，无法续跑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zh-CN" altLang="en-US" sz="1250" b="0" noProof="1">
                <a:solidFill>
                  <a:srgbClr val="262626"/>
                </a:solidFill>
                <a:latin typeface="Segoe UI"/>
                <a:ea typeface="微软雅黑"/>
              </a:rPr>
              <a:t>· 同策略会丢掉训练期间产生的样本，约每天 1 步，大约到 day13 才达到对照起病时的步数（step 11）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1" noProof="1">
                <a:solidFill>
                  <a:srgbClr val="262626"/>
                </a:solidFill>
                <a:latin typeface="Segoe UI"/>
                <a:ea typeface="微软雅黑"/>
              </a:rPr>
              <a:t>· 判据（提议，按训练步数对齐）：</a:t>
            </a:r>
            <a:r>
              <a:rPr lang="zh-CN" altLang="en-US" sz="1250" b="0" noProof="1">
                <a:solidFill>
                  <a:srgbClr val="262626"/>
                </a:solidFill>
                <a:latin typeface="Segoe UI"/>
                <a:ea typeface="微软雅黑"/>
              </a:rPr>
              <a:t>训练到 step 15、且 day13 之前每天复读占比都 &lt; 25% → H-f 成立；step 12 及以前出现 ≥ 25% 的一天 → 不成立；其余不下结论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1574</Words>
  <Application>Microsoft Office PowerPoint</Application>
  <PresentationFormat>宽屏</PresentationFormat>
  <Paragraphs>53</Paragraphs>
  <Slides>6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2" baseType="lpstr">
      <vt:lpstr>PangMenZhengDao</vt:lpstr>
      <vt:lpstr>等线</vt:lpstr>
      <vt:lpstr>Arial</vt:lpstr>
      <vt:lpstr>Calibri</vt:lpstr>
      <vt:lpstr>Segoe UI</vt:lpstr>
      <vt:lpstr>Office Theme</vt:lpstr>
      <vt:lpstr>自进化调研及OpenClaw-RL 方法总览</vt:lpstr>
      <vt:lpstr>OpenClaw-RL 实现方法</vt:lpstr>
      <vt:lpstr>OpenClaw-RL复现实验结果</vt:lpstr>
      <vt:lpstr>方法泛化方案</vt:lpstr>
      <vt:lpstr>按天隔离实验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Shuo Shuo28 Wang</dc:creator>
  <cp:lastModifiedBy>#MAO ZEHUI#</cp:lastModifiedBy>
  <cp:revision>23</cp:revision>
  <dcterms:created xsi:type="dcterms:W3CDTF">2025-08-12T09:33:41Z</dcterms:created>
  <dcterms:modified xsi:type="dcterms:W3CDTF">2026-09-18T05:38:49Z</dcterms:modified>
</cp:coreProperties>
</file>
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66" r:id="rId2"/>
    <p:sldId id="359" r:id="rId3"/>
    <p:sldId id="360" r:id="rId4"/>
    <p:sldId id="361" r:id="rId5"/>
    <p:sldId id="368" r:id="rId6"/>
    <p:sldId id="369" r:id="rId7"/>
    <p:sldId id="370" r:id="rId8"/>
    <p:sldId id="362" r:id="rId9"/>
    <p:sldId id="371" r:id="rId10"/>
    <p:sldId id="363" r:id="rId11"/>
    <p:sldId id="299" r:id="rId12"/>
    <p:sldId id="3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66"/>
            <p14:sldId id="359"/>
            <p14:sldId id="360"/>
            <p14:sldId id="361"/>
            <p14:sldId id="368"/>
            <p14:sldId id="369"/>
            <p14:sldId id="370"/>
            <p14:sldId id="362"/>
            <p14:sldId id="371"/>
            <p14:sldId id="363"/>
            <p14:sldId id="299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0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ED87EB-65D7-4500-873C-410831173A8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9A498-A90A-45E1-A512-B0FECEDE43A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41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4" y="1437138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212" rtl="0" eaLnBrk="1" latinLnBrk="0" hangingPunct="1">
              <a:lnSpc>
                <a:spcPts val="7498"/>
              </a:lnSpc>
              <a:spcBef>
                <a:spcPct val="0"/>
              </a:spcBef>
              <a:buNone/>
              <a:defRPr lang="en-US" sz="5998" b="1" kern="1200" cap="none" spc="-15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章节标题布局</a:t>
            </a:r>
            <a:endParaRPr lang="en-US" dirty="0"/>
          </a:p>
        </p:txBody>
      </p:sp>
      <p:sp>
        <p:nvSpPr>
          <p:cNvPr id="77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3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21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8" b="0" kern="1200" cap="none" spc="0" baseline="0" dirty="0">
                <a:solidFill>
                  <a:schemeClr val="accent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6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3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白色版</a:t>
            </a:r>
            <a:endParaRPr lang="en-US" dirty="0"/>
          </a:p>
        </p:txBody>
      </p:sp>
      <p:sp>
        <p:nvSpPr>
          <p:cNvPr id="8" name="Footer Placeholder 1"/>
          <p:cNvSpPr txBox="1"/>
          <p:nvPr userDrawn="1"/>
        </p:nvSpPr>
        <p:spPr>
          <a:xfrm>
            <a:off x="484652" y="6291019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</a:t>
            </a:r>
            <a:r>
              <a:rPr lang="en-US" altLang="zh-CN" sz="900" dirty="0">
                <a:solidFill>
                  <a:schemeClr val="tx1"/>
                </a:solidFill>
              </a:rPr>
              <a:t>21</a:t>
            </a:r>
            <a:r>
              <a:rPr lang="en-US" sz="900" dirty="0">
                <a:solidFill>
                  <a:schemeClr val="tx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2258311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547" y="587720"/>
            <a:ext cx="8038370" cy="236255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6270" spc="237" noProof="1">
                <a:solidFill>
                  <a:prstClr val="black"/>
                </a:solidFill>
                <a:latin typeface="Microsoft YaHei"/>
                <a:ea typeface="Microsoft YaHei"/>
              </a:rPr>
              <a:t>2026暑期实习生项目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7737" b="1" spc="396" noProof="1">
                <a:solidFill>
                  <a:prstClr val="black"/>
                </a:solidFill>
                <a:latin typeface="Microsoft YaHei"/>
                <a:ea typeface="Microsoft YaHei"/>
              </a:rPr>
              <a:t>实习小结</a:t>
            </a:r>
            <a:endParaRPr lang="en-US" sz="7737" b="1" spc="396" dirty="0">
              <a:solidFill>
                <a:prstClr val="black"/>
              </a:solidFill>
              <a:latin typeface="Microsoft YaHei"/>
              <a:ea typeface="Microsoft YaHe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876" y="1561232"/>
            <a:ext cx="5143305" cy="3822932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10805179" y="5349742"/>
            <a:ext cx="2456695" cy="2573907"/>
          </a:xfrm>
          <a:custGeom>
            <a:avLst/>
            <a:gdLst/>
            <a:ahLst/>
            <a:cxnLst/>
            <a:rect l="l" t="t" r="r" b="b"/>
            <a:pathLst>
              <a:path w="2329918" h="2441080">
                <a:moveTo>
                  <a:pt x="1864" y="1220540"/>
                </a:moveTo>
                <a:cubicBezTo>
                  <a:pt x="0" y="803767"/>
                  <a:pt x="221276" y="417853"/>
                  <a:pt x="581905" y="208926"/>
                </a:cubicBezTo>
                <a:cubicBezTo>
                  <a:pt x="942533" y="0"/>
                  <a:pt x="1387385" y="0"/>
                  <a:pt x="1748013" y="208926"/>
                </a:cubicBezTo>
                <a:cubicBezTo>
                  <a:pt x="2108642" y="417853"/>
                  <a:pt x="2329918" y="803767"/>
                  <a:pt x="2328054" y="1220540"/>
                </a:cubicBezTo>
                <a:cubicBezTo>
                  <a:pt x="2329918" y="1637313"/>
                  <a:pt x="2108642" y="2023227"/>
                  <a:pt x="1748013" y="2232153"/>
                </a:cubicBezTo>
                <a:cubicBezTo>
                  <a:pt x="1387385" y="2441080"/>
                  <a:pt x="942533" y="2441080"/>
                  <a:pt x="581905" y="2232153"/>
                </a:cubicBezTo>
                <a:cubicBezTo>
                  <a:pt x="221276" y="2023227"/>
                  <a:pt x="0" y="1637313"/>
                  <a:pt x="1864" y="1220540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688557" y="3590627"/>
            <a:ext cx="3052154" cy="484381"/>
          </a:xfrm>
          <a:custGeom>
            <a:avLst/>
            <a:gdLst/>
            <a:ahLst/>
            <a:cxnLst/>
            <a:rect l="l" t="t" r="r" b="b"/>
            <a:pathLst>
              <a:path w="2894648" h="459384">
                <a:moveTo>
                  <a:pt x="0" y="49429"/>
                </a:moveTo>
                <a:cubicBezTo>
                  <a:pt x="0" y="22130"/>
                  <a:pt x="22129" y="0"/>
                  <a:pt x="49428" y="0"/>
                </a:cubicBezTo>
                <a:lnTo>
                  <a:pt x="2845219" y="0"/>
                </a:lnTo>
                <a:cubicBezTo>
                  <a:pt x="2872517" y="0"/>
                  <a:pt x="2894647" y="22130"/>
                  <a:pt x="2894647" y="49429"/>
                </a:cubicBezTo>
                <a:lnTo>
                  <a:pt x="2894647" y="409956"/>
                </a:lnTo>
                <a:cubicBezTo>
                  <a:pt x="2894647" y="423066"/>
                  <a:pt x="2889440" y="435638"/>
                  <a:pt x="2880170" y="444908"/>
                </a:cubicBezTo>
                <a:cubicBezTo>
                  <a:pt x="2870900" y="454177"/>
                  <a:pt x="2858328" y="459385"/>
                  <a:pt x="2845219" y="459385"/>
                </a:cubicBezTo>
                <a:lnTo>
                  <a:pt x="49428" y="459385"/>
                </a:lnTo>
                <a:cubicBezTo>
                  <a:pt x="36319" y="459385"/>
                  <a:pt x="23746" y="454177"/>
                  <a:pt x="14477" y="444908"/>
                </a:cubicBezTo>
                <a:cubicBezTo>
                  <a:pt x="5207" y="435638"/>
                  <a:pt x="0" y="423066"/>
                  <a:pt x="0" y="409956"/>
                </a:cubicBezTo>
                <a:lnTo>
                  <a:pt x="0" y="49429"/>
                </a:lnTo>
                <a:close/>
              </a:path>
            </a:pathLst>
          </a:custGeom>
          <a:solidFill>
            <a:srgbClr val="BAC5FF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2259" y="3689323"/>
            <a:ext cx="2471478" cy="56282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AI Lab - 毛泽辉</a:t>
            </a:r>
            <a:endParaRPr lang="en-US" sz="1588" b="1" spc="84" dirty="0">
              <a:solidFill>
                <a:srgbClr val="4E51FF"/>
              </a:solidFill>
              <a:latin typeface="Microsoft YaHei"/>
              <a:ea typeface="Microsoft YaHe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时间：8.25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0163370" y="6075040"/>
            <a:ext cx="252213" cy="264247"/>
          </a:xfrm>
          <a:custGeom>
            <a:avLst/>
            <a:gdLst/>
            <a:ahLst/>
            <a:cxnLst/>
            <a:rect l="l" t="t" r="r" b="b"/>
            <a:pathLst>
              <a:path w="239197" h="250610">
                <a:moveTo>
                  <a:pt x="191" y="125305"/>
                </a:moveTo>
                <a:cubicBezTo>
                  <a:pt x="0" y="82518"/>
                  <a:pt x="22717" y="42898"/>
                  <a:pt x="59740" y="21449"/>
                </a:cubicBezTo>
                <a:cubicBezTo>
                  <a:pt x="96763" y="0"/>
                  <a:pt x="142433" y="0"/>
                  <a:pt x="179457" y="21449"/>
                </a:cubicBezTo>
                <a:cubicBezTo>
                  <a:pt x="216480" y="42898"/>
                  <a:pt x="239197" y="82518"/>
                  <a:pt x="239006" y="125305"/>
                </a:cubicBezTo>
                <a:cubicBezTo>
                  <a:pt x="239197" y="168092"/>
                  <a:pt x="216480" y="207711"/>
                  <a:pt x="179457" y="229161"/>
                </a:cubicBezTo>
                <a:cubicBezTo>
                  <a:pt x="142433" y="250610"/>
                  <a:pt x="96763" y="250610"/>
                  <a:pt x="59740" y="229161"/>
                </a:cubicBezTo>
                <a:cubicBezTo>
                  <a:pt x="22717" y="207711"/>
                  <a:pt x="0" y="168092"/>
                  <a:pt x="191" y="125305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呈现大纲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自我介绍</a:t>
            </a:r>
            <a:endParaRPr lang="en-US" altLang="zh-CN" sz="3375" dirty="0">
              <a:latin typeface="Calibri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工作完成情况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实习体会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A2033-90E1-4D07-BDB7-083C694D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自我介绍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60D437-1D6F-4A0B-A08E-37BDD1B15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595657"/>
            <a:ext cx="11596721" cy="4773477"/>
          </a:xfrm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教育背景</a:t>
            </a:r>
            <a:endParaRPr lang="en-US" altLang="zh-CN" dirty="0">
              <a:latin typeface="Calibri" pitchFamily="34" charset="0"/>
            </a:endParaRPr>
          </a:p>
          <a:p>
            <a:pPr marL="2520000" lvl="1">
              <a:lnSpc>
                <a:spcPct val="30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本科：浙江大学 物理学系</a:t>
            </a:r>
          </a:p>
          <a:p>
            <a:pPr marL="2520000" lvl="1">
              <a:lnSpc>
                <a:spcPct val="30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硕士：南洋理工大学 应用人工智能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目前职位：通用人工智能研究　｜　导师：张亚红</a:t>
            </a:r>
            <a:endParaRPr lang="en-US" altLang="zh-CN" sz="2200" noProof="1">
              <a:latin typeface="Segoe UI"/>
              <a:ea typeface="微软雅黑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工作内容简介：Agent 自进化方向 —— 复现前沿论文，并探索将方法泛化到新的数据场景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个人爱好：球类运动、游戏、动漫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74E5A5-F6CF-47AF-9316-A48ADEC9A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图片 5" descr="穿黑色衣服的小孩&#10;&#10;AI 生成的内容可能不正确。">
            <a:extLst>
              <a:ext uri="{FF2B5EF4-FFF2-40B4-BE49-F238E27FC236}">
                <a16:creationId xmlns:a16="http://schemas.microsoft.com/office/drawing/2014/main" id="{396CF5DE-9979-17AA-A4AF-2E8225988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0" y="457200"/>
            <a:ext cx="1645920" cy="1645920"/>
          </a:xfrm>
          <a:prstGeom prst="rect">
            <a:avLst/>
          </a:prstGeom>
        </p:spPr>
      </p:pic>
      <p:pic>
        <p:nvPicPr>
          <p:cNvPr id="8" name="图片 7" descr="徽标&#10;&#10;AI 生成的内容可能不正确。">
            <a:extLst>
              <a:ext uri="{FF2B5EF4-FFF2-40B4-BE49-F238E27FC236}">
                <a16:creationId xmlns:a16="http://schemas.microsoft.com/office/drawing/2014/main" id="{D59473AF-FC5E-3CB6-CDE3-00E73FE29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01" y="2304798"/>
            <a:ext cx="1212289" cy="964496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DEA02CF3-0ED7-2BF7-E33C-C224E7D61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" y="3369786"/>
            <a:ext cx="2183311" cy="78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8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63695-6735-4CD9-BD4C-80E9698F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自进化调研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802A3-7BFB-4341-AA58-ACF0DC417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600200"/>
            <a:ext cx="5303520" cy="4572000"/>
          </a:xfrm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① 自进化的理解</a:t>
            </a:r>
            <a:r>
              <a:rPr lang="zh-CN" altLang="en-US" sz="1500" noProof="1">
                <a:latin typeface="Segoe UI"/>
                <a:ea typeface="微软雅黑"/>
              </a:rPr>
              <a:t>　（综述 [1]）</a:t>
            </a:r>
            <a:endParaRPr lang="en-US" altLang="zh-CN" dirty="0"/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“…agentic AI is no longer defined only by what a model can infer from static data, but by how a </a:t>
            </a:r>
            <a:r>
              <a:rPr lang="zh-CN" altLang="en-US" sz="1300" b="1" noProof="1">
                <a:latin typeface="Segoe UI"/>
                <a:ea typeface="微软雅黑"/>
              </a:rPr>
              <a:t>deployed system </a:t>
            </a:r>
            <a:r>
              <a:rPr lang="zh-CN" altLang="en-US" sz="1300" noProof="1">
                <a:latin typeface="Segoe UI"/>
                <a:ea typeface="微软雅黑"/>
              </a:rPr>
              <a:t>accumulates, organizes, and reuses experience from </a:t>
            </a:r>
            <a:r>
              <a:rPr lang="zh-CN" altLang="en-US" sz="1300" b="1" noProof="1">
                <a:latin typeface="Segoe UI"/>
                <a:ea typeface="微软雅黑"/>
              </a:rPr>
              <a:t>interaction</a:t>
            </a:r>
            <a:r>
              <a:rPr lang="zh-CN" altLang="en-US" sz="1300" noProof="1">
                <a:latin typeface="Segoe UI"/>
                <a:ea typeface="微软雅黑"/>
              </a:rPr>
              <a:t>.”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② 经验的五个更新层面</a:t>
            </a:r>
            <a:r>
              <a:rPr lang="zh-CN" altLang="en-US" sz="1500" noProof="1">
                <a:latin typeface="Segoe UI"/>
                <a:ea typeface="微软雅黑"/>
              </a:rPr>
              <a:t>　（同上）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reusable skill / persistent memory / verifiable environment feedback / </a:t>
            </a:r>
            <a:r>
              <a:rPr lang="zh-CN" altLang="en-US" sz="1300" b="1" noProof="1">
                <a:latin typeface="Segoe UI"/>
                <a:ea typeface="微软雅黑"/>
              </a:rPr>
              <a:t>trainable model behavior</a:t>
            </a:r>
            <a:r>
              <a:rPr lang="zh-CN" altLang="en-US" sz="1300" noProof="1">
                <a:latin typeface="Segoe UI"/>
                <a:ea typeface="微软雅黑"/>
              </a:rPr>
              <a:t> / meta-level control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③ 本次实验的主要难点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不在 RL 算法本身，而在“经验 → 更新”这条链路：信号怎么提取、怎么区分环境故障与模型失败、训练怎么在真实运行时里跑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④ 本次工作的定位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b="1" noProof="1">
                <a:latin typeface="Segoe UI"/>
                <a:ea typeface="微软雅黑"/>
              </a:rPr>
              <a:t>OpenClaw-RL</a:t>
            </a:r>
            <a:r>
              <a:rPr lang="zh-CN" altLang="en-US" sz="1300" noProof="1">
                <a:latin typeface="Segoe UI"/>
                <a:ea typeface="微软雅黑"/>
              </a:rPr>
              <a:t> ＝ </a:t>
            </a:r>
            <a:r>
              <a:rPr lang="zh-CN" altLang="en-US" sz="1300" b="1" noProof="1">
                <a:latin typeface="Segoe UI"/>
                <a:ea typeface="微软雅黑"/>
              </a:rPr>
              <a:t>模型权重</a:t>
            </a:r>
            <a:r>
              <a:rPr lang="zh-CN" altLang="en-US" sz="1300" noProof="1">
                <a:latin typeface="Segoe UI"/>
                <a:ea typeface="微软雅黑"/>
              </a:rPr>
              <a:t>这一层，训练直接跑在真实对话流中 —— 对话本身就是训练信号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1BF21-69A6-41E3-BFEA-C098016B9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632" y="63276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950" noProof="1">
                <a:latin typeface="Segoe UI"/>
                <a:ea typeface="微软雅黑"/>
              </a:rPr>
              <a:t>[1] Self-Improving Agents in the Era of Experience: A Survey of Self- to Meta-Evolution (2026)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31720"/>
            <a:ext cx="5897880" cy="333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2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89657"/>
            <a:ext cx="6858000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OpenClaw-RL 实现方法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687711"/>
            <a:ext cx="6858000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① 三个角色，一套真实环境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Simulator（Qwen3-32B）按人设扮演 Student / TA / Teacher，在 OpenClaw 里与 Policy（Qwen3-4B）对话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② 两种训练顺序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b="1" noProof="1">
                <a:latin typeface="Segoe UI"/>
                <a:ea typeface="微软雅黑"/>
              </a:rPr>
              <a:t>Separate</a:t>
            </a:r>
            <a:r>
              <a:rPr lang="zh-CN" altLang="en-US" sz="1400" noProof="1">
                <a:latin typeface="Segoe UI"/>
                <a:ea typeface="微软雅黑"/>
              </a:rPr>
              <a:t>（本次已完成）：三角色各训一个模型，须依次进行　｜　</a:t>
            </a:r>
            <a:r>
              <a:rPr lang="zh-CN" altLang="en-US" sz="1400" b="1" noProof="1">
                <a:latin typeface="Segoe UI"/>
                <a:ea typeface="微软雅黑"/>
              </a:rPr>
              <a:t>Joint</a:t>
            </a:r>
            <a:r>
              <a:rPr lang="zh-CN" altLang="en-US" sz="1400" noProof="1">
                <a:latin typeface="Segoe UI"/>
                <a:ea typeface="微软雅黑"/>
              </a:rPr>
              <a:t>：三角色共享一个模型，同时训练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③ 一次回复，两条去向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对话循环：回复照常送回用户　｜　训练循环：同一次回复交给判官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④ 两类信号，同一个判官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Eval 判官答“好不好”→ GRPO；Hint 判官答“该怎么改”→ OPD。同一份 PRM 权重，只是提示词不同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⑤ 一次反传，权重回流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两个损失加权合并后一次更新，新权重同步回线上 Policy</a:t>
            </a:r>
          </a:p>
          <a:p>
            <a:pPr marL="0" indent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zh-CN" altLang="en-US" sz="1600" noProof="1">
                <a:latin typeface="Segoe UI"/>
                <a:ea typeface="微软雅黑"/>
              </a:rPr>
              <a:t>训练与对话</a:t>
            </a:r>
            <a:r>
              <a:rPr lang="zh-CN" altLang="en-US" sz="1600" b="1" noProof="1">
                <a:latin typeface="Segoe UI"/>
                <a:ea typeface="微软雅黑"/>
              </a:rPr>
              <a:t>异步并行</a:t>
            </a:r>
            <a:r>
              <a:rPr lang="zh-CN" altLang="en-US" sz="1600" noProof="1">
                <a:latin typeface="Segoe UI"/>
                <a:ea typeface="微软雅黑"/>
              </a:rPr>
              <a:t>：回应照常送出，权重在线更新，全程不停机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B2743E83-F1A3-D176-F18E-8F9D99B55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265" y="320040"/>
            <a:ext cx="4400374" cy="6217920"/>
          </a:xfrm>
          <a:prstGeom prst="rect">
            <a:avLst/>
          </a:prstGeom>
        </p:spPr>
      </p:pic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5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复现实验结果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" y="1481328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300" b="1" noProof="1">
                <a:latin typeface="Segoe UI"/>
                <a:ea typeface="微软雅黑"/>
              </a:rPr>
              <a:t>论文 Table 3 · 达到收敛所需的 session 数（越小越好）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65376"/>
            <a:ext cx="5074920" cy="14580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632" y="345643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100" b="0" noProof="1">
                <a:latin typeface="Segoe UI"/>
                <a:ea typeface="微软雅黑"/>
              </a:rPr>
              <a:t>高亮格 19.2 = 本次复现对应的 Separate / Student / Hybrid 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931920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本次复现结果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论文    </a:t>
            </a:r>
            <a:r>
              <a:rPr lang="en-US" altLang="zh-CN" sz="1200" noProof="1">
                <a:latin typeface="Segoe UI"/>
                <a:ea typeface="微软雅黑"/>
              </a:rPr>
              <a:t>————</a:t>
            </a:r>
            <a:r>
              <a:rPr lang="zh-CN" altLang="en-US" sz="1200" noProof="1">
                <a:latin typeface="Segoe UI"/>
                <a:ea typeface="微软雅黑"/>
              </a:rPr>
              <a:t>　</a:t>
            </a:r>
            <a:r>
              <a:rPr lang="zh-CN" altLang="en-US" sz="2400" b="1" noProof="1">
                <a:latin typeface="Segoe UI"/>
                <a:ea typeface="微软雅黑"/>
              </a:rPr>
              <a:t>19.2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本次复现    </a:t>
            </a:r>
            <a:r>
              <a:rPr lang="en-US" altLang="zh-CN" sz="1200" noProof="1">
                <a:latin typeface="Segoe UI"/>
                <a:ea typeface="微软雅黑"/>
              </a:rPr>
              <a:t>——</a:t>
            </a:r>
            <a:r>
              <a:rPr lang="zh-CN" altLang="en-US" sz="1200" noProof="1">
                <a:latin typeface="Segoe UI"/>
                <a:ea typeface="微软雅黑"/>
              </a:rPr>
              <a:t>　</a:t>
            </a:r>
            <a:r>
              <a:rPr lang="zh-CN" altLang="en-US" sz="2400" b="1" noProof="1">
                <a:latin typeface="Segoe UI"/>
                <a:ea typeface="微软雅黑"/>
              </a:rPr>
              <a:t>20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配置：Policy / PRM = Qwen3-4B-Thinking-2507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　　　Simulator = DeepSeek-V4-Flash　｜　GSM8K　｜　Separate-Student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判定：rule-based，连续 3 个 session 的 Turn 1 回复均满足偏好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第 18 个 session 起共 15 次有效回复，14 次 Turn 1 直接达标，仅 1 次退化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63040"/>
            <a:ext cx="65144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1" y="112836"/>
            <a:ext cx="4964523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方法泛化方案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1" y="4534407"/>
            <a:ext cx="5246027" cy="2159000"/>
          </a:xfrm>
        </p:spPr>
        <p:txBody>
          <a:bodyPr wrap="square">
            <a:norm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① 任务背景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方法已在 Personal Agent 场景复现校准，换到 </a:t>
            </a:r>
            <a:r>
              <a:rPr lang="zh-CN" altLang="en-US" sz="1150" b="1" noProof="1">
                <a:latin typeface="Segoe UI"/>
                <a:ea typeface="微软雅黑"/>
              </a:rPr>
              <a:t>MetaClaw-Bench</a:t>
            </a:r>
            <a:r>
              <a:rPr lang="zh-CN" altLang="en-US" sz="1150" noProof="1">
                <a:latin typeface="Segoe UI"/>
                <a:ea typeface="微软雅黑"/>
              </a:rPr>
              <a:t>（另一篇论文的评测基准，30 天连续任务流）验证普适性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② 未来提升方向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目标：训练能稳定、有效地跑满完整 30 天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已定位并修复影响训练后期效率的根因，下一步在真实训练中验证效果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7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metaclaw_mig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028" y="176565"/>
            <a:ext cx="6015547" cy="65168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40" y="1024057"/>
            <a:ext cx="4370903" cy="28934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440" y="3917472"/>
            <a:ext cx="4370903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zh-CN" altLang="en-US" sz="1000" noProof="1">
                <a:latin typeface="Segoe UI"/>
                <a:ea typeface="微软雅黑"/>
              </a:rPr>
              <a:t>本次仅迁移 RL 训练方法，不含 MetaClaw 技能库；模型与评测环境均不同，与论文各行为数量级参照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49569-EFCA-48F1-B283-8821975D3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12" y="246698"/>
            <a:ext cx="868177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endParaRPr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2840D4-3208-44BE-9122-D0BFBA98A8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8681" y="1534288"/>
            <a:ext cx="8898569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endParaRPr lang="en-US" altLang="zh-CN" dirty="0">
              <a:latin typeface="Calibri" pitchFamily="34" charset="0"/>
            </a:endParaRPr>
          </a:p>
        </p:txBody>
      </p:sp>
      <p:pic>
        <p:nvPicPr>
          <p:cNvPr id="5" name="Picture 4" descr="slide8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79EC64-817B-4883-9470-CDFA4EB1A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8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734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65109"/>
            <a:ext cx="867765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印象最深的一件事 ｜ 联想暑期活动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481328"/>
            <a:ext cx="11219688" cy="2103120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作为 </a:t>
            </a:r>
            <a:r>
              <a:rPr lang="zh-CN" altLang="en-US" sz="2400" b="1" noProof="1">
                <a:latin typeface="Segoe UI"/>
                <a:ea typeface="微软雅黑"/>
              </a:rPr>
              <a:t>AI 发起者小组组长</a:t>
            </a:r>
            <a:r>
              <a:rPr lang="zh-CN" altLang="en-US" sz="2400" noProof="1">
                <a:latin typeface="Segoe UI"/>
                <a:ea typeface="微软雅黑"/>
              </a:rPr>
              <a:t>，与其他部门的实习生组队协作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五周时间，从 0 到 1 完成了「掉了么」这个可视化产品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也看到了其他小组的成果 —— 是一次难得的横向视野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9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图片 5" descr="一群人站在桌子边&#10;&#10;AI 生成的内容可能不正确。">
            <a:extLst>
              <a:ext uri="{FF2B5EF4-FFF2-40B4-BE49-F238E27FC236}">
                <a16:creationId xmlns:a16="http://schemas.microsoft.com/office/drawing/2014/main" id="{FFED5FE0-AAF3-8EFC-3F4A-3EC21C9C8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531" y="3749039"/>
            <a:ext cx="3502152" cy="2626614"/>
          </a:xfrm>
          <a:prstGeom prst="rect">
            <a:avLst/>
          </a:prstGeom>
        </p:spPr>
      </p:pic>
      <p:pic>
        <p:nvPicPr>
          <p:cNvPr id="8" name="图片 7" descr="会议室里的人们&#10;&#10;AI 生成的内容可能不正确。">
            <a:extLst>
              <a:ext uri="{FF2B5EF4-FFF2-40B4-BE49-F238E27FC236}">
                <a16:creationId xmlns:a16="http://schemas.microsoft.com/office/drawing/2014/main" id="{07710BDF-EC87-CA77-57FF-C58D18277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11" y="3749039"/>
            <a:ext cx="3502152" cy="2626614"/>
          </a:xfrm>
          <a:prstGeom prst="rect">
            <a:avLst/>
          </a:prstGeom>
        </p:spPr>
      </p:pic>
      <p:pic>
        <p:nvPicPr>
          <p:cNvPr id="10" name="图片 9" descr="会议室里的人们&#10;&#10;AI 生成的内容可能不正确。">
            <a:extLst>
              <a:ext uri="{FF2B5EF4-FFF2-40B4-BE49-F238E27FC236}">
                <a16:creationId xmlns:a16="http://schemas.microsoft.com/office/drawing/2014/main" id="{D574F725-B7FD-14B6-E230-4BBE6C5C8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771" y="3749039"/>
            <a:ext cx="3502152" cy="26266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E27CA-D9EB-499A-B32D-15D44741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733" y="289864"/>
            <a:ext cx="8682228" cy="120517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24ABD6-1ED0-4A44-B840-9239599BF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10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career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53312"/>
            <a:ext cx="11155680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06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3230" y="1473126"/>
            <a:ext cx="9957805" cy="3026129"/>
          </a:xfrm>
        </p:spPr>
        <p:txBody>
          <a:bodyPr>
            <a:normAutofit/>
          </a:bodyPr>
          <a:lstStyle/>
          <a:p>
            <a:r>
              <a:rPr lang="zh-CN" altLang="en-US" sz="13797" noProof="1">
                <a:solidFill>
                  <a:schemeClr val="accent2"/>
                </a:solidFill>
              </a:rPr>
              <a:t>Q</a:t>
            </a:r>
            <a:r>
              <a:rPr lang="zh-CN" altLang="en-US" sz="13797" noProof="1">
                <a:solidFill>
                  <a:schemeClr val="accent3"/>
                </a:solidFill>
              </a:rPr>
              <a:t>&amp;</a:t>
            </a:r>
            <a:r>
              <a:rPr lang="zh-CN" altLang="en-US" sz="13797" noProof="1">
                <a:solidFill>
                  <a:schemeClr val="accent4"/>
                </a:solidFill>
              </a:rPr>
              <a:t>A</a:t>
            </a:r>
            <a:endParaRPr lang="en-US" sz="13797" dirty="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11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4CF6A62-F30D-BE3B-8824-163E6F4DB6E5}"/>
              </a:ext>
            </a:extLst>
          </p:cNvPr>
          <p:cNvGrpSpPr/>
          <p:nvPr/>
        </p:nvGrpSpPr>
        <p:grpSpPr>
          <a:xfrm>
            <a:off x="3163489" y="2363511"/>
            <a:ext cx="5865022" cy="2130977"/>
            <a:chOff x="3122505" y="1346200"/>
            <a:chExt cx="5560910" cy="2020482"/>
          </a:xfrm>
        </p:grpSpPr>
        <p:sp>
          <p:nvSpPr>
            <p:cNvPr id="2" name="TextBox 1"/>
            <p:cNvSpPr txBox="1"/>
            <p:nvPr/>
          </p:nvSpPr>
          <p:spPr>
            <a:xfrm>
              <a:off x="3122505" y="1346200"/>
              <a:ext cx="5560910" cy="14660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10969" i="1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THANKS</a:t>
              </a:r>
            </a:p>
          </p:txBody>
        </p:sp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2B692CD4-E07B-3BDB-B3CF-D41A31F90541}"/>
                </a:ext>
              </a:extLst>
            </p:cNvPr>
            <p:cNvSpPr txBox="1"/>
            <p:nvPr/>
          </p:nvSpPr>
          <p:spPr>
            <a:xfrm>
              <a:off x="3234172" y="2593189"/>
              <a:ext cx="5337576" cy="7734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5695" i="1" spc="-158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FOR WATCHING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13568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755</Words>
  <Application>Microsoft Office PowerPoint</Application>
  <PresentationFormat>宽屏</PresentationFormat>
  <Paragraphs>75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PangMenZhengDao</vt:lpstr>
      <vt:lpstr>等线</vt:lpstr>
      <vt:lpstr>Microsoft YaHei</vt:lpstr>
      <vt:lpstr>Microsoft YaHei</vt:lpstr>
      <vt:lpstr>Arial</vt:lpstr>
      <vt:lpstr>Calibri</vt:lpstr>
      <vt:lpstr>Segoe UI</vt:lpstr>
      <vt:lpstr>Office Theme</vt:lpstr>
      <vt:lpstr>PowerPoint 演示文稿</vt:lpstr>
      <vt:lpstr>呈现大纲</vt:lpstr>
      <vt:lpstr>自我介绍</vt:lpstr>
      <vt:lpstr>工作完成情况 ｜ 自进化调研</vt:lpstr>
      <vt:lpstr>工作完成情况 ｜ OpenClaw-RL 实现方法</vt:lpstr>
      <vt:lpstr>工作完成情况 ｜ 复现实验结果</vt:lpstr>
      <vt:lpstr>工作完成情况 ｜ 方法泛化方案</vt:lpstr>
      <vt:lpstr>PowerPoint 演示文稿</vt:lpstr>
      <vt:lpstr>印象最深的一件事 ｜ 联想暑期活动</vt:lpstr>
      <vt:lpstr>职业规划</vt:lpstr>
      <vt:lpstr>Q&amp;A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20</cp:revision>
  <dcterms:created xsi:type="dcterms:W3CDTF">2025-08-12T09:33:41Z</dcterms:created>
  <dcterms:modified xsi:type="dcterms:W3CDTF">2026-08-24T09:22:57Z</dcterms:modified>
</cp:coreProperties>
</file>
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366" r:id="rId2"/>
    <p:sldId id="359" r:id="rId3"/>
    <p:sldId id="360" r:id="rId4"/>
    <p:sldId id="361" r:id="rId5"/>
    <p:sldId id="368" r:id="rId6"/>
    <p:sldId id="369" r:id="rId7"/>
    <p:sldId id="370" r:id="rId8"/>
    <p:sldId id="362" r:id="rId9"/>
    <p:sldId id="371" r:id="rId10"/>
    <p:sldId id="363" r:id="rId11"/>
    <p:sldId id="299" r:id="rId12"/>
    <p:sldId id="3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答辩说明" id="{57799230-5E46-41DE-81C9-8AA7DCE4A6B5}">
          <p14:sldIdLst>
            <p14:sldId id="366"/>
            <p14:sldId id="359"/>
            <p14:sldId id="360"/>
            <p14:sldId id="361"/>
            <p14:sldId id="368"/>
            <p14:sldId id="369"/>
            <p14:sldId id="370"/>
            <p14:sldId id="362"/>
            <p14:sldId id="371"/>
            <p14:sldId id="363"/>
            <p14:sldId id="299"/>
            <p14:sldId id="3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69CE05-948F-4B2D-B995-35989BAA5BB1}" v="11" dt="2026-08-06T07:48:01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0" y="-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o Shuo28 Wang" userId="a7996a14-832d-49d1-89cf-13bafcdd9b6e" providerId="ADAL" clId="{E3FCCCF9-0FE8-4A43-91DF-74AAC5AFFE2B}"/>
    <pc:docChg chg="undo custSel modSld">
      <pc:chgData name="Shuo Shuo28 Wang" userId="a7996a14-832d-49d1-89cf-13bafcdd9b6e" providerId="ADAL" clId="{E3FCCCF9-0FE8-4A43-91DF-74AAC5AFFE2B}" dt="2026-08-06T07:48:01.080" v="15" actId="20577"/>
      <pc:docMkLst>
        <pc:docMk/>
      </pc:docMkLst>
      <pc:sldChg chg="modSp">
        <pc:chgData name="Shuo Shuo28 Wang" userId="a7996a14-832d-49d1-89cf-13bafcdd9b6e" providerId="ADAL" clId="{E3FCCCF9-0FE8-4A43-91DF-74AAC5AFFE2B}" dt="2026-08-06T07:48:01.080" v="15" actId="20577"/>
        <pc:sldMkLst>
          <pc:docMk/>
          <pc:sldMk cId="0" sldId="366"/>
        </pc:sldMkLst>
        <pc:spChg chg="mod">
          <ac:chgData name="Shuo Shuo28 Wang" userId="a7996a14-832d-49d1-89cf-13bafcdd9b6e" providerId="ADAL" clId="{E3FCCCF9-0FE8-4A43-91DF-74AAC5AFFE2B}" dt="2026-08-06T04:42:48.102" v="1" actId="20577"/>
          <ac:spMkLst>
            <pc:docMk/>
            <pc:sldMk cId="0" sldId="366"/>
            <ac:spMk id="2" creationId="{00000000-0000-0000-0000-000000000000}"/>
          </ac:spMkLst>
        </pc:spChg>
        <pc:spChg chg="mod">
          <ac:chgData name="Shuo Shuo28 Wang" userId="a7996a14-832d-49d1-89cf-13bafcdd9b6e" providerId="ADAL" clId="{E3FCCCF9-0FE8-4A43-91DF-74AAC5AFFE2B}" dt="2026-08-06T07:48:01.080" v="15" actId="20577"/>
          <ac:spMkLst>
            <pc:docMk/>
            <pc:sldMk cId="0" sldId="366"/>
            <ac:spMk id="7" creationId="{00000000-0000-0000-0000-000000000000}"/>
          </ac:spMkLst>
        </pc:spChg>
      </pc:sldChg>
      <pc:sldChg chg="modSp mod">
        <pc:chgData name="Shuo Shuo28 Wang" userId="a7996a14-832d-49d1-89cf-13bafcdd9b6e" providerId="ADAL" clId="{E3FCCCF9-0FE8-4A43-91DF-74AAC5AFFE2B}" dt="2026-08-06T04:43:17.316" v="9" actId="20577"/>
        <pc:sldMkLst>
          <pc:docMk/>
          <pc:sldMk cId="1423135686" sldId="367"/>
        </pc:sldMkLst>
        <pc:spChg chg="mod">
          <ac:chgData name="Shuo Shuo28 Wang" userId="a7996a14-832d-49d1-89cf-13bafcdd9b6e" providerId="ADAL" clId="{E3FCCCF9-0FE8-4A43-91DF-74AAC5AFFE2B}" dt="2026-08-06T04:43:17.316" v="9" actId="20577"/>
          <ac:spMkLst>
            <pc:docMk/>
            <pc:sldMk cId="1423135686" sldId="367"/>
            <ac:spMk id="10" creationId="{2B692CD4-E07B-3BDB-B3CF-D41A31F90541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79718-1DF5-435A-9AC8-EC7555CF7E10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8013B-69F9-44AC-9847-779F3A74C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520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ED87EB-65D7-4500-873C-410831173A82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1218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29A498-A90A-45E1-A512-B0FECEDE43A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74156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481" y="2246933"/>
            <a:ext cx="8199455" cy="1550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6963" y="4098727"/>
            <a:ext cx="6752492" cy="184844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2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4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6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8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11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93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75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57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0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02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1" y="4647903"/>
            <a:ext cx="8199455" cy="1436563"/>
          </a:xfrm>
        </p:spPr>
        <p:txBody>
          <a:bodyPr anchor="t"/>
          <a:lstStyle>
            <a:lvl1pPr algn="l">
              <a:defRPr sz="421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3065675"/>
            <a:ext cx="8199455" cy="1582228"/>
          </a:xfrm>
        </p:spPr>
        <p:txBody>
          <a:bodyPr anchor="b"/>
          <a:lstStyle>
            <a:lvl1pPr marL="0" indent="0">
              <a:buNone/>
              <a:defRPr sz="2109">
                <a:solidFill>
                  <a:schemeClr val="tx1">
                    <a:tint val="75000"/>
                  </a:schemeClr>
                </a:solidFill>
              </a:defRPr>
            </a:lvl1pPr>
            <a:lvl2pPr marL="482209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2pPr>
            <a:lvl3pPr marL="964418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3pPr>
            <a:lvl4pPr marL="1446627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4pPr>
            <a:lvl5pPr marL="1928835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5pPr>
            <a:lvl6pPr marL="2411044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6pPr>
            <a:lvl7pPr marL="2893253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7pPr>
            <a:lvl8pPr marL="3375462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8pPr>
            <a:lvl9pPr marL="385767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01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321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03596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3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19064"/>
            <a:ext cx="4262176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321" y="2293814"/>
            <a:ext cx="4262176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00246" y="1619064"/>
            <a:ext cx="4263851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00246" y="2293814"/>
            <a:ext cx="4263851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82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08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7982"/>
            <a:ext cx="3173605" cy="1225600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1482" y="287983"/>
            <a:ext cx="5392615" cy="6173205"/>
          </a:xfrm>
        </p:spPr>
        <p:txBody>
          <a:bodyPr/>
          <a:lstStyle>
            <a:lvl1pPr>
              <a:defRPr sz="3375"/>
            </a:lvl1pPr>
            <a:lvl2pPr>
              <a:defRPr sz="2953"/>
            </a:lvl2pPr>
            <a:lvl3pPr>
              <a:defRPr sz="2531"/>
            </a:lvl3pPr>
            <a:lvl4pPr>
              <a:defRPr sz="2109"/>
            </a:lvl4pPr>
            <a:lvl5pPr>
              <a:defRPr sz="2109"/>
            </a:lvl5pPr>
            <a:lvl6pPr>
              <a:defRPr sz="2109"/>
            </a:lvl6pPr>
            <a:lvl7pPr>
              <a:defRPr sz="2109"/>
            </a:lvl7pPr>
            <a:lvl8pPr>
              <a:defRPr sz="2109"/>
            </a:lvl8pPr>
            <a:lvl9pPr>
              <a:defRPr sz="21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321" y="1513582"/>
            <a:ext cx="3173605" cy="4947606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75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0765" y="5063133"/>
            <a:ext cx="5787851" cy="597731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90765" y="646286"/>
            <a:ext cx="5787851" cy="4339828"/>
          </a:xfrm>
        </p:spPr>
        <p:txBody>
          <a:bodyPr/>
          <a:lstStyle>
            <a:lvl1pPr marL="0" indent="0">
              <a:buNone/>
              <a:defRPr sz="3375"/>
            </a:lvl1pPr>
            <a:lvl2pPr marL="482209" indent="0">
              <a:buNone/>
              <a:defRPr sz="2953"/>
            </a:lvl2pPr>
            <a:lvl3pPr marL="964418" indent="0">
              <a:buNone/>
              <a:defRPr sz="2531"/>
            </a:lvl3pPr>
            <a:lvl4pPr marL="1446627" indent="0">
              <a:buNone/>
              <a:defRPr sz="2109"/>
            </a:lvl4pPr>
            <a:lvl5pPr marL="1928835" indent="0">
              <a:buNone/>
              <a:defRPr sz="2109"/>
            </a:lvl5pPr>
            <a:lvl6pPr marL="2411044" indent="0">
              <a:buNone/>
              <a:defRPr sz="2109"/>
            </a:lvl6pPr>
            <a:lvl7pPr marL="2893253" indent="0">
              <a:buNone/>
              <a:defRPr sz="2109"/>
            </a:lvl7pPr>
            <a:lvl8pPr marL="3375462" indent="0">
              <a:buNone/>
              <a:defRPr sz="2109"/>
            </a:lvl8pPr>
            <a:lvl9pPr marL="3857671" indent="0">
              <a:buNone/>
              <a:defRPr sz="210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90765" y="5660864"/>
            <a:ext cx="5787851" cy="848878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84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93653" y="289658"/>
            <a:ext cx="2170444" cy="61715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2321" y="289658"/>
            <a:ext cx="6350558" cy="61715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28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4" y="1437138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212" rtl="0" eaLnBrk="1" latinLnBrk="0" hangingPunct="1">
              <a:lnSpc>
                <a:spcPts val="7498"/>
              </a:lnSpc>
              <a:spcBef>
                <a:spcPct val="0"/>
              </a:spcBef>
              <a:buNone/>
              <a:defRPr lang="en-US" sz="5998" b="1" kern="1200" cap="none" spc="-150" baseline="0" dirty="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章节标题布局</a:t>
            </a:r>
            <a:endParaRPr lang="en-US" dirty="0"/>
          </a:p>
        </p:txBody>
      </p:sp>
      <p:sp>
        <p:nvSpPr>
          <p:cNvPr id="77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4584183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21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398" b="0" kern="1200" cap="none" spc="0" baseline="0" dirty="0">
                <a:solidFill>
                  <a:schemeClr val="accent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6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4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3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白色版</a:t>
            </a:r>
            <a:endParaRPr lang="en-US" dirty="0"/>
          </a:p>
        </p:txBody>
      </p:sp>
      <p:sp>
        <p:nvSpPr>
          <p:cNvPr id="8" name="Footer Placeholder 1"/>
          <p:cNvSpPr txBox="1"/>
          <p:nvPr userDrawn="1"/>
        </p:nvSpPr>
        <p:spPr>
          <a:xfrm>
            <a:off x="484652" y="6291019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tx1"/>
                </a:solidFill>
              </a:rPr>
              <a:t>20</a:t>
            </a:r>
            <a:r>
              <a:rPr lang="en-US" altLang="zh-CN" sz="900" dirty="0">
                <a:solidFill>
                  <a:schemeClr val="tx1"/>
                </a:solidFill>
              </a:rPr>
              <a:t>21</a:t>
            </a:r>
            <a:r>
              <a:rPr lang="en-US" sz="900" dirty="0">
                <a:solidFill>
                  <a:schemeClr val="tx1"/>
                </a:solidFill>
              </a:rPr>
              <a:t>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2258311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3" y="2284254"/>
            <a:ext cx="10670779" cy="228950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793" b="1">
                <a:solidFill>
                  <a:schemeClr val="bg1"/>
                </a:solidFill>
              </a:defRPr>
            </a:lvl1pPr>
            <a:lvl2pPr marL="609007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</p:grpSp>
    </p:spTree>
    <p:extLst>
      <p:ext uri="{BB962C8B-B14F-4D97-AF65-F5344CB8AC3E}">
        <p14:creationId xmlns:p14="http://schemas.microsoft.com/office/powerpoint/2010/main" val="485655762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87711"/>
            <a:ext cx="8681776" cy="477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2321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5859" y="6703963"/>
            <a:ext cx="3054699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13266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E6F169F-4747-3D14-9542-4F34E8B206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18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</p:sldLayoutIdLst>
  <p:txStyles>
    <p:titleStyle>
      <a:lvl1pPr algn="ctr" defTabSz="964418" rtl="0" eaLnBrk="1" latinLnBrk="0" hangingPunct="1">
        <a:spcBef>
          <a:spcPct val="0"/>
        </a:spcBef>
        <a:buNone/>
        <a:defRPr sz="46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1657" indent="-361657" algn="l" defTabSz="964418" rtl="0" eaLnBrk="1" latinLnBrk="0" hangingPunct="1">
        <a:spcBef>
          <a:spcPct val="20000"/>
        </a:spcBef>
        <a:buFont typeface="Arial" pitchFamily="34" charset="0"/>
        <a:buChar char="•"/>
        <a:defRPr sz="3375" kern="1200">
          <a:solidFill>
            <a:schemeClr val="tx1"/>
          </a:solidFill>
          <a:latin typeface="+mn-lt"/>
          <a:ea typeface="+mn-ea"/>
          <a:cs typeface="+mn-cs"/>
        </a:defRPr>
      </a:lvl1pPr>
      <a:lvl2pPr marL="783589" indent="-301381" algn="l" defTabSz="964418" rtl="0" eaLnBrk="1" latinLnBrk="0" hangingPunct="1">
        <a:spcBef>
          <a:spcPct val="20000"/>
        </a:spcBef>
        <a:buFont typeface="Arial" pitchFamily="34" charset="0"/>
        <a:buChar char="–"/>
        <a:defRPr sz="2953" kern="1200">
          <a:solidFill>
            <a:schemeClr val="tx1"/>
          </a:solidFill>
          <a:latin typeface="+mn-lt"/>
          <a:ea typeface="+mn-ea"/>
          <a:cs typeface="+mn-cs"/>
        </a:defRPr>
      </a:lvl2pPr>
      <a:lvl3pPr marL="1205522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531" kern="1200">
          <a:solidFill>
            <a:schemeClr val="tx1"/>
          </a:solidFill>
          <a:latin typeface="+mn-lt"/>
          <a:ea typeface="+mn-ea"/>
          <a:cs typeface="+mn-cs"/>
        </a:defRPr>
      </a:lvl3pPr>
      <a:lvl4pPr marL="1687731" indent="-241104" algn="l" defTabSz="964418" rtl="0" eaLnBrk="1" latinLnBrk="0" hangingPunct="1">
        <a:spcBef>
          <a:spcPct val="20000"/>
        </a:spcBef>
        <a:buFont typeface="Arial" pitchFamily="34" charset="0"/>
        <a:buChar char="–"/>
        <a:defRPr sz="2109" kern="1200">
          <a:solidFill>
            <a:schemeClr val="tx1"/>
          </a:solidFill>
          <a:latin typeface="+mn-lt"/>
          <a:ea typeface="+mn-ea"/>
          <a:cs typeface="+mn-cs"/>
        </a:defRPr>
      </a:lvl4pPr>
      <a:lvl5pPr marL="2169940" indent="-241104" algn="l" defTabSz="964418" rtl="0" eaLnBrk="1" latinLnBrk="0" hangingPunct="1">
        <a:spcBef>
          <a:spcPct val="20000"/>
        </a:spcBef>
        <a:buFont typeface="Arial" pitchFamily="34" charset="0"/>
        <a:buChar char="»"/>
        <a:defRPr sz="2109" kern="1200">
          <a:solidFill>
            <a:schemeClr val="tx1"/>
          </a:solidFill>
          <a:latin typeface="+mn-lt"/>
          <a:ea typeface="+mn-ea"/>
          <a:cs typeface="+mn-cs"/>
        </a:defRPr>
      </a:lvl5pPr>
      <a:lvl6pPr marL="2652149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6pPr>
      <a:lvl7pPr marL="3134357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7pPr>
      <a:lvl8pPr marL="3616566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8pPr>
      <a:lvl9pPr marL="4098775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1pPr>
      <a:lvl2pPr marL="482209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2pPr>
      <a:lvl3pPr marL="964418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3pPr>
      <a:lvl4pPr marL="1446627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4pPr>
      <a:lvl5pPr marL="1928835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5pPr>
      <a:lvl6pPr marL="2411044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6pPr>
      <a:lvl7pPr marL="2893253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7pPr>
      <a:lvl8pPr marL="3375462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8pPr>
      <a:lvl9pPr marL="3857671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4547" y="587720"/>
            <a:ext cx="8038370" cy="236255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 lIns="33478" tIns="13389" rIns="33478" bIns="13389" rtlCol="0" anchor="t">
            <a:spAutoFit/>
          </a:bodyPr>
          <a:lstStyle/>
          <a:p>
            <a:pPr defTabSz="964140" latinLnBrk="1">
              <a:lnSpc>
                <a:spcPct val="113400"/>
              </a:lnSpc>
            </a:pPr>
            <a:r>
              <a:rPr lang="zh-CN" altLang="en-US" sz="6270" spc="237" noProof="1">
                <a:solidFill>
                  <a:prstClr val="black"/>
                </a:solidFill>
                <a:latin typeface="Microsoft YaHei"/>
                <a:ea typeface="Microsoft YaHei"/>
              </a:rPr>
              <a:t>2026暑期实习生项目</a:t>
            </a:r>
            <a:endParaRPr lang="en-US" sz="1160" dirty="0">
              <a:solidFill>
                <a:prstClr val="black"/>
              </a:solidFill>
              <a:latin typeface="Calibri"/>
            </a:endParaRPr>
          </a:p>
          <a:p>
            <a:pPr defTabSz="964140" latinLnBrk="1">
              <a:lnSpc>
                <a:spcPct val="113400"/>
              </a:lnSpc>
            </a:pPr>
            <a:r>
              <a:rPr lang="zh-CN" altLang="en-US" sz="7737" b="1" spc="396" noProof="1">
                <a:solidFill>
                  <a:prstClr val="black"/>
                </a:solidFill>
                <a:latin typeface="Microsoft YaHei"/>
                <a:ea typeface="Microsoft YaHei"/>
              </a:rPr>
              <a:t>实习小结</a:t>
            </a:r>
            <a:endParaRPr lang="en-US" sz="7737" b="1" spc="396" dirty="0">
              <a:solidFill>
                <a:prstClr val="black"/>
              </a:solidFill>
              <a:latin typeface="Microsoft YaHei"/>
              <a:ea typeface="Microsoft YaHe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876" y="1561232"/>
            <a:ext cx="5143305" cy="3822932"/>
          </a:xfrm>
          <a:prstGeom prst="rect">
            <a:avLst/>
          </a:prstGeom>
        </p:spPr>
      </p:pic>
      <p:sp>
        <p:nvSpPr>
          <p:cNvPr id="5" name="Freeform 4"/>
          <p:cNvSpPr/>
          <p:nvPr/>
        </p:nvSpPr>
        <p:spPr>
          <a:xfrm>
            <a:off x="10805179" y="5349742"/>
            <a:ext cx="2456695" cy="2573907"/>
          </a:xfrm>
          <a:custGeom>
            <a:avLst/>
            <a:gdLst/>
            <a:ahLst/>
            <a:cxnLst/>
            <a:rect l="l" t="t" r="r" b="b"/>
            <a:pathLst>
              <a:path w="2329918" h="2441080">
                <a:moveTo>
                  <a:pt x="1864" y="1220540"/>
                </a:moveTo>
                <a:cubicBezTo>
                  <a:pt x="0" y="803767"/>
                  <a:pt x="221276" y="417853"/>
                  <a:pt x="581905" y="208926"/>
                </a:cubicBezTo>
                <a:cubicBezTo>
                  <a:pt x="942533" y="0"/>
                  <a:pt x="1387385" y="0"/>
                  <a:pt x="1748013" y="208926"/>
                </a:cubicBezTo>
                <a:cubicBezTo>
                  <a:pt x="2108642" y="417853"/>
                  <a:pt x="2329918" y="803767"/>
                  <a:pt x="2328054" y="1220540"/>
                </a:cubicBezTo>
                <a:cubicBezTo>
                  <a:pt x="2329918" y="1637313"/>
                  <a:pt x="2108642" y="2023227"/>
                  <a:pt x="1748013" y="2232153"/>
                </a:cubicBezTo>
                <a:cubicBezTo>
                  <a:pt x="1387385" y="2441080"/>
                  <a:pt x="942533" y="2441080"/>
                  <a:pt x="581905" y="2232153"/>
                </a:cubicBezTo>
                <a:cubicBezTo>
                  <a:pt x="221276" y="2023227"/>
                  <a:pt x="0" y="1637313"/>
                  <a:pt x="1864" y="1220540"/>
                </a:cubicBezTo>
                <a:close/>
              </a:path>
            </a:pathLst>
          </a:custGeom>
          <a:solidFill>
            <a:srgbClr val="F7658A"/>
          </a:solidFill>
        </p:spPr>
        <p:txBody>
          <a:bodyPr lIns="133911" rIns="133911" rtlCol="0" anchor="ctr"/>
          <a:lstStyle/>
          <a:p>
            <a:pPr defTabSz="964140"/>
            <a:endParaRPr lang="en-US" sz="11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688557" y="3590627"/>
            <a:ext cx="3052154" cy="484381"/>
          </a:xfrm>
          <a:custGeom>
            <a:avLst/>
            <a:gdLst/>
            <a:ahLst/>
            <a:cxnLst/>
            <a:rect l="l" t="t" r="r" b="b"/>
            <a:pathLst>
              <a:path w="2894648" h="459384">
                <a:moveTo>
                  <a:pt x="0" y="49429"/>
                </a:moveTo>
                <a:cubicBezTo>
                  <a:pt x="0" y="22130"/>
                  <a:pt x="22129" y="0"/>
                  <a:pt x="49428" y="0"/>
                </a:cubicBezTo>
                <a:lnTo>
                  <a:pt x="2845219" y="0"/>
                </a:lnTo>
                <a:cubicBezTo>
                  <a:pt x="2872517" y="0"/>
                  <a:pt x="2894647" y="22130"/>
                  <a:pt x="2894647" y="49429"/>
                </a:cubicBezTo>
                <a:lnTo>
                  <a:pt x="2894647" y="409956"/>
                </a:lnTo>
                <a:cubicBezTo>
                  <a:pt x="2894647" y="423066"/>
                  <a:pt x="2889440" y="435638"/>
                  <a:pt x="2880170" y="444908"/>
                </a:cubicBezTo>
                <a:cubicBezTo>
                  <a:pt x="2870900" y="454177"/>
                  <a:pt x="2858328" y="459385"/>
                  <a:pt x="2845219" y="459385"/>
                </a:cubicBezTo>
                <a:lnTo>
                  <a:pt x="49428" y="459385"/>
                </a:lnTo>
                <a:cubicBezTo>
                  <a:pt x="36319" y="459385"/>
                  <a:pt x="23746" y="454177"/>
                  <a:pt x="14477" y="444908"/>
                </a:cubicBezTo>
                <a:cubicBezTo>
                  <a:pt x="5207" y="435638"/>
                  <a:pt x="0" y="423066"/>
                  <a:pt x="0" y="409956"/>
                </a:cubicBezTo>
                <a:lnTo>
                  <a:pt x="0" y="49429"/>
                </a:lnTo>
                <a:close/>
              </a:path>
            </a:pathLst>
          </a:custGeom>
          <a:solidFill>
            <a:srgbClr val="BAC5FF"/>
          </a:solidFill>
        </p:spPr>
        <p:txBody>
          <a:bodyPr lIns="133911" rIns="133911" rtlCol="0" anchor="ctr"/>
          <a:lstStyle/>
          <a:p>
            <a:pPr defTabSz="964140"/>
            <a:endParaRPr lang="en-US" sz="116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2259" y="3689323"/>
            <a:ext cx="2471478" cy="56282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lIns="33478" tIns="13389" rIns="33478" bIns="13389" rtlCol="0" anchor="t">
            <a:spAutoFit/>
          </a:bodyPr>
          <a:lstStyle/>
          <a:p>
            <a:pPr defTabSz="964140" latinLnBrk="1">
              <a:lnSpc>
                <a:spcPct val="113400"/>
              </a:lnSpc>
            </a:pPr>
            <a:r>
              <a:rPr lang="zh-CN" altLang="en-US" sz="1588" b="1" spc="84" noProof="1">
                <a:solidFill>
                  <a:srgbClr val="4E51FF"/>
                </a:solidFill>
                <a:latin typeface="Microsoft YaHei"/>
                <a:ea typeface="Microsoft YaHei"/>
              </a:rPr>
              <a:t>AI Lab - 毛泽辉</a:t>
            </a:r>
            <a:endParaRPr lang="en-US" sz="1588" b="1" spc="84" dirty="0">
              <a:solidFill>
                <a:srgbClr val="4E51FF"/>
              </a:solidFill>
              <a:latin typeface="Microsoft YaHei"/>
              <a:ea typeface="Microsoft YaHei"/>
            </a:endParaRPr>
          </a:p>
          <a:p>
            <a:pPr defTabSz="964140" latinLnBrk="1">
              <a:lnSpc>
                <a:spcPct val="113400"/>
              </a:lnSpc>
            </a:pPr>
            <a:r>
              <a:rPr lang="zh-CN" altLang="en-US" sz="1588" b="1" spc="84" noProof="1">
                <a:solidFill>
                  <a:srgbClr val="4E51FF"/>
                </a:solidFill>
                <a:latin typeface="Microsoft YaHei"/>
                <a:ea typeface="Microsoft YaHei"/>
              </a:rPr>
              <a:t>时间：8.25</a:t>
            </a:r>
            <a:endParaRPr lang="en-US" sz="11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10163370" y="6075040"/>
            <a:ext cx="252213" cy="264247"/>
          </a:xfrm>
          <a:custGeom>
            <a:avLst/>
            <a:gdLst/>
            <a:ahLst/>
            <a:cxnLst/>
            <a:rect l="l" t="t" r="r" b="b"/>
            <a:pathLst>
              <a:path w="239197" h="250610">
                <a:moveTo>
                  <a:pt x="191" y="125305"/>
                </a:moveTo>
                <a:cubicBezTo>
                  <a:pt x="0" y="82518"/>
                  <a:pt x="22717" y="42898"/>
                  <a:pt x="59740" y="21449"/>
                </a:cubicBezTo>
                <a:cubicBezTo>
                  <a:pt x="96763" y="0"/>
                  <a:pt x="142433" y="0"/>
                  <a:pt x="179457" y="21449"/>
                </a:cubicBezTo>
                <a:cubicBezTo>
                  <a:pt x="216480" y="42898"/>
                  <a:pt x="239197" y="82518"/>
                  <a:pt x="239006" y="125305"/>
                </a:cubicBezTo>
                <a:cubicBezTo>
                  <a:pt x="239197" y="168092"/>
                  <a:pt x="216480" y="207711"/>
                  <a:pt x="179457" y="229161"/>
                </a:cubicBezTo>
                <a:cubicBezTo>
                  <a:pt x="142433" y="250610"/>
                  <a:pt x="96763" y="250610"/>
                  <a:pt x="59740" y="229161"/>
                </a:cubicBezTo>
                <a:cubicBezTo>
                  <a:pt x="22717" y="207711"/>
                  <a:pt x="0" y="168092"/>
                  <a:pt x="191" y="125305"/>
                </a:cubicBezTo>
                <a:close/>
              </a:path>
            </a:pathLst>
          </a:custGeom>
          <a:solidFill>
            <a:srgbClr val="F7658A"/>
          </a:solidFill>
        </p:spPr>
        <p:txBody>
          <a:bodyPr lIns="133911" rIns="133911" rtlCol="0" anchor="ctr"/>
          <a:lstStyle/>
          <a:p>
            <a:pPr defTabSz="964140"/>
            <a:endParaRPr lang="en-US" sz="116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呈现大纲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自我介绍</a:t>
            </a:r>
            <a:endParaRPr lang="en-US" altLang="zh-CN" sz="3375" dirty="0">
              <a:latin typeface="Calibri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工作完成情况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实习体会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职业规划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FA2033-90E1-4D07-BDB7-083C694DB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自我介绍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60D437-1D6F-4A0B-A08E-37BDD1B15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632" y="1595657"/>
            <a:ext cx="11596721" cy="4773477"/>
          </a:xfrm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教育背景</a:t>
            </a:r>
            <a:endParaRPr lang="en-US" altLang="zh-CN" dirty="0">
              <a:latin typeface="Calibri" pitchFamily="34" charset="0"/>
            </a:endParaRPr>
          </a:p>
          <a:p>
            <a:pPr marL="2520000" lvl="1">
              <a:lnSpc>
                <a:spcPct val="30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1800" noProof="1">
                <a:latin typeface="Segoe UI"/>
                <a:ea typeface="微软雅黑"/>
              </a:rPr>
              <a:t>本科：浙江大学 物理学系</a:t>
            </a:r>
          </a:p>
          <a:p>
            <a:pPr marL="2520000" lvl="1">
              <a:lnSpc>
                <a:spcPct val="30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1800" noProof="1">
                <a:latin typeface="Segoe UI"/>
                <a:ea typeface="微软雅黑"/>
              </a:rPr>
              <a:t>硕士：南洋理工大学 应用人工智能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目前职位：通用人工智能研究　｜　导师：张亚红</a:t>
            </a:r>
            <a:endParaRPr lang="en-US" altLang="zh-CN" sz="2200" noProof="1">
              <a:latin typeface="Segoe UI"/>
              <a:ea typeface="微软雅黑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工作内容简介：Agent 自进化方向 —— 复现前沿论文，并探索将方法泛化到新的数据场景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个人爱好：球类运动、游戏、动漫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74E5A5-F6CF-47AF-9316-A48ADEC9A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6" name="图片 5" descr="穿黑色衣服的小孩&#10;&#10;AI 生成的内容可能不正确。">
            <a:extLst>
              <a:ext uri="{FF2B5EF4-FFF2-40B4-BE49-F238E27FC236}">
                <a16:creationId xmlns:a16="http://schemas.microsoft.com/office/drawing/2014/main" id="{396CF5DE-9979-17AA-A4AF-2E8225988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280" y="457200"/>
            <a:ext cx="1645920" cy="1645920"/>
          </a:xfrm>
          <a:prstGeom prst="rect">
            <a:avLst/>
          </a:prstGeom>
        </p:spPr>
      </p:pic>
      <p:pic>
        <p:nvPicPr>
          <p:cNvPr id="8" name="图片 7" descr="徽标&#10;&#10;AI 生成的内容可能不正确。">
            <a:extLst>
              <a:ext uri="{FF2B5EF4-FFF2-40B4-BE49-F238E27FC236}">
                <a16:creationId xmlns:a16="http://schemas.microsoft.com/office/drawing/2014/main" id="{D59473AF-FC5E-3CB6-CDE3-00E73FE293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01" y="2304798"/>
            <a:ext cx="1212289" cy="964496"/>
          </a:xfrm>
          <a:prstGeom prst="rect">
            <a:avLst/>
          </a:prstGeom>
        </p:spPr>
      </p:pic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DEA02CF3-0ED7-2BF7-E33C-C224E7D610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21" y="3369786"/>
            <a:ext cx="2183311" cy="78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81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63695-6735-4CD9-BD4C-80E9698F2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工作完成情况 ｜ 自进化调研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9802A3-7BFB-4341-AA58-ACF0DC4170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632" y="1600200"/>
            <a:ext cx="5303520" cy="4572000"/>
          </a:xfrm>
        </p:spPr>
        <p:txBody>
          <a:bodyPr wrap="square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① 自进化的理解</a:t>
            </a:r>
            <a:r>
              <a:rPr lang="zh-CN" altLang="en-US" sz="1500" noProof="1">
                <a:latin typeface="Segoe UI"/>
                <a:ea typeface="微软雅黑"/>
              </a:rPr>
              <a:t>　（综述 [1]）</a:t>
            </a:r>
            <a:endParaRPr lang="en-US" altLang="zh-CN" dirty="0"/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“…agentic AI is no longer defined only by what a model can infer from static data, but by how a </a:t>
            </a:r>
            <a:r>
              <a:rPr lang="zh-CN" altLang="en-US" sz="1300" b="1" noProof="1">
                <a:latin typeface="Segoe UI"/>
                <a:ea typeface="微软雅黑"/>
              </a:rPr>
              <a:t>deployed system </a:t>
            </a:r>
            <a:r>
              <a:rPr lang="zh-CN" altLang="en-US" sz="1300" noProof="1">
                <a:latin typeface="Segoe UI"/>
                <a:ea typeface="微软雅黑"/>
              </a:rPr>
              <a:t>accumulates, organizes, and reuses experience from </a:t>
            </a:r>
            <a:r>
              <a:rPr lang="zh-CN" altLang="en-US" sz="1300" b="1" noProof="1">
                <a:latin typeface="Segoe UI"/>
                <a:ea typeface="微软雅黑"/>
              </a:rPr>
              <a:t>interaction</a:t>
            </a:r>
            <a:r>
              <a:rPr lang="zh-CN" altLang="en-US" sz="1300" noProof="1">
                <a:latin typeface="Segoe UI"/>
                <a:ea typeface="微软雅黑"/>
              </a:rPr>
              <a:t>.”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② 经验的五个更新层面</a:t>
            </a:r>
            <a:r>
              <a:rPr lang="zh-CN" altLang="en-US" sz="1500" noProof="1">
                <a:latin typeface="Segoe UI"/>
                <a:ea typeface="微软雅黑"/>
              </a:rPr>
              <a:t>　（同上）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reusable skill / persistent memory / verifiable environment feedback / </a:t>
            </a:r>
            <a:r>
              <a:rPr lang="zh-CN" altLang="en-US" sz="1300" b="1" noProof="1">
                <a:latin typeface="Segoe UI"/>
                <a:ea typeface="微软雅黑"/>
              </a:rPr>
              <a:t>trainable model behavior</a:t>
            </a:r>
            <a:r>
              <a:rPr lang="zh-CN" altLang="en-US" sz="1300" noProof="1">
                <a:latin typeface="Segoe UI"/>
                <a:ea typeface="微软雅黑"/>
              </a:rPr>
              <a:t> / meta-level control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③ 本次实验的主要难点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不在 RL 算法本身，而在“经验 → 更新”这条链路：信号怎么提取、怎么区分环境故障与模型失败、训练怎么在真实运行时里跑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④ 本次工作的定位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b="1" noProof="1">
                <a:latin typeface="Segoe UI"/>
                <a:ea typeface="微软雅黑"/>
              </a:rPr>
              <a:t>OpenClaw-RL</a:t>
            </a:r>
            <a:r>
              <a:rPr lang="zh-CN" altLang="en-US" sz="1300" noProof="1">
                <a:latin typeface="Segoe UI"/>
                <a:ea typeface="微软雅黑"/>
              </a:rPr>
              <a:t> ＝ </a:t>
            </a:r>
            <a:r>
              <a:rPr lang="zh-CN" altLang="en-US" sz="1300" b="1" noProof="1">
                <a:latin typeface="Segoe UI"/>
                <a:ea typeface="微软雅黑"/>
              </a:rPr>
              <a:t>模型权重</a:t>
            </a:r>
            <a:r>
              <a:rPr lang="zh-CN" altLang="en-US" sz="1300" noProof="1">
                <a:latin typeface="Segoe UI"/>
                <a:ea typeface="微软雅黑"/>
              </a:rPr>
              <a:t>这一层，训练直接跑在真实对话流中 —— 对话本身就是训练信号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E1BF21-69A6-41E3-BFEA-C098016B9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632" y="63276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zh-CN" altLang="en-US" sz="950" noProof="1">
                <a:latin typeface="Segoe UI"/>
                <a:ea typeface="微软雅黑"/>
              </a:rPr>
              <a:t>[1] Self-Improving Agents in the Era of Experience: A Survey of Self- to Meta-Evolution (2026)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31720"/>
            <a:ext cx="5897880" cy="333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621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89657"/>
            <a:ext cx="6858000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工作完成情况 ｜ OpenClaw-RL 实现方法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1687711"/>
            <a:ext cx="6858000" cy="4773477"/>
          </a:xfrm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① 三个角色，一套真实环境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Simulator（Qwen3-32B）按人设扮演 Student / TA / Teacher，在 OpenClaw 里与 Policy（Qwen3-4B）对话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② 两种训练顺序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b="1" noProof="1">
                <a:latin typeface="Segoe UI"/>
                <a:ea typeface="微软雅黑"/>
              </a:rPr>
              <a:t>Separate</a:t>
            </a:r>
            <a:r>
              <a:rPr lang="zh-CN" altLang="en-US" sz="1400" noProof="1">
                <a:latin typeface="Segoe UI"/>
                <a:ea typeface="微软雅黑"/>
              </a:rPr>
              <a:t>（本次已完成）：三角色各训一个模型，须依次进行　｜　</a:t>
            </a:r>
            <a:r>
              <a:rPr lang="zh-CN" altLang="en-US" sz="1400" b="1" noProof="1">
                <a:latin typeface="Segoe UI"/>
                <a:ea typeface="微软雅黑"/>
              </a:rPr>
              <a:t>Joint</a:t>
            </a:r>
            <a:r>
              <a:rPr lang="zh-CN" altLang="en-US" sz="1400" noProof="1">
                <a:latin typeface="Segoe UI"/>
                <a:ea typeface="微软雅黑"/>
              </a:rPr>
              <a:t>：三角色共享一个模型，同时训练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③ 一次回复，两条去向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对话循环：回复照常送回用户　｜　训练循环：同一次回复交给判官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④ 两类信号，同一个判官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Eval 判官答“好不好”→ GRPO；Hint 判官答“该怎么改”→ OPD。同一份 PRM 权重，只是提示词不同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⑤ 一次反传，权重回流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两个损失加权合并后一次更新，新权重同步回线上 Policy</a:t>
            </a:r>
          </a:p>
          <a:p>
            <a:pPr marL="0" indent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zh-CN" altLang="en-US" sz="1600" noProof="1">
                <a:latin typeface="Segoe UI"/>
                <a:ea typeface="微软雅黑"/>
              </a:rPr>
              <a:t>训练与对话</a:t>
            </a:r>
            <a:r>
              <a:rPr lang="zh-CN" altLang="en-US" sz="1600" b="1" noProof="1">
                <a:latin typeface="Segoe UI"/>
                <a:ea typeface="微软雅黑"/>
              </a:rPr>
              <a:t>异步并行</a:t>
            </a:r>
            <a:r>
              <a:rPr lang="zh-CN" altLang="en-US" sz="1600" noProof="1">
                <a:latin typeface="Segoe UI"/>
                <a:ea typeface="微软雅黑"/>
              </a:rPr>
              <a:t>：回应照常送出，权重在线更新，全程不停机</a:t>
            </a: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B2743E83-F1A3-D176-F18E-8F9D99B55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265" y="320040"/>
            <a:ext cx="4400374" cy="6217920"/>
          </a:xfrm>
          <a:prstGeom prst="rect">
            <a:avLst/>
          </a:prstGeom>
        </p:spPr>
      </p:pic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5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工作完成情况 ｜ 复现实验结果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4632" y="1481328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300" b="1" noProof="1">
                <a:latin typeface="Segoe UI"/>
                <a:ea typeface="微软雅黑"/>
              </a:rPr>
              <a:t>论文 Table 3 · 达到收敛所需的 session 数（越小越好）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865376"/>
            <a:ext cx="5074920" cy="14580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4632" y="3456432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100" b="0" noProof="1">
                <a:latin typeface="Segoe UI"/>
                <a:ea typeface="微软雅黑"/>
              </a:rPr>
              <a:t>高亮格 19.2 = 本次复现对应的 Separate / Student / Hybrid 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931920"/>
            <a:ext cx="5074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本次复现结果</a:t>
            </a:r>
          </a:p>
          <a:p>
            <a:pPr>
              <a:spcAft>
                <a:spcPts val="200"/>
              </a:spcAft>
            </a:pPr>
            <a:r>
              <a:rPr lang="zh-CN" altLang="en-US" sz="1200" noProof="1">
                <a:latin typeface="Segoe UI"/>
                <a:ea typeface="微软雅黑"/>
              </a:rPr>
              <a:t>论文（5 次独立试验均值）　</a:t>
            </a:r>
            <a:r>
              <a:rPr lang="zh-CN" altLang="en-US" sz="2400" b="1" noProof="1">
                <a:latin typeface="Segoe UI"/>
                <a:ea typeface="微软雅黑"/>
              </a:rPr>
              <a:t>19.2</a:t>
            </a:r>
          </a:p>
          <a:p>
            <a:pPr>
              <a:spcAft>
                <a:spcPts val="200"/>
              </a:spcAft>
            </a:pPr>
            <a:r>
              <a:rPr lang="zh-CN" altLang="en-US" sz="1200" noProof="1">
                <a:latin typeface="Segoe UI"/>
                <a:ea typeface="微软雅黑"/>
              </a:rPr>
              <a:t>本次复现（单次运行）　</a:t>
            </a:r>
            <a:r>
              <a:rPr lang="zh-CN" altLang="en-US" sz="2400" b="1" noProof="1">
                <a:latin typeface="Segoe UI"/>
                <a:ea typeface="微软雅黑"/>
              </a:rPr>
              <a:t>20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配置：Policy / PRM = Qwen3-4B-Thinking-2507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　　　Simulator = DeepSeek-V4-Flash　｜　GSM8K　｜　Separate-Student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判定：rule-based，连续 3 个 session 的 Turn 1 回复均满足偏好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第 18 个 session 起共 15 次有效回复，14 次 Turn 1 直接达标，仅 1 次退化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463040"/>
            <a:ext cx="651442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1" y="112836"/>
            <a:ext cx="4964523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工作完成情况 ｜ 方法泛化方案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1" y="4534407"/>
            <a:ext cx="5246027" cy="2159000"/>
          </a:xfrm>
        </p:spPr>
        <p:txBody>
          <a:bodyPr wrap="square">
            <a:norm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350" b="1" noProof="1">
                <a:latin typeface="Segoe UI"/>
                <a:ea typeface="微软雅黑"/>
              </a:rPr>
              <a:t>① 任务背景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150" noProof="1">
                <a:latin typeface="Segoe UI"/>
                <a:ea typeface="微软雅黑"/>
              </a:rPr>
              <a:t>方法已在 Personal Agent 场景复现校准，换到 </a:t>
            </a:r>
            <a:r>
              <a:rPr lang="zh-CN" altLang="en-US" sz="1150" b="1" noProof="1">
                <a:latin typeface="Segoe UI"/>
                <a:ea typeface="微软雅黑"/>
              </a:rPr>
              <a:t>MetaClaw-Bench</a:t>
            </a:r>
            <a:r>
              <a:rPr lang="zh-CN" altLang="en-US" sz="1150" noProof="1">
                <a:latin typeface="Segoe UI"/>
                <a:ea typeface="微软雅黑"/>
              </a:rPr>
              <a:t>（另一篇论文的评测基准，30 天连续任务流）验证普适性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350" b="1" noProof="1">
                <a:latin typeface="Segoe UI"/>
                <a:ea typeface="微软雅黑"/>
              </a:rPr>
              <a:t>② 未来提升方向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150" noProof="1">
                <a:latin typeface="Segoe UI"/>
                <a:ea typeface="微软雅黑"/>
              </a:rPr>
              <a:t>目标：训练能稳定、有效地跑满完整 30 天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150" noProof="1">
                <a:latin typeface="Segoe UI"/>
                <a:ea typeface="微软雅黑"/>
              </a:rPr>
              <a:t>已定位并修复影响训练后期效率的根因，下一步在真实训练中验证效果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7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4" descr="metaclaw_migra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028" y="176565"/>
            <a:ext cx="6015547" cy="651684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40" y="1024057"/>
            <a:ext cx="4370903" cy="28934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440" y="3917472"/>
            <a:ext cx="4370903" cy="41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lang="zh-CN" altLang="en-US" sz="1000" noProof="1">
                <a:latin typeface="Segoe UI"/>
                <a:ea typeface="微软雅黑"/>
              </a:rPr>
              <a:t>本次仅迁移 RL 训练方法，不含 MetaClaw 技能库；模型与评测环境均不同，与论文各行为数量级参照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949569-EFCA-48F1-B283-8821975D3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112" y="246698"/>
            <a:ext cx="8681776" cy="120550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2840D4-3208-44BE-9122-D0BFBA98A8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18681" y="1534288"/>
            <a:ext cx="8898569" cy="4773477"/>
          </a:xfrm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endParaRPr lang="en-US" altLang="zh-CN" dirty="0">
              <a:latin typeface="Calibri" pitchFamily="34" charset="0"/>
            </a:endParaRPr>
          </a:p>
        </p:txBody>
      </p:sp>
      <p:pic>
        <p:nvPicPr>
          <p:cNvPr id="5" name="Picture 4" descr="slide8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79EC64-817B-4883-9470-CDFA4EB1A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8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734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65109"/>
            <a:ext cx="867765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印象最深的一件事 ｜ 联想暑期活动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1481328"/>
            <a:ext cx="11219688" cy="2103120"/>
          </a:xfrm>
        </p:spPr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作为 </a:t>
            </a:r>
            <a:r>
              <a:rPr lang="zh-CN" altLang="en-US" sz="2400" b="1" noProof="1">
                <a:latin typeface="Segoe UI"/>
                <a:ea typeface="微软雅黑"/>
              </a:rPr>
              <a:t>AI 发起者小组组长</a:t>
            </a:r>
            <a:r>
              <a:rPr lang="zh-CN" altLang="en-US" sz="2400" noProof="1">
                <a:latin typeface="Segoe UI"/>
                <a:ea typeface="微软雅黑"/>
              </a:rPr>
              <a:t>，与其他部门的实习生组队协作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五周时间，从 0 到 1 完成了「掉了么」这个可视化产品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也看到了其他小组的成果 —— 是一次难得的横向视野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9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6" name="图片 5" descr="一群人站在桌子边&#10;&#10;AI 生成的内容可能不正确。">
            <a:extLst>
              <a:ext uri="{FF2B5EF4-FFF2-40B4-BE49-F238E27FC236}">
                <a16:creationId xmlns:a16="http://schemas.microsoft.com/office/drawing/2014/main" id="{FFED5FE0-AAF3-8EFC-3F4A-3EC21C9C8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531" y="3749039"/>
            <a:ext cx="3502152" cy="2626614"/>
          </a:xfrm>
          <a:prstGeom prst="rect">
            <a:avLst/>
          </a:prstGeom>
        </p:spPr>
      </p:pic>
      <p:pic>
        <p:nvPicPr>
          <p:cNvPr id="8" name="图片 7" descr="会议室里的人们&#10;&#10;AI 生成的内容可能不正确。">
            <a:extLst>
              <a:ext uri="{FF2B5EF4-FFF2-40B4-BE49-F238E27FC236}">
                <a16:creationId xmlns:a16="http://schemas.microsoft.com/office/drawing/2014/main" id="{07710BDF-EC87-CA77-57FF-C58D18277B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011" y="3749039"/>
            <a:ext cx="3502152" cy="2626614"/>
          </a:xfrm>
          <a:prstGeom prst="rect">
            <a:avLst/>
          </a:prstGeom>
        </p:spPr>
      </p:pic>
      <p:pic>
        <p:nvPicPr>
          <p:cNvPr id="10" name="图片 9" descr="会议室里的人们&#10;&#10;AI 生成的内容可能不正确。">
            <a:extLst>
              <a:ext uri="{FF2B5EF4-FFF2-40B4-BE49-F238E27FC236}">
                <a16:creationId xmlns:a16="http://schemas.microsoft.com/office/drawing/2014/main" id="{D574F725-B7FD-14B6-E230-4BBE6C5C8F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4771" y="3749039"/>
            <a:ext cx="3502152" cy="26266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9E27CA-D9EB-499A-B32D-15D44741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112" y="289657"/>
            <a:ext cx="8681776" cy="120550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职业规划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8F1F8E-D9F9-42E0-8A09-861DD64407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99171" y="1616895"/>
            <a:ext cx="8681776" cy="4773477"/>
          </a:xfrm>
        </p:spPr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职业目标</a:t>
            </a:r>
            <a:r>
              <a:rPr lang="zh-CN" altLang="en-US" sz="1800" noProof="1">
                <a:latin typeface="Segoe UI"/>
                <a:ea typeface="微软雅黑"/>
              </a:rPr>
              <a:t>：成为能在所处方向上做出行业领先成果的研究员 —— </a:t>
            </a:r>
            <a:r>
              <a:rPr lang="zh-CN" altLang="en-US" sz="1800" b="1" noProof="1">
                <a:latin typeface="Segoe UI"/>
                <a:ea typeface="微软雅黑"/>
              </a:rPr>
              <a:t>从跟随前沿，到定义前沿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短期</a:t>
            </a:r>
            <a:r>
              <a:rPr lang="zh-CN" altLang="en-US" sz="1800" noProof="1">
                <a:latin typeface="Segoe UI"/>
                <a:ea typeface="微软雅黑"/>
              </a:rPr>
              <a:t>：从“复现”走向“独立” —— 能自己判断方向价值、设计实验路径，做出经得起推敲的结果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中期</a:t>
            </a:r>
            <a:r>
              <a:rPr lang="zh-CN" altLang="en-US" sz="1800" noProof="1">
                <a:latin typeface="Segoe UI"/>
                <a:ea typeface="微软雅黑"/>
              </a:rPr>
              <a:t>：做出</a:t>
            </a:r>
            <a:r>
              <a:rPr lang="zh-CN" altLang="en-US" sz="1800" b="1" noProof="1">
                <a:latin typeface="Segoe UI"/>
                <a:ea typeface="微软雅黑"/>
              </a:rPr>
              <a:t>行业领先的成果</a:t>
            </a:r>
            <a:r>
              <a:rPr lang="zh-CN" altLang="en-US" sz="1800" noProof="1">
                <a:latin typeface="Segoe UI"/>
                <a:ea typeface="微软雅黑"/>
              </a:rPr>
              <a:t> —— 在具体问题上达到 SOTA，并推动其在真实场景中落地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长期</a:t>
            </a:r>
            <a:r>
              <a:rPr lang="zh-CN" altLang="en-US" sz="1800" noProof="1">
                <a:latin typeface="Segoe UI"/>
                <a:ea typeface="微软雅黑"/>
              </a:rPr>
              <a:t>：提出</a:t>
            </a:r>
            <a:r>
              <a:rPr lang="zh-CN" altLang="en-US" sz="1800" b="1" noProof="1">
                <a:latin typeface="Segoe UI"/>
                <a:ea typeface="微软雅黑"/>
              </a:rPr>
              <a:t>有原创性的方法或理论</a:t>
            </a:r>
            <a:r>
              <a:rPr lang="zh-CN" altLang="en-US" sz="1800" noProof="1">
                <a:latin typeface="Segoe UI"/>
                <a:ea typeface="微软雅黑"/>
              </a:rPr>
              <a:t>，在所处方向上形成影响力，让自己的工作成为别人的参照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行动方案</a:t>
            </a:r>
            <a:r>
              <a:rPr lang="zh-CN" altLang="en-US" sz="1800" noProof="1">
                <a:latin typeface="Segoe UI"/>
                <a:ea typeface="微软雅黑"/>
              </a:rPr>
              <a:t>：在自进化主线上保持高频跟进；把复现能力沉淀为可复用的实验基建，缩短从论文到验证的周期；成果尽量对外呈现，接受同行检验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24ABD6-1ED0-4A44-B840-9239599BF4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10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061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3230" y="1473126"/>
            <a:ext cx="9957805" cy="3026129"/>
          </a:xfrm>
        </p:spPr>
        <p:txBody>
          <a:bodyPr>
            <a:normAutofit/>
          </a:bodyPr>
          <a:lstStyle/>
          <a:p>
            <a:r>
              <a:rPr lang="zh-CN" altLang="en-US" sz="13797" noProof="1">
                <a:solidFill>
                  <a:schemeClr val="accent2"/>
                </a:solidFill>
              </a:rPr>
              <a:t>Q</a:t>
            </a:r>
            <a:r>
              <a:rPr lang="zh-CN" altLang="en-US" sz="13797" noProof="1">
                <a:solidFill>
                  <a:schemeClr val="accent3"/>
                </a:solidFill>
              </a:rPr>
              <a:t>&amp;</a:t>
            </a:r>
            <a:r>
              <a:rPr lang="zh-CN" altLang="en-US" sz="13797" noProof="1">
                <a:solidFill>
                  <a:schemeClr val="accent4"/>
                </a:solidFill>
              </a:rPr>
              <a:t>A</a:t>
            </a:r>
            <a:endParaRPr lang="en-US" sz="13797" dirty="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11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54CF6A62-F30D-BE3B-8824-163E6F4DB6E5}"/>
              </a:ext>
            </a:extLst>
          </p:cNvPr>
          <p:cNvGrpSpPr/>
          <p:nvPr/>
        </p:nvGrpSpPr>
        <p:grpSpPr>
          <a:xfrm>
            <a:off x="3163489" y="2363511"/>
            <a:ext cx="5865022" cy="2130977"/>
            <a:chOff x="3122505" y="1346200"/>
            <a:chExt cx="5560910" cy="2020482"/>
          </a:xfrm>
        </p:grpSpPr>
        <p:sp>
          <p:nvSpPr>
            <p:cNvPr id="2" name="TextBox 1"/>
            <p:cNvSpPr txBox="1"/>
            <p:nvPr/>
          </p:nvSpPr>
          <p:spPr>
            <a:xfrm>
              <a:off x="3122505" y="1346200"/>
              <a:ext cx="5560910" cy="1466074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10969" i="1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THANKS</a:t>
              </a:r>
            </a:p>
          </p:txBody>
        </p:sp>
        <p:sp>
          <p:nvSpPr>
            <p:cNvPr id="10" name="TextBox 1">
              <a:extLst>
                <a:ext uri="{FF2B5EF4-FFF2-40B4-BE49-F238E27FC236}">
                  <a16:creationId xmlns:a16="http://schemas.microsoft.com/office/drawing/2014/main" id="{2B692CD4-E07B-3BDB-B3CF-D41A31F90541}"/>
                </a:ext>
              </a:extLst>
            </p:cNvPr>
            <p:cNvSpPr txBox="1"/>
            <p:nvPr/>
          </p:nvSpPr>
          <p:spPr>
            <a:xfrm>
              <a:off x="3234172" y="2593189"/>
              <a:ext cx="5337576" cy="773493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5695" i="1" spc="-158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FOR WATCHING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3135686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1117</Words>
  <Application>Microsoft Office PowerPoint</Application>
  <PresentationFormat>宽屏</PresentationFormat>
  <Paragraphs>89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PangMenZhengDao</vt:lpstr>
      <vt:lpstr>等线</vt:lpstr>
      <vt:lpstr>Microsoft YaHei</vt:lpstr>
      <vt:lpstr>Microsoft YaHei</vt:lpstr>
      <vt:lpstr>Arial</vt:lpstr>
      <vt:lpstr>Calibri</vt:lpstr>
      <vt:lpstr>Segoe UI</vt:lpstr>
      <vt:lpstr>Office Theme</vt:lpstr>
      <vt:lpstr>PowerPoint 演示文稿</vt:lpstr>
      <vt:lpstr>呈现大纲</vt:lpstr>
      <vt:lpstr>自我介绍</vt:lpstr>
      <vt:lpstr>工作完成情况 ｜ 自进化调研</vt:lpstr>
      <vt:lpstr>工作完成情况 ｜ OpenClaw-RL 实现方法</vt:lpstr>
      <vt:lpstr>工作完成情况 ｜ 复现实验结果</vt:lpstr>
      <vt:lpstr>工作完成情况 ｜ 方法泛化方案</vt:lpstr>
      <vt:lpstr>实习收获</vt:lpstr>
      <vt:lpstr>印象最深的一件事 ｜ 联想暑期活动</vt:lpstr>
      <vt:lpstr>职业规划</vt:lpstr>
      <vt:lpstr>Q&amp;A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Shuo Shuo28 Wang</dc:creator>
  <cp:lastModifiedBy>#MAO ZEHUI#</cp:lastModifiedBy>
  <cp:revision>19</cp:revision>
  <dcterms:created xsi:type="dcterms:W3CDTF">2025-08-12T09:33:41Z</dcterms:created>
  <dcterms:modified xsi:type="dcterms:W3CDTF">2026-08-24T05:47:48Z</dcterms:modified>
</cp:coreProperties>
</file>
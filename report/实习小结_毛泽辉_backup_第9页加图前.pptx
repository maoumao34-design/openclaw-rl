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366" r:id="rId2"/>
    <p:sldId id="359" r:id="rId3"/>
    <p:sldId id="360" r:id="rId4"/>
    <p:sldId id="361" r:id="rId5"/>
    <p:sldId id="368" r:id="rId6"/>
    <p:sldId id="369" r:id="rId7"/>
    <p:sldId id="370" r:id="rId8"/>
    <p:sldId id="362" r:id="rId9"/>
    <p:sldId id="371" r:id="rId10"/>
    <p:sldId id="363" r:id="rId11"/>
    <p:sldId id="299" r:id="rId12"/>
    <p:sldId id="367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答辩说明" id="{57799230-5E46-41DE-81C9-8AA7DCE4A6B5}">
          <p14:sldIdLst>
            <p14:sldId id="366"/>
            <p14:sldId id="359"/>
            <p14:sldId id="360"/>
            <p14:sldId id="361"/>
            <p14:sldId id="368"/>
            <p14:sldId id="369"/>
            <p14:sldId id="370"/>
            <p14:sldId id="362"/>
            <p14:sldId id="371"/>
            <p14:sldId id="363"/>
            <p14:sldId id="299"/>
            <p14:sldId id="3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69CE05-948F-4B2D-B995-35989BAA5BB1}" v="11" dt="2026-08-06T07:48:01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-300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o Shuo28 Wang" userId="a7996a14-832d-49d1-89cf-13bafcdd9b6e" providerId="ADAL" clId="{E3FCCCF9-0FE8-4A43-91DF-74AAC5AFFE2B}"/>
    <pc:docChg chg="undo custSel modSld">
      <pc:chgData name="Shuo Shuo28 Wang" userId="a7996a14-832d-49d1-89cf-13bafcdd9b6e" providerId="ADAL" clId="{E3FCCCF9-0FE8-4A43-91DF-74AAC5AFFE2B}" dt="2026-08-06T07:48:01.080" v="15" actId="20577"/>
      <pc:docMkLst>
        <pc:docMk/>
      </pc:docMkLst>
      <pc:sldChg chg="modSp">
        <pc:chgData name="Shuo Shuo28 Wang" userId="a7996a14-832d-49d1-89cf-13bafcdd9b6e" providerId="ADAL" clId="{E3FCCCF9-0FE8-4A43-91DF-74AAC5AFFE2B}" dt="2026-08-06T07:48:01.080" v="15" actId="20577"/>
        <pc:sldMkLst>
          <pc:docMk/>
          <pc:sldMk cId="0" sldId="366"/>
        </pc:sldMkLst>
        <pc:spChg chg="mod">
          <ac:chgData name="Shuo Shuo28 Wang" userId="a7996a14-832d-49d1-89cf-13bafcdd9b6e" providerId="ADAL" clId="{E3FCCCF9-0FE8-4A43-91DF-74AAC5AFFE2B}" dt="2026-08-06T04:42:48.102" v="1" actId="20577"/>
          <ac:spMkLst>
            <pc:docMk/>
            <pc:sldMk cId="0" sldId="366"/>
            <ac:spMk id="2" creationId="{00000000-0000-0000-0000-000000000000}"/>
          </ac:spMkLst>
        </pc:spChg>
        <pc:spChg chg="mod">
          <ac:chgData name="Shuo Shuo28 Wang" userId="a7996a14-832d-49d1-89cf-13bafcdd9b6e" providerId="ADAL" clId="{E3FCCCF9-0FE8-4A43-91DF-74AAC5AFFE2B}" dt="2026-08-06T07:48:01.080" v="15" actId="20577"/>
          <ac:spMkLst>
            <pc:docMk/>
            <pc:sldMk cId="0" sldId="366"/>
            <ac:spMk id="7" creationId="{00000000-0000-0000-0000-000000000000}"/>
          </ac:spMkLst>
        </pc:spChg>
      </pc:sldChg>
      <pc:sldChg chg="modSp mod">
        <pc:chgData name="Shuo Shuo28 Wang" userId="a7996a14-832d-49d1-89cf-13bafcdd9b6e" providerId="ADAL" clId="{E3FCCCF9-0FE8-4A43-91DF-74AAC5AFFE2B}" dt="2026-08-06T04:43:17.316" v="9" actId="20577"/>
        <pc:sldMkLst>
          <pc:docMk/>
          <pc:sldMk cId="1423135686" sldId="367"/>
        </pc:sldMkLst>
        <pc:spChg chg="mod">
          <ac:chgData name="Shuo Shuo28 Wang" userId="a7996a14-832d-49d1-89cf-13bafcdd9b6e" providerId="ADAL" clId="{E3FCCCF9-0FE8-4A43-91DF-74AAC5AFFE2B}" dt="2026-08-06T04:43:17.316" v="9" actId="20577"/>
          <ac:spMkLst>
            <pc:docMk/>
            <pc:sldMk cId="1423135686" sldId="367"/>
            <ac:spMk id="10" creationId="{2B692CD4-E07B-3BDB-B3CF-D41A31F9054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779718-1DF5-435A-9AC8-EC7555CF7E10}" type="datetimeFigureOut">
              <a:rPr lang="zh-CN" altLang="en-US" smtClean="0"/>
              <a:t>2026/8/21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8013B-69F9-44AC-9847-779F3A74C3D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6520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ED87EB-65D7-4500-873C-410831173A82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121856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29A498-A90A-45E1-A512-B0FECEDE43A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F050202020403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07415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481" y="2246933"/>
            <a:ext cx="8199455" cy="15504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6963" y="4098727"/>
            <a:ext cx="6752492" cy="184844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22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44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66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8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110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932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754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57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508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02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1" y="4647903"/>
            <a:ext cx="8199455" cy="1436563"/>
          </a:xfrm>
        </p:spPr>
        <p:txBody>
          <a:bodyPr anchor="t"/>
          <a:lstStyle>
            <a:lvl1pPr algn="l">
              <a:defRPr sz="4219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3065675"/>
            <a:ext cx="8199455" cy="1582228"/>
          </a:xfrm>
        </p:spPr>
        <p:txBody>
          <a:bodyPr anchor="b"/>
          <a:lstStyle>
            <a:lvl1pPr marL="0" indent="0">
              <a:buNone/>
              <a:defRPr sz="2109">
                <a:solidFill>
                  <a:schemeClr val="tx1">
                    <a:tint val="75000"/>
                  </a:schemeClr>
                </a:solidFill>
              </a:defRPr>
            </a:lvl1pPr>
            <a:lvl2pPr marL="482209" indent="0">
              <a:buNone/>
              <a:defRPr sz="1898">
                <a:solidFill>
                  <a:schemeClr val="tx1">
                    <a:tint val="75000"/>
                  </a:schemeClr>
                </a:solidFill>
              </a:defRPr>
            </a:lvl2pPr>
            <a:lvl3pPr marL="964418" indent="0">
              <a:buNone/>
              <a:defRPr sz="1688">
                <a:solidFill>
                  <a:schemeClr val="tx1">
                    <a:tint val="75000"/>
                  </a:schemeClr>
                </a:solidFill>
              </a:defRPr>
            </a:lvl3pPr>
            <a:lvl4pPr marL="1446627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4pPr>
            <a:lvl5pPr marL="1928835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5pPr>
            <a:lvl6pPr marL="2411044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6pPr>
            <a:lvl7pPr marL="2893253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7pPr>
            <a:lvl8pPr marL="3375462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8pPr>
            <a:lvl9pPr marL="3857671" indent="0">
              <a:buNone/>
              <a:defRPr sz="14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301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82321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03596" y="1687711"/>
            <a:ext cx="4260501" cy="4773477"/>
          </a:xfrm>
        </p:spPr>
        <p:txBody>
          <a:bodyPr/>
          <a:lstStyle>
            <a:lvl1pPr>
              <a:defRPr sz="2953"/>
            </a:lvl1pPr>
            <a:lvl2pPr>
              <a:defRPr sz="2531"/>
            </a:lvl2pPr>
            <a:lvl3pPr>
              <a:defRPr sz="2109"/>
            </a:lvl3pPr>
            <a:lvl4pPr>
              <a:defRPr sz="1898"/>
            </a:lvl4pPr>
            <a:lvl5pPr>
              <a:defRPr sz="1898"/>
            </a:lvl5pPr>
            <a:lvl6pPr>
              <a:defRPr sz="1898"/>
            </a:lvl6pPr>
            <a:lvl7pPr>
              <a:defRPr sz="1898"/>
            </a:lvl7pPr>
            <a:lvl8pPr>
              <a:defRPr sz="1898"/>
            </a:lvl8pPr>
            <a:lvl9pPr>
              <a:defRPr sz="189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531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19064"/>
            <a:ext cx="4262176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2321" y="2293814"/>
            <a:ext cx="4262176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900246" y="1619064"/>
            <a:ext cx="4263851" cy="674749"/>
          </a:xfrm>
        </p:spPr>
        <p:txBody>
          <a:bodyPr anchor="b"/>
          <a:lstStyle>
            <a:lvl1pPr marL="0" indent="0">
              <a:buNone/>
              <a:defRPr sz="2531" b="1"/>
            </a:lvl1pPr>
            <a:lvl2pPr marL="482209" indent="0">
              <a:buNone/>
              <a:defRPr sz="2109" b="1"/>
            </a:lvl2pPr>
            <a:lvl3pPr marL="964418" indent="0">
              <a:buNone/>
              <a:defRPr sz="1898" b="1"/>
            </a:lvl3pPr>
            <a:lvl4pPr marL="1446627" indent="0">
              <a:buNone/>
              <a:defRPr sz="1688" b="1"/>
            </a:lvl4pPr>
            <a:lvl5pPr marL="1928835" indent="0">
              <a:buNone/>
              <a:defRPr sz="1688" b="1"/>
            </a:lvl5pPr>
            <a:lvl6pPr marL="2411044" indent="0">
              <a:buNone/>
              <a:defRPr sz="1688" b="1"/>
            </a:lvl6pPr>
            <a:lvl7pPr marL="2893253" indent="0">
              <a:buNone/>
              <a:defRPr sz="1688" b="1"/>
            </a:lvl7pPr>
            <a:lvl8pPr marL="3375462" indent="0">
              <a:buNone/>
              <a:defRPr sz="1688" b="1"/>
            </a:lvl8pPr>
            <a:lvl9pPr marL="3857671" indent="0">
              <a:buNone/>
              <a:defRPr sz="168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00246" y="2293814"/>
            <a:ext cx="4263851" cy="4167374"/>
          </a:xfrm>
        </p:spPr>
        <p:txBody>
          <a:bodyPr/>
          <a:lstStyle>
            <a:lvl1pPr>
              <a:defRPr sz="2531"/>
            </a:lvl1pPr>
            <a:lvl2pPr>
              <a:defRPr sz="2109"/>
            </a:lvl2pPr>
            <a:lvl3pPr>
              <a:defRPr sz="1898"/>
            </a:lvl3pPr>
            <a:lvl4pPr>
              <a:defRPr sz="1688"/>
            </a:lvl4pPr>
            <a:lvl5pPr>
              <a:defRPr sz="1688"/>
            </a:lvl5pPr>
            <a:lvl6pPr>
              <a:defRPr sz="1688"/>
            </a:lvl6pPr>
            <a:lvl7pPr>
              <a:defRPr sz="1688"/>
            </a:lvl7pPr>
            <a:lvl8pPr>
              <a:defRPr sz="1688"/>
            </a:lvl8pPr>
            <a:lvl9pPr>
              <a:defRPr sz="16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182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086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48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7982"/>
            <a:ext cx="3173605" cy="1225600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1482" y="287983"/>
            <a:ext cx="5392615" cy="6173205"/>
          </a:xfrm>
        </p:spPr>
        <p:txBody>
          <a:bodyPr/>
          <a:lstStyle>
            <a:lvl1pPr>
              <a:defRPr sz="3375"/>
            </a:lvl1pPr>
            <a:lvl2pPr>
              <a:defRPr sz="2953"/>
            </a:lvl2pPr>
            <a:lvl3pPr>
              <a:defRPr sz="2531"/>
            </a:lvl3pPr>
            <a:lvl4pPr>
              <a:defRPr sz="2109"/>
            </a:lvl4pPr>
            <a:lvl5pPr>
              <a:defRPr sz="2109"/>
            </a:lvl5pPr>
            <a:lvl6pPr>
              <a:defRPr sz="2109"/>
            </a:lvl6pPr>
            <a:lvl7pPr>
              <a:defRPr sz="2109"/>
            </a:lvl7pPr>
            <a:lvl8pPr>
              <a:defRPr sz="2109"/>
            </a:lvl8pPr>
            <a:lvl9pPr>
              <a:defRPr sz="210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82321" y="1513582"/>
            <a:ext cx="3173605" cy="4947606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375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90765" y="5063133"/>
            <a:ext cx="5787851" cy="597731"/>
          </a:xfrm>
        </p:spPr>
        <p:txBody>
          <a:bodyPr anchor="b"/>
          <a:lstStyle>
            <a:lvl1pPr algn="l">
              <a:defRPr sz="2109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90765" y="646286"/>
            <a:ext cx="5787851" cy="4339828"/>
          </a:xfrm>
        </p:spPr>
        <p:txBody>
          <a:bodyPr/>
          <a:lstStyle>
            <a:lvl1pPr marL="0" indent="0">
              <a:buNone/>
              <a:defRPr sz="3375"/>
            </a:lvl1pPr>
            <a:lvl2pPr marL="482209" indent="0">
              <a:buNone/>
              <a:defRPr sz="2953"/>
            </a:lvl2pPr>
            <a:lvl3pPr marL="964418" indent="0">
              <a:buNone/>
              <a:defRPr sz="2531"/>
            </a:lvl3pPr>
            <a:lvl4pPr marL="1446627" indent="0">
              <a:buNone/>
              <a:defRPr sz="2109"/>
            </a:lvl4pPr>
            <a:lvl5pPr marL="1928835" indent="0">
              <a:buNone/>
              <a:defRPr sz="2109"/>
            </a:lvl5pPr>
            <a:lvl6pPr marL="2411044" indent="0">
              <a:buNone/>
              <a:defRPr sz="2109"/>
            </a:lvl6pPr>
            <a:lvl7pPr marL="2893253" indent="0">
              <a:buNone/>
              <a:defRPr sz="2109"/>
            </a:lvl7pPr>
            <a:lvl8pPr marL="3375462" indent="0">
              <a:buNone/>
              <a:defRPr sz="2109"/>
            </a:lvl8pPr>
            <a:lvl9pPr marL="3857671" indent="0">
              <a:buNone/>
              <a:defRPr sz="2109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90765" y="5660864"/>
            <a:ext cx="5787851" cy="848878"/>
          </a:xfrm>
        </p:spPr>
        <p:txBody>
          <a:bodyPr/>
          <a:lstStyle>
            <a:lvl1pPr marL="0" indent="0">
              <a:buNone/>
              <a:defRPr sz="1477"/>
            </a:lvl1pPr>
            <a:lvl2pPr marL="482209" indent="0">
              <a:buNone/>
              <a:defRPr sz="1266"/>
            </a:lvl2pPr>
            <a:lvl3pPr marL="964418" indent="0">
              <a:buNone/>
              <a:defRPr sz="1055"/>
            </a:lvl3pPr>
            <a:lvl4pPr marL="1446627" indent="0">
              <a:buNone/>
              <a:defRPr sz="949"/>
            </a:lvl4pPr>
            <a:lvl5pPr marL="1928835" indent="0">
              <a:buNone/>
              <a:defRPr sz="949"/>
            </a:lvl5pPr>
            <a:lvl6pPr marL="2411044" indent="0">
              <a:buNone/>
              <a:defRPr sz="949"/>
            </a:lvl6pPr>
            <a:lvl7pPr marL="2893253" indent="0">
              <a:buNone/>
              <a:defRPr sz="949"/>
            </a:lvl7pPr>
            <a:lvl8pPr marL="3375462" indent="0">
              <a:buNone/>
              <a:defRPr sz="949"/>
            </a:lvl8pPr>
            <a:lvl9pPr marL="3857671" indent="0">
              <a:buNone/>
              <a:defRPr sz="94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45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84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93653" y="289658"/>
            <a:ext cx="2170444" cy="617153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2321" y="289658"/>
            <a:ext cx="6350558" cy="617153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4289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16"/>
          <p:cNvSpPr>
            <a:spLocks noGrp="1"/>
          </p:cNvSpPr>
          <p:nvPr>
            <p:ph type="title" hasCustomPrompt="1"/>
          </p:nvPr>
        </p:nvSpPr>
        <p:spPr bwMode="gray">
          <a:xfrm>
            <a:off x="548784" y="1437138"/>
            <a:ext cx="9962830" cy="3026868"/>
          </a:xfrm>
          <a:prstGeom prst="rect">
            <a:avLst/>
          </a:prstGeom>
        </p:spPr>
        <p:txBody>
          <a:bodyPr lIns="0" tIns="60949" rIns="121899" bIns="60949" anchor="b" anchorCtr="0"/>
          <a:lstStyle>
            <a:lvl1pPr marL="0" algn="l" defTabSz="1218212" rtl="0" eaLnBrk="1" latinLnBrk="0" hangingPunct="1">
              <a:lnSpc>
                <a:spcPts val="7498"/>
              </a:lnSpc>
              <a:spcBef>
                <a:spcPct val="0"/>
              </a:spcBef>
              <a:buNone/>
              <a:defRPr lang="en-US" sz="5998" b="1" kern="1200" cap="none" spc="-150" baseline="0" dirty="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</a:lstStyle>
          <a:p>
            <a:r>
              <a:rPr lang="zh-CN" altLang="en-US" dirty="0"/>
              <a:t>章节标题布局</a:t>
            </a:r>
            <a:endParaRPr lang="en-US" dirty="0"/>
          </a:p>
        </p:txBody>
      </p:sp>
      <p:sp>
        <p:nvSpPr>
          <p:cNvPr id="77" name="Subtitle 2"/>
          <p:cNvSpPr>
            <a:spLocks noGrp="1"/>
          </p:cNvSpPr>
          <p:nvPr>
            <p:ph type="subTitle" idx="1" hasCustomPrompt="1"/>
          </p:nvPr>
        </p:nvSpPr>
        <p:spPr bwMode="gray">
          <a:xfrm>
            <a:off x="548783" y="4584183"/>
            <a:ext cx="9952388" cy="457200"/>
          </a:xfrm>
          <a:prstGeom prst="rect">
            <a:avLst/>
          </a:prstGeom>
        </p:spPr>
        <p:txBody>
          <a:bodyPr lIns="0" tIns="0" rIns="0" bIns="0" anchor="b" anchorCtr="0"/>
          <a:lstStyle>
            <a:lvl1pPr marL="0" indent="0" algn="l" defTabSz="121821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8" b="0" kern="1200" cap="none" spc="0" baseline="0" dirty="0">
                <a:solidFill>
                  <a:schemeClr val="accent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6094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8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76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0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4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59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3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7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白色版</a:t>
            </a:r>
            <a:endParaRPr lang="en-US" dirty="0"/>
          </a:p>
        </p:txBody>
      </p:sp>
      <p:sp>
        <p:nvSpPr>
          <p:cNvPr id="8" name="Footer Placeholder 1"/>
          <p:cNvSpPr txBox="1"/>
          <p:nvPr userDrawn="1"/>
        </p:nvSpPr>
        <p:spPr>
          <a:xfrm>
            <a:off x="484652" y="6291019"/>
            <a:ext cx="2317663" cy="227518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1218565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096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200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7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3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5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165" algn="l" defTabSz="121856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>
                <a:solidFill>
                  <a:schemeClr val="tx1"/>
                </a:solidFill>
              </a:rPr>
              <a:t>20</a:t>
            </a:r>
            <a:r>
              <a:rPr lang="en-US" altLang="zh-CN" sz="900" dirty="0">
                <a:solidFill>
                  <a:schemeClr val="tx1"/>
                </a:solidFill>
              </a:rPr>
              <a:t>21</a:t>
            </a:r>
            <a:r>
              <a:rPr lang="en-US" sz="900" dirty="0">
                <a:solidFill>
                  <a:schemeClr val="tx1"/>
                </a:solidFill>
              </a:rPr>
              <a:t> Lenovo Internal.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722583111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ig Idea">
    <p:bg>
      <p:bgPr>
        <a:solidFill>
          <a:schemeClr val="accent3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8CB8992-3FC1-1D5A-F5A3-5A7867B1CF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FEF7F64-EAB6-F941-857A-EB6862B0738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0613" y="2284254"/>
            <a:ext cx="10670779" cy="2289502"/>
          </a:xfrm>
          <a:prstGeom prst="rect">
            <a:avLst/>
          </a:prstGeom>
        </p:spPr>
        <p:txBody>
          <a:bodyPr wrap="square" lIns="0" rIns="0" anchor="ctr" anchorCtr="0">
            <a:sp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8793" b="1">
                <a:solidFill>
                  <a:schemeClr val="bg1"/>
                </a:solidFill>
              </a:defRPr>
            </a:lvl1pPr>
            <a:lvl2pPr marL="609007" indent="0">
              <a:buNone/>
              <a:defRPr/>
            </a:lvl2pPr>
          </a:lstStyle>
          <a:p>
            <a:pPr lvl="0"/>
            <a:r>
              <a:rPr lang="en-US" dirty="0"/>
              <a:t>Click to edit big idea, statement or subject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E0CCBF-ECBB-8D0A-7760-9C09A8DCA070}"/>
              </a:ext>
            </a:extLst>
          </p:cNvPr>
          <p:cNvSpPr txBox="1"/>
          <p:nvPr userDrawn="1"/>
        </p:nvSpPr>
        <p:spPr>
          <a:xfrm>
            <a:off x="1602706" y="6401580"/>
            <a:ext cx="411587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2022 Lenovo Internal. All rights reserved.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9469496-8712-48FF-8E79-3F94F23B18A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760611" y="6348283"/>
            <a:ext cx="777442" cy="259316"/>
            <a:chOff x="547688" y="952500"/>
            <a:chExt cx="12190413" cy="406717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6AD4F68-2171-D53B-BE99-0870458AEC6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547688" y="952500"/>
              <a:ext cx="12190413" cy="40671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B934C45C-E7A5-5950-4EC8-A0C9DD2B48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22838" y="2319338"/>
              <a:ext cx="1571625" cy="1590675"/>
            </a:xfrm>
            <a:custGeom>
              <a:avLst/>
              <a:gdLst>
                <a:gd name="T0" fmla="*/ 492 w 825"/>
                <a:gd name="T1" fmla="*/ 0 h 834"/>
                <a:gd name="T2" fmla="*/ 225 w 825"/>
                <a:gd name="T3" fmla="*/ 132 h 834"/>
                <a:gd name="T4" fmla="*/ 225 w 825"/>
                <a:gd name="T5" fmla="*/ 132 h 834"/>
                <a:gd name="T6" fmla="*/ 225 w 825"/>
                <a:gd name="T7" fmla="*/ 132 h 834"/>
                <a:gd name="T8" fmla="*/ 225 w 825"/>
                <a:gd name="T9" fmla="*/ 14 h 834"/>
                <a:gd name="T10" fmla="*/ 0 w 825"/>
                <a:gd name="T11" fmla="*/ 14 h 834"/>
                <a:gd name="T12" fmla="*/ 0 w 825"/>
                <a:gd name="T13" fmla="*/ 834 h 834"/>
                <a:gd name="T14" fmla="*/ 225 w 825"/>
                <a:gd name="T15" fmla="*/ 834 h 834"/>
                <a:gd name="T16" fmla="*/ 225 w 825"/>
                <a:gd name="T17" fmla="*/ 367 h 834"/>
                <a:gd name="T18" fmla="*/ 411 w 825"/>
                <a:gd name="T19" fmla="*/ 194 h 834"/>
                <a:gd name="T20" fmla="*/ 600 w 825"/>
                <a:gd name="T21" fmla="*/ 367 h 834"/>
                <a:gd name="T22" fmla="*/ 600 w 825"/>
                <a:gd name="T23" fmla="*/ 834 h 834"/>
                <a:gd name="T24" fmla="*/ 825 w 825"/>
                <a:gd name="T25" fmla="*/ 834 h 834"/>
                <a:gd name="T26" fmla="*/ 825 w 825"/>
                <a:gd name="T27" fmla="*/ 326 h 834"/>
                <a:gd name="T28" fmla="*/ 492 w 825"/>
                <a:gd name="T29" fmla="*/ 0 h 8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25" h="834">
                  <a:moveTo>
                    <a:pt x="492" y="0"/>
                  </a:moveTo>
                  <a:cubicBezTo>
                    <a:pt x="398" y="0"/>
                    <a:pt x="291" y="44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32"/>
                    <a:pt x="225" y="132"/>
                    <a:pt x="225" y="132"/>
                  </a:cubicBezTo>
                  <a:cubicBezTo>
                    <a:pt x="225" y="14"/>
                    <a:pt x="225" y="14"/>
                    <a:pt x="225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834"/>
                    <a:pt x="0" y="834"/>
                    <a:pt x="0" y="834"/>
                  </a:cubicBezTo>
                  <a:cubicBezTo>
                    <a:pt x="225" y="834"/>
                    <a:pt x="225" y="834"/>
                    <a:pt x="225" y="834"/>
                  </a:cubicBezTo>
                  <a:cubicBezTo>
                    <a:pt x="225" y="367"/>
                    <a:pt x="225" y="367"/>
                    <a:pt x="225" y="367"/>
                  </a:cubicBezTo>
                  <a:cubicBezTo>
                    <a:pt x="225" y="283"/>
                    <a:pt x="290" y="194"/>
                    <a:pt x="411" y="194"/>
                  </a:cubicBezTo>
                  <a:cubicBezTo>
                    <a:pt x="504" y="194"/>
                    <a:pt x="600" y="259"/>
                    <a:pt x="600" y="367"/>
                  </a:cubicBezTo>
                  <a:cubicBezTo>
                    <a:pt x="600" y="834"/>
                    <a:pt x="600" y="834"/>
                    <a:pt x="600" y="834"/>
                  </a:cubicBezTo>
                  <a:cubicBezTo>
                    <a:pt x="825" y="834"/>
                    <a:pt x="825" y="834"/>
                    <a:pt x="825" y="834"/>
                  </a:cubicBezTo>
                  <a:cubicBezTo>
                    <a:pt x="825" y="326"/>
                    <a:pt x="825" y="326"/>
                    <a:pt x="825" y="326"/>
                  </a:cubicBezTo>
                  <a:cubicBezTo>
                    <a:pt x="825" y="137"/>
                    <a:pt x="690" y="0"/>
                    <a:pt x="49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584A4C2F-986E-EA32-C193-4B16258053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77225" y="2346325"/>
              <a:ext cx="1755775" cy="1563688"/>
            </a:xfrm>
            <a:custGeom>
              <a:avLst/>
              <a:gdLst>
                <a:gd name="T0" fmla="*/ 797 w 1106"/>
                <a:gd name="T1" fmla="*/ 0 h 985"/>
                <a:gd name="T2" fmla="*/ 553 w 1106"/>
                <a:gd name="T3" fmla="*/ 671 h 985"/>
                <a:gd name="T4" fmla="*/ 308 w 1106"/>
                <a:gd name="T5" fmla="*/ 0 h 985"/>
                <a:gd name="T6" fmla="*/ 0 w 1106"/>
                <a:gd name="T7" fmla="*/ 0 h 985"/>
                <a:gd name="T8" fmla="*/ 405 w 1106"/>
                <a:gd name="T9" fmla="*/ 985 h 985"/>
                <a:gd name="T10" fmla="*/ 701 w 1106"/>
                <a:gd name="T11" fmla="*/ 985 h 985"/>
                <a:gd name="T12" fmla="*/ 1106 w 1106"/>
                <a:gd name="T13" fmla="*/ 0 h 985"/>
                <a:gd name="T14" fmla="*/ 797 w 1106"/>
                <a:gd name="T15" fmla="*/ 0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106" h="985">
                  <a:moveTo>
                    <a:pt x="797" y="0"/>
                  </a:moveTo>
                  <a:lnTo>
                    <a:pt x="553" y="671"/>
                  </a:lnTo>
                  <a:lnTo>
                    <a:pt x="308" y="0"/>
                  </a:lnTo>
                  <a:lnTo>
                    <a:pt x="0" y="0"/>
                  </a:lnTo>
                  <a:lnTo>
                    <a:pt x="405" y="985"/>
                  </a:lnTo>
                  <a:lnTo>
                    <a:pt x="701" y="985"/>
                  </a:lnTo>
                  <a:lnTo>
                    <a:pt x="1106" y="0"/>
                  </a:lnTo>
                  <a:lnTo>
                    <a:pt x="79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2F89DA65-DEB8-60CE-3119-C54CD2F81D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38488" y="2319338"/>
              <a:ext cx="1630363" cy="1617663"/>
            </a:xfrm>
            <a:custGeom>
              <a:avLst/>
              <a:gdLst>
                <a:gd name="T0" fmla="*/ 697 w 856"/>
                <a:gd name="T1" fmla="*/ 582 h 848"/>
                <a:gd name="T2" fmla="*/ 462 w 856"/>
                <a:gd name="T3" fmla="*/ 669 h 848"/>
                <a:gd name="T4" fmla="*/ 280 w 856"/>
                <a:gd name="T5" fmla="*/ 602 h 848"/>
                <a:gd name="T6" fmla="*/ 856 w 856"/>
                <a:gd name="T7" fmla="*/ 363 h 848"/>
                <a:gd name="T8" fmla="*/ 758 w 856"/>
                <a:gd name="T9" fmla="*/ 135 h 848"/>
                <a:gd name="T10" fmla="*/ 434 w 856"/>
                <a:gd name="T11" fmla="*/ 0 h 848"/>
                <a:gd name="T12" fmla="*/ 0 w 856"/>
                <a:gd name="T13" fmla="*/ 424 h 848"/>
                <a:gd name="T14" fmla="*/ 459 w 856"/>
                <a:gd name="T15" fmla="*/ 848 h 848"/>
                <a:gd name="T16" fmla="*/ 840 w 856"/>
                <a:gd name="T17" fmla="*/ 691 h 848"/>
                <a:gd name="T18" fmla="*/ 697 w 856"/>
                <a:gd name="T19" fmla="*/ 582 h 848"/>
                <a:gd name="T20" fmla="*/ 265 w 856"/>
                <a:gd name="T21" fmla="*/ 261 h 848"/>
                <a:gd name="T22" fmla="*/ 438 w 856"/>
                <a:gd name="T23" fmla="*/ 179 h 848"/>
                <a:gd name="T24" fmla="*/ 612 w 856"/>
                <a:gd name="T25" fmla="*/ 294 h 848"/>
                <a:gd name="T26" fmla="*/ 219 w 856"/>
                <a:gd name="T27" fmla="*/ 457 h 848"/>
                <a:gd name="T28" fmla="*/ 265 w 856"/>
                <a:gd name="T29" fmla="*/ 261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56" h="848">
                  <a:moveTo>
                    <a:pt x="697" y="582"/>
                  </a:moveTo>
                  <a:cubicBezTo>
                    <a:pt x="602" y="652"/>
                    <a:pt x="548" y="669"/>
                    <a:pt x="462" y="669"/>
                  </a:cubicBezTo>
                  <a:cubicBezTo>
                    <a:pt x="384" y="669"/>
                    <a:pt x="323" y="645"/>
                    <a:pt x="280" y="602"/>
                  </a:cubicBezTo>
                  <a:cubicBezTo>
                    <a:pt x="856" y="363"/>
                    <a:pt x="856" y="363"/>
                    <a:pt x="856" y="363"/>
                  </a:cubicBezTo>
                  <a:cubicBezTo>
                    <a:pt x="843" y="275"/>
                    <a:pt x="810" y="195"/>
                    <a:pt x="758" y="135"/>
                  </a:cubicBezTo>
                  <a:cubicBezTo>
                    <a:pt x="682" y="47"/>
                    <a:pt x="570" y="0"/>
                    <a:pt x="434" y="0"/>
                  </a:cubicBezTo>
                  <a:cubicBezTo>
                    <a:pt x="186" y="0"/>
                    <a:pt x="0" y="183"/>
                    <a:pt x="0" y="424"/>
                  </a:cubicBezTo>
                  <a:cubicBezTo>
                    <a:pt x="0" y="672"/>
                    <a:pt x="187" y="848"/>
                    <a:pt x="459" y="848"/>
                  </a:cubicBezTo>
                  <a:cubicBezTo>
                    <a:pt x="611" y="848"/>
                    <a:pt x="767" y="776"/>
                    <a:pt x="840" y="691"/>
                  </a:cubicBezTo>
                  <a:lnTo>
                    <a:pt x="697" y="582"/>
                  </a:lnTo>
                  <a:close/>
                  <a:moveTo>
                    <a:pt x="265" y="261"/>
                  </a:moveTo>
                  <a:cubicBezTo>
                    <a:pt x="303" y="210"/>
                    <a:pt x="364" y="179"/>
                    <a:pt x="438" y="179"/>
                  </a:cubicBezTo>
                  <a:cubicBezTo>
                    <a:pt x="519" y="179"/>
                    <a:pt x="581" y="226"/>
                    <a:pt x="612" y="294"/>
                  </a:cubicBezTo>
                  <a:cubicBezTo>
                    <a:pt x="219" y="457"/>
                    <a:pt x="219" y="457"/>
                    <a:pt x="219" y="457"/>
                  </a:cubicBezTo>
                  <a:cubicBezTo>
                    <a:pt x="208" y="374"/>
                    <a:pt x="230" y="308"/>
                    <a:pt x="265" y="26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10A3EE42-0227-D024-FDFC-83E58AB899D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685925" y="1879600"/>
              <a:ext cx="1409700" cy="2030413"/>
            </a:xfrm>
            <a:custGeom>
              <a:avLst/>
              <a:gdLst>
                <a:gd name="T0" fmla="*/ 888 w 888"/>
                <a:gd name="T1" fmla="*/ 1030 h 1279"/>
                <a:gd name="T2" fmla="*/ 274 w 888"/>
                <a:gd name="T3" fmla="*/ 1030 h 1279"/>
                <a:gd name="T4" fmla="*/ 274 w 888"/>
                <a:gd name="T5" fmla="*/ 0 h 1279"/>
                <a:gd name="T6" fmla="*/ 0 w 888"/>
                <a:gd name="T7" fmla="*/ 0 h 1279"/>
                <a:gd name="T8" fmla="*/ 0 w 888"/>
                <a:gd name="T9" fmla="*/ 1279 h 1279"/>
                <a:gd name="T10" fmla="*/ 888 w 888"/>
                <a:gd name="T11" fmla="*/ 1279 h 1279"/>
                <a:gd name="T12" fmla="*/ 888 w 888"/>
                <a:gd name="T13" fmla="*/ 1030 h 1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88" h="1279">
                  <a:moveTo>
                    <a:pt x="888" y="1030"/>
                  </a:moveTo>
                  <a:lnTo>
                    <a:pt x="274" y="1030"/>
                  </a:lnTo>
                  <a:lnTo>
                    <a:pt x="274" y="0"/>
                  </a:lnTo>
                  <a:lnTo>
                    <a:pt x="0" y="0"/>
                  </a:lnTo>
                  <a:lnTo>
                    <a:pt x="0" y="1279"/>
                  </a:lnTo>
                  <a:lnTo>
                    <a:pt x="888" y="1279"/>
                  </a:lnTo>
                  <a:lnTo>
                    <a:pt x="888" y="103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B71D7F0F-66ED-5122-7E93-2CCDC18FB8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966325" y="2319338"/>
              <a:ext cx="1677988" cy="1617663"/>
            </a:xfrm>
            <a:custGeom>
              <a:avLst/>
              <a:gdLst>
                <a:gd name="T0" fmla="*/ 439 w 881"/>
                <a:gd name="T1" fmla="*/ 848 h 848"/>
                <a:gd name="T2" fmla="*/ 0 w 881"/>
                <a:gd name="T3" fmla="*/ 424 h 848"/>
                <a:gd name="T4" fmla="*/ 442 w 881"/>
                <a:gd name="T5" fmla="*/ 0 h 848"/>
                <a:gd name="T6" fmla="*/ 881 w 881"/>
                <a:gd name="T7" fmla="*/ 424 h 848"/>
                <a:gd name="T8" fmla="*/ 439 w 881"/>
                <a:gd name="T9" fmla="*/ 848 h 848"/>
                <a:gd name="T10" fmla="*/ 439 w 881"/>
                <a:gd name="T11" fmla="*/ 193 h 848"/>
                <a:gd name="T12" fmla="*/ 222 w 881"/>
                <a:gd name="T13" fmla="*/ 424 h 848"/>
                <a:gd name="T14" fmla="*/ 442 w 881"/>
                <a:gd name="T15" fmla="*/ 655 h 848"/>
                <a:gd name="T16" fmla="*/ 659 w 881"/>
                <a:gd name="T17" fmla="*/ 424 h 848"/>
                <a:gd name="T18" fmla="*/ 439 w 881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1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4" y="0"/>
                    <a:pt x="442" y="0"/>
                  </a:cubicBezTo>
                  <a:cubicBezTo>
                    <a:pt x="688" y="0"/>
                    <a:pt x="881" y="184"/>
                    <a:pt x="881" y="424"/>
                  </a:cubicBezTo>
                  <a:cubicBezTo>
                    <a:pt x="881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3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59" y="557"/>
                    <a:pt x="659" y="424"/>
                  </a:cubicBezTo>
                  <a:cubicBezTo>
                    <a:pt x="659" y="295"/>
                    <a:pt x="562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E827DA00-4AC6-AE82-9263-31F727C178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664325" y="2319338"/>
              <a:ext cx="1679575" cy="1617663"/>
            </a:xfrm>
            <a:custGeom>
              <a:avLst/>
              <a:gdLst>
                <a:gd name="T0" fmla="*/ 439 w 882"/>
                <a:gd name="T1" fmla="*/ 848 h 848"/>
                <a:gd name="T2" fmla="*/ 0 w 882"/>
                <a:gd name="T3" fmla="*/ 424 h 848"/>
                <a:gd name="T4" fmla="*/ 442 w 882"/>
                <a:gd name="T5" fmla="*/ 0 h 848"/>
                <a:gd name="T6" fmla="*/ 882 w 882"/>
                <a:gd name="T7" fmla="*/ 424 h 848"/>
                <a:gd name="T8" fmla="*/ 439 w 882"/>
                <a:gd name="T9" fmla="*/ 848 h 848"/>
                <a:gd name="T10" fmla="*/ 439 w 882"/>
                <a:gd name="T11" fmla="*/ 193 h 848"/>
                <a:gd name="T12" fmla="*/ 222 w 882"/>
                <a:gd name="T13" fmla="*/ 424 h 848"/>
                <a:gd name="T14" fmla="*/ 442 w 882"/>
                <a:gd name="T15" fmla="*/ 655 h 848"/>
                <a:gd name="T16" fmla="*/ 660 w 882"/>
                <a:gd name="T17" fmla="*/ 424 h 848"/>
                <a:gd name="T18" fmla="*/ 439 w 882"/>
                <a:gd name="T19" fmla="*/ 193 h 8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2" h="848">
                  <a:moveTo>
                    <a:pt x="439" y="848"/>
                  </a:moveTo>
                  <a:cubicBezTo>
                    <a:pt x="193" y="848"/>
                    <a:pt x="0" y="664"/>
                    <a:pt x="0" y="424"/>
                  </a:cubicBezTo>
                  <a:cubicBezTo>
                    <a:pt x="0" y="186"/>
                    <a:pt x="195" y="0"/>
                    <a:pt x="442" y="0"/>
                  </a:cubicBezTo>
                  <a:cubicBezTo>
                    <a:pt x="689" y="0"/>
                    <a:pt x="882" y="184"/>
                    <a:pt x="882" y="424"/>
                  </a:cubicBezTo>
                  <a:cubicBezTo>
                    <a:pt x="882" y="662"/>
                    <a:pt x="687" y="848"/>
                    <a:pt x="439" y="848"/>
                  </a:cubicBezTo>
                  <a:moveTo>
                    <a:pt x="439" y="193"/>
                  </a:moveTo>
                  <a:cubicBezTo>
                    <a:pt x="314" y="193"/>
                    <a:pt x="222" y="288"/>
                    <a:pt x="222" y="424"/>
                  </a:cubicBezTo>
                  <a:cubicBezTo>
                    <a:pt x="222" y="553"/>
                    <a:pt x="319" y="655"/>
                    <a:pt x="442" y="655"/>
                  </a:cubicBezTo>
                  <a:cubicBezTo>
                    <a:pt x="568" y="655"/>
                    <a:pt x="660" y="557"/>
                    <a:pt x="660" y="424"/>
                  </a:cubicBezTo>
                  <a:cubicBezTo>
                    <a:pt x="660" y="295"/>
                    <a:pt x="563" y="193"/>
                    <a:pt x="439" y="19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797"/>
            </a:p>
          </p:txBody>
        </p:sp>
      </p:grpSp>
    </p:spTree>
    <p:extLst>
      <p:ext uri="{BB962C8B-B14F-4D97-AF65-F5344CB8AC3E}">
        <p14:creationId xmlns:p14="http://schemas.microsoft.com/office/powerpoint/2010/main" val="48565576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2321" y="1687711"/>
            <a:ext cx="8681776" cy="47734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82321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5859" y="6703963"/>
            <a:ext cx="3054699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3266" y="6703963"/>
            <a:ext cx="2250831" cy="38509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E6F169F-4747-3D14-9542-4F34E8B206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01838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3" r:id="rId12"/>
    <p:sldLayoutId id="2147483674" r:id="rId13"/>
  </p:sldLayoutIdLst>
  <p:txStyles>
    <p:titleStyle>
      <a:lvl1pPr algn="ctr" defTabSz="964418" rtl="0" eaLnBrk="1" latinLnBrk="0" hangingPunct="1">
        <a:spcBef>
          <a:spcPct val="0"/>
        </a:spcBef>
        <a:buNone/>
        <a:defRPr sz="464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1657" indent="-361657" algn="l" defTabSz="964418" rtl="0" eaLnBrk="1" latinLnBrk="0" hangingPunct="1">
        <a:spcBef>
          <a:spcPct val="20000"/>
        </a:spcBef>
        <a:buFont typeface="Arial" pitchFamily="34" charset="0"/>
        <a:buChar char="•"/>
        <a:defRPr sz="3375" kern="1200">
          <a:solidFill>
            <a:schemeClr val="tx1"/>
          </a:solidFill>
          <a:latin typeface="+mn-lt"/>
          <a:ea typeface="+mn-ea"/>
          <a:cs typeface="+mn-cs"/>
        </a:defRPr>
      </a:lvl1pPr>
      <a:lvl2pPr marL="783589" indent="-301381" algn="l" defTabSz="964418" rtl="0" eaLnBrk="1" latinLnBrk="0" hangingPunct="1">
        <a:spcBef>
          <a:spcPct val="20000"/>
        </a:spcBef>
        <a:buFont typeface="Arial" pitchFamily="34" charset="0"/>
        <a:buChar char="–"/>
        <a:defRPr sz="2953" kern="1200">
          <a:solidFill>
            <a:schemeClr val="tx1"/>
          </a:solidFill>
          <a:latin typeface="+mn-lt"/>
          <a:ea typeface="+mn-ea"/>
          <a:cs typeface="+mn-cs"/>
        </a:defRPr>
      </a:lvl2pPr>
      <a:lvl3pPr marL="1205522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531" kern="1200">
          <a:solidFill>
            <a:schemeClr val="tx1"/>
          </a:solidFill>
          <a:latin typeface="+mn-lt"/>
          <a:ea typeface="+mn-ea"/>
          <a:cs typeface="+mn-cs"/>
        </a:defRPr>
      </a:lvl3pPr>
      <a:lvl4pPr marL="1687731" indent="-241104" algn="l" defTabSz="964418" rtl="0" eaLnBrk="1" latinLnBrk="0" hangingPunct="1">
        <a:spcBef>
          <a:spcPct val="20000"/>
        </a:spcBef>
        <a:buFont typeface="Arial" pitchFamily="34" charset="0"/>
        <a:buChar char="–"/>
        <a:defRPr sz="2109" kern="1200">
          <a:solidFill>
            <a:schemeClr val="tx1"/>
          </a:solidFill>
          <a:latin typeface="+mn-lt"/>
          <a:ea typeface="+mn-ea"/>
          <a:cs typeface="+mn-cs"/>
        </a:defRPr>
      </a:lvl4pPr>
      <a:lvl5pPr marL="2169940" indent="-241104" algn="l" defTabSz="964418" rtl="0" eaLnBrk="1" latinLnBrk="0" hangingPunct="1">
        <a:spcBef>
          <a:spcPct val="20000"/>
        </a:spcBef>
        <a:buFont typeface="Arial" pitchFamily="34" charset="0"/>
        <a:buChar char="»"/>
        <a:defRPr sz="2109" kern="1200">
          <a:solidFill>
            <a:schemeClr val="tx1"/>
          </a:solidFill>
          <a:latin typeface="+mn-lt"/>
          <a:ea typeface="+mn-ea"/>
          <a:cs typeface="+mn-cs"/>
        </a:defRPr>
      </a:lvl5pPr>
      <a:lvl6pPr marL="2652149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6pPr>
      <a:lvl7pPr marL="3134357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7pPr>
      <a:lvl8pPr marL="3616566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8pPr>
      <a:lvl9pPr marL="4098775" indent="-241104" algn="l" defTabSz="964418" rtl="0" eaLnBrk="1" latinLnBrk="0" hangingPunct="1">
        <a:spcBef>
          <a:spcPct val="20000"/>
        </a:spcBef>
        <a:buFont typeface="Arial" pitchFamily="34" charset="0"/>
        <a:buChar char="•"/>
        <a:defRPr sz="21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1pPr>
      <a:lvl2pPr marL="482209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2pPr>
      <a:lvl3pPr marL="964418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3pPr>
      <a:lvl4pPr marL="1446627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4pPr>
      <a:lvl5pPr marL="1928835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5pPr>
      <a:lvl6pPr marL="2411044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6pPr>
      <a:lvl7pPr marL="2893253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7pPr>
      <a:lvl8pPr marL="3375462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8pPr>
      <a:lvl9pPr marL="3857671" algn="l" defTabSz="964418" rtl="0" eaLnBrk="1" latinLnBrk="0" hangingPunct="1">
        <a:defRPr sz="18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4547" y="587720"/>
            <a:ext cx="8038370" cy="2362551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wrap="square"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6270" spc="237" noProof="1">
                <a:solidFill>
                  <a:prstClr val="black"/>
                </a:solidFill>
                <a:latin typeface="Microsoft YaHei"/>
                <a:ea typeface="Microsoft YaHei"/>
              </a:rPr>
              <a:t>2026暑期实习生项目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7737" b="1" spc="396" noProof="1">
                <a:solidFill>
                  <a:prstClr val="black"/>
                </a:solidFill>
                <a:latin typeface="Microsoft YaHei"/>
                <a:ea typeface="Microsoft YaHei"/>
              </a:rPr>
              <a:t>实习小结</a:t>
            </a:r>
            <a:endParaRPr lang="en-US" sz="7737" b="1" spc="396" dirty="0">
              <a:solidFill>
                <a:prstClr val="black"/>
              </a:solidFill>
              <a:latin typeface="Microsoft YaHei"/>
              <a:ea typeface="Microsoft YaHei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876" y="1561232"/>
            <a:ext cx="5143305" cy="3822932"/>
          </a:xfrm>
          <a:prstGeom prst="rect">
            <a:avLst/>
          </a:prstGeom>
        </p:spPr>
      </p:pic>
      <p:sp>
        <p:nvSpPr>
          <p:cNvPr id="5" name="Freeform 4"/>
          <p:cNvSpPr/>
          <p:nvPr/>
        </p:nvSpPr>
        <p:spPr>
          <a:xfrm>
            <a:off x="10805179" y="5349742"/>
            <a:ext cx="2456695" cy="2573907"/>
          </a:xfrm>
          <a:custGeom>
            <a:avLst/>
            <a:gdLst/>
            <a:ahLst/>
            <a:cxnLst/>
            <a:rect l="l" t="t" r="r" b="b"/>
            <a:pathLst>
              <a:path w="2329918" h="2441080">
                <a:moveTo>
                  <a:pt x="1864" y="1220540"/>
                </a:moveTo>
                <a:cubicBezTo>
                  <a:pt x="0" y="803767"/>
                  <a:pt x="221276" y="417853"/>
                  <a:pt x="581905" y="208926"/>
                </a:cubicBezTo>
                <a:cubicBezTo>
                  <a:pt x="942533" y="0"/>
                  <a:pt x="1387385" y="0"/>
                  <a:pt x="1748013" y="208926"/>
                </a:cubicBezTo>
                <a:cubicBezTo>
                  <a:pt x="2108642" y="417853"/>
                  <a:pt x="2329918" y="803767"/>
                  <a:pt x="2328054" y="1220540"/>
                </a:cubicBezTo>
                <a:cubicBezTo>
                  <a:pt x="2329918" y="1637313"/>
                  <a:pt x="2108642" y="2023227"/>
                  <a:pt x="1748013" y="2232153"/>
                </a:cubicBezTo>
                <a:cubicBezTo>
                  <a:pt x="1387385" y="2441080"/>
                  <a:pt x="942533" y="2441080"/>
                  <a:pt x="581905" y="2232153"/>
                </a:cubicBezTo>
                <a:cubicBezTo>
                  <a:pt x="221276" y="2023227"/>
                  <a:pt x="0" y="1637313"/>
                  <a:pt x="1864" y="1220540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6" name="Freeform 5"/>
          <p:cNvSpPr/>
          <p:nvPr/>
        </p:nvSpPr>
        <p:spPr>
          <a:xfrm>
            <a:off x="688557" y="3590627"/>
            <a:ext cx="3052154" cy="484381"/>
          </a:xfrm>
          <a:custGeom>
            <a:avLst/>
            <a:gdLst/>
            <a:ahLst/>
            <a:cxnLst/>
            <a:rect l="l" t="t" r="r" b="b"/>
            <a:pathLst>
              <a:path w="2894648" h="459384">
                <a:moveTo>
                  <a:pt x="0" y="49429"/>
                </a:moveTo>
                <a:cubicBezTo>
                  <a:pt x="0" y="22130"/>
                  <a:pt x="22129" y="0"/>
                  <a:pt x="49428" y="0"/>
                </a:cubicBezTo>
                <a:lnTo>
                  <a:pt x="2845219" y="0"/>
                </a:lnTo>
                <a:cubicBezTo>
                  <a:pt x="2872517" y="0"/>
                  <a:pt x="2894647" y="22130"/>
                  <a:pt x="2894647" y="49429"/>
                </a:cubicBezTo>
                <a:lnTo>
                  <a:pt x="2894647" y="409956"/>
                </a:lnTo>
                <a:cubicBezTo>
                  <a:pt x="2894647" y="423066"/>
                  <a:pt x="2889440" y="435638"/>
                  <a:pt x="2880170" y="444908"/>
                </a:cubicBezTo>
                <a:cubicBezTo>
                  <a:pt x="2870900" y="454177"/>
                  <a:pt x="2858328" y="459385"/>
                  <a:pt x="2845219" y="459385"/>
                </a:cubicBezTo>
                <a:lnTo>
                  <a:pt x="49428" y="459385"/>
                </a:lnTo>
                <a:cubicBezTo>
                  <a:pt x="36319" y="459385"/>
                  <a:pt x="23746" y="454177"/>
                  <a:pt x="14477" y="444908"/>
                </a:cubicBezTo>
                <a:cubicBezTo>
                  <a:pt x="5207" y="435638"/>
                  <a:pt x="0" y="423066"/>
                  <a:pt x="0" y="409956"/>
                </a:cubicBezTo>
                <a:lnTo>
                  <a:pt x="0" y="49429"/>
                </a:lnTo>
                <a:close/>
              </a:path>
            </a:pathLst>
          </a:custGeom>
          <a:solidFill>
            <a:srgbClr val="BAC5FF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2259" y="3689323"/>
            <a:ext cx="2471478" cy="562827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lIns="33478" tIns="13389" rIns="33478" bIns="13389" rtlCol="0" anchor="t">
            <a:spAutoFit/>
          </a:bodyPr>
          <a:lstStyle/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AI Lab - 毛泽辉</a:t>
            </a:r>
            <a:endParaRPr lang="en-US" sz="1588" b="1" spc="84" dirty="0">
              <a:solidFill>
                <a:srgbClr val="4E51FF"/>
              </a:solidFill>
              <a:latin typeface="Microsoft YaHei"/>
              <a:ea typeface="Microsoft YaHei"/>
            </a:endParaRPr>
          </a:p>
          <a:p>
            <a:pPr defTabSz="964140" latinLnBrk="1">
              <a:lnSpc>
                <a:spcPct val="113400"/>
              </a:lnSpc>
            </a:pPr>
            <a:r>
              <a:rPr lang="zh-CN" altLang="en-US" sz="1588" b="1" spc="84" noProof="1">
                <a:solidFill>
                  <a:srgbClr val="4E51FF"/>
                </a:solidFill>
                <a:latin typeface="Microsoft YaHei"/>
                <a:ea typeface="Microsoft YaHei"/>
              </a:rPr>
              <a:t>时间：6.15-8.25</a:t>
            </a:r>
            <a:endParaRPr lang="en-US" sz="1160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Freeform 7"/>
          <p:cNvSpPr/>
          <p:nvPr/>
        </p:nvSpPr>
        <p:spPr>
          <a:xfrm>
            <a:off x="10163370" y="6075040"/>
            <a:ext cx="252213" cy="264247"/>
          </a:xfrm>
          <a:custGeom>
            <a:avLst/>
            <a:gdLst/>
            <a:ahLst/>
            <a:cxnLst/>
            <a:rect l="l" t="t" r="r" b="b"/>
            <a:pathLst>
              <a:path w="239197" h="250610">
                <a:moveTo>
                  <a:pt x="191" y="125305"/>
                </a:moveTo>
                <a:cubicBezTo>
                  <a:pt x="0" y="82518"/>
                  <a:pt x="22717" y="42898"/>
                  <a:pt x="59740" y="21449"/>
                </a:cubicBezTo>
                <a:cubicBezTo>
                  <a:pt x="96763" y="0"/>
                  <a:pt x="142433" y="0"/>
                  <a:pt x="179457" y="21449"/>
                </a:cubicBezTo>
                <a:cubicBezTo>
                  <a:pt x="216480" y="42898"/>
                  <a:pt x="239197" y="82518"/>
                  <a:pt x="239006" y="125305"/>
                </a:cubicBezTo>
                <a:cubicBezTo>
                  <a:pt x="239197" y="168092"/>
                  <a:pt x="216480" y="207711"/>
                  <a:pt x="179457" y="229161"/>
                </a:cubicBezTo>
                <a:cubicBezTo>
                  <a:pt x="142433" y="250610"/>
                  <a:pt x="96763" y="250610"/>
                  <a:pt x="59740" y="229161"/>
                </a:cubicBezTo>
                <a:cubicBezTo>
                  <a:pt x="22717" y="207711"/>
                  <a:pt x="0" y="168092"/>
                  <a:pt x="191" y="125305"/>
                </a:cubicBezTo>
                <a:close/>
              </a:path>
            </a:pathLst>
          </a:custGeom>
          <a:solidFill>
            <a:srgbClr val="F7658A"/>
          </a:solidFill>
        </p:spPr>
        <p:txBody>
          <a:bodyPr lIns="133911" rIns="133911" rtlCol="0" anchor="ctr"/>
          <a:lstStyle/>
          <a:p>
            <a:pPr defTabSz="964140"/>
            <a:endParaRPr lang="en-US" sz="1160">
              <a:solidFill>
                <a:prstClr val="black"/>
              </a:solidFill>
              <a:latin typeface="Calibri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标题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呈现大纲</a:t>
            </a:r>
          </a:p>
        </p:txBody>
      </p:sp>
      <p:sp>
        <p:nvSpPr>
          <p:cNvPr id="11" name="内容占位符 10"/>
          <p:cNvSpPr>
            <a:spLocks noGrp="1"/>
          </p:cNvSpPr>
          <p:nvPr>
            <p:ph sz="half" idx="1"/>
          </p:nvPr>
        </p:nvSpPr>
        <p:spPr/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自我介绍</a:t>
            </a:r>
            <a:endParaRPr lang="en-US" altLang="zh-CN" sz="3375" dirty="0">
              <a:latin typeface="Calibri" pitchFamily="34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工作完成情况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实习体会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2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2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FA2033-90E1-4D07-BDB7-083C694DB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自我介绍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60D437-1D6F-4A0B-A08E-37BDD1B158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595657"/>
            <a:ext cx="11596721" cy="4773477"/>
          </a:xfrm>
        </p:spPr>
        <p:txBody>
          <a:bodyPr wrap="square"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教育背景</a:t>
            </a:r>
            <a:endParaRPr lang="en-US" altLang="zh-CN" dirty="0">
              <a:latin typeface="Calibri" pitchFamily="34" charset="0"/>
            </a:endParaRP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本科：浙江大学 物理学系</a:t>
            </a:r>
          </a:p>
          <a:p>
            <a:pPr marL="2520000" lvl="1">
              <a:lnSpc>
                <a:spcPct val="30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1800" noProof="1">
                <a:latin typeface="Segoe UI"/>
                <a:ea typeface="微软雅黑"/>
              </a:rPr>
              <a:t>硕士：南洋理工大学 应用人工智能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目前职位：通用人工智能研究　｜　导师：张亚红</a:t>
            </a:r>
            <a:endParaRPr lang="en-US" altLang="zh-CN" sz="2200" noProof="1">
              <a:latin typeface="Segoe UI"/>
              <a:ea typeface="微软雅黑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工作内容简介：Agent 自进化方向 —— 复现前沿论文，并探索将方法泛化到新的数据场景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</a:pPr>
            <a:r>
              <a:rPr lang="zh-CN" altLang="en-US" sz="2200" noProof="1">
                <a:latin typeface="Segoe UI"/>
                <a:ea typeface="微软雅黑"/>
              </a:rPr>
              <a:t>个人爱好：球类运动、游戏、动漫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74E5A5-F6CF-47AF-9316-A48ADEC9A5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3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穿黑色衣服的小孩&#10;&#10;AI 生成的内容可能不正确。">
            <a:extLst>
              <a:ext uri="{FF2B5EF4-FFF2-40B4-BE49-F238E27FC236}">
                <a16:creationId xmlns:a16="http://schemas.microsoft.com/office/drawing/2014/main" id="{396CF5DE-9979-17AA-A4AF-2E82259888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41280" y="457200"/>
            <a:ext cx="1645920" cy="1645920"/>
          </a:xfrm>
          <a:prstGeom prst="rect">
            <a:avLst/>
          </a:prstGeom>
        </p:spPr>
      </p:pic>
      <p:pic>
        <p:nvPicPr>
          <p:cNvPr id="8" name="图片 7" descr="徽标&#10;&#10;AI 生成的内容可能不正确。">
            <a:extLst>
              <a:ext uri="{FF2B5EF4-FFF2-40B4-BE49-F238E27FC236}">
                <a16:creationId xmlns:a16="http://schemas.microsoft.com/office/drawing/2014/main" id="{D59473AF-FC5E-3CB6-CDE3-00E73FE293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101" y="2304798"/>
            <a:ext cx="1212289" cy="964496"/>
          </a:xfrm>
          <a:prstGeom prst="rect">
            <a:avLst/>
          </a:prstGeom>
        </p:spPr>
      </p:pic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DEA02CF3-0ED7-2BF7-E33C-C224E7D610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321" y="3369786"/>
            <a:ext cx="2183311" cy="783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81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A63695-6735-4CD9-BD4C-80E9698F26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自进化调研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802A3-7BFB-4341-AA58-ACF0DC4170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632" y="1600200"/>
            <a:ext cx="5303520" cy="4773168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什么是自进化</a:t>
            </a:r>
            <a:endParaRPr lang="en-US" altLang="zh-CN" dirty="0"/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部署之后仍在变强：把交互中产生的</a:t>
            </a:r>
            <a:r>
              <a:rPr lang="zh-CN" altLang="en-US" sz="1400" b="1" noProof="1">
                <a:latin typeface="Segoe UI"/>
                <a:ea typeface="微软雅黑"/>
              </a:rPr>
              <a:t>经验</a:t>
            </a:r>
            <a:r>
              <a:rPr lang="zh-CN" altLang="en-US" sz="1400" noProof="1">
                <a:latin typeface="Segoe UI"/>
                <a:ea typeface="微软雅黑"/>
              </a:rPr>
              <a:t>持续转化为自身能力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经验更新到哪一层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大致可分为五个层面：技能 / 记忆 / 环境 / </a:t>
            </a:r>
            <a:r>
              <a:rPr lang="zh-CN" altLang="en-US" sz="1400" b="1" noProof="1">
                <a:latin typeface="Segoe UI"/>
                <a:ea typeface="微软雅黑"/>
              </a:rPr>
              <a:t>模型权重</a:t>
            </a:r>
            <a:r>
              <a:rPr lang="zh-CN" altLang="en-US" sz="1400" noProof="1">
                <a:latin typeface="Segoe UI"/>
                <a:ea typeface="微软雅黑"/>
              </a:rPr>
              <a:t> / 元控制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难点在哪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不在 RL 算法本身，而在“经验 → 更新”的系统工程：信号怎么提取、训练怎么在真实运行时里跑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我的坐标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OpenClaw-RL</a:t>
            </a:r>
            <a:r>
              <a:rPr lang="zh-CN" altLang="en-US" sz="1400" noProof="1">
                <a:latin typeface="Segoe UI"/>
                <a:ea typeface="微软雅黑"/>
              </a:rPr>
              <a:t> ＝ </a:t>
            </a:r>
            <a:r>
              <a:rPr lang="zh-CN" altLang="en-US" sz="1400" b="1" noProof="1">
                <a:latin typeface="Segoe UI"/>
                <a:ea typeface="微软雅黑"/>
              </a:rPr>
              <a:t>模型权重</a:t>
            </a:r>
            <a:r>
              <a:rPr lang="zh-CN" altLang="en-US" sz="1400" noProof="1">
                <a:latin typeface="Segoe UI"/>
                <a:ea typeface="微软雅黑"/>
              </a:rPr>
              <a:t>这一层，训练直接跑在真实对话流中 —— 对话本身就是训练信号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E1BF21-69A6-41E3-BFEA-C098016B98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4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331720"/>
            <a:ext cx="5897880" cy="333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621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632" y="289657"/>
            <a:ext cx="6858000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OpenClaw-RL 实现方法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687711"/>
            <a:ext cx="6858000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① 三个角色，一套真实环境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Simulator（Qwen3-32B）按人设扮演 Student / TA / Teacher，在 OpenClaw 里与 Policy（Qwen3-4B）对话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② 两种训练顺序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b="1" noProof="1">
                <a:latin typeface="Segoe UI"/>
                <a:ea typeface="微软雅黑"/>
              </a:rPr>
              <a:t>Separate</a:t>
            </a:r>
            <a:r>
              <a:rPr lang="zh-CN" altLang="en-US" sz="1400" noProof="1">
                <a:latin typeface="Segoe UI"/>
                <a:ea typeface="微软雅黑"/>
              </a:rPr>
              <a:t>（本次已完成）：三角色各训一个模型，须依次进行　｜　</a:t>
            </a:r>
            <a:r>
              <a:rPr lang="zh-CN" altLang="en-US" sz="1400" b="1" noProof="1">
                <a:latin typeface="Segoe UI"/>
                <a:ea typeface="微软雅黑"/>
              </a:rPr>
              <a:t>Joint</a:t>
            </a:r>
            <a:r>
              <a:rPr lang="zh-CN" altLang="en-US" sz="1400" noProof="1">
                <a:latin typeface="Segoe UI"/>
                <a:ea typeface="微软雅黑"/>
              </a:rPr>
              <a:t>：三角色共享一个模型，同时训练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③ 一次回复，两条去向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对话循环：回复照常送回用户　｜　训练循环：同一次回复交给判官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④ 两类信号，同一个判官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Eval 判官答“好不好”→ GRPO；Hint 判官答“该怎么改”→ OPD。同一份 PRM 权重，只是提示词不同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600" b="1" noProof="1">
                <a:latin typeface="Segoe UI"/>
                <a:ea typeface="微软雅黑"/>
              </a:rPr>
              <a:t>⑤ 一次反传，权重回流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zh-CN" altLang="en-US" sz="1400" noProof="1">
                <a:latin typeface="Segoe UI"/>
                <a:ea typeface="微软雅黑"/>
              </a:rPr>
              <a:t>两个损失加权合并后一次更新，新权重同步回线上 Policy</a:t>
            </a:r>
          </a:p>
          <a:p>
            <a:pPr marL="0" indent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zh-CN" altLang="en-US" sz="1600" noProof="1">
                <a:latin typeface="Segoe UI"/>
                <a:ea typeface="微软雅黑"/>
              </a:rPr>
              <a:t>训练与对话</a:t>
            </a:r>
            <a:r>
              <a:rPr lang="zh-CN" altLang="en-US" sz="1600" b="1" noProof="1">
                <a:latin typeface="Segoe UI"/>
                <a:ea typeface="微软雅黑"/>
              </a:rPr>
              <a:t>异步并行</a:t>
            </a:r>
            <a:r>
              <a:rPr lang="zh-CN" altLang="en-US" sz="1600" noProof="1">
                <a:latin typeface="Segoe UI"/>
                <a:ea typeface="微软雅黑"/>
              </a:rPr>
              <a:t>：回应照常送出，权重在线更新，全程不停机</a:t>
            </a: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B2743E83-F1A3-D176-F18E-8F9D99B55A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8265" y="320040"/>
            <a:ext cx="4400374" cy="6217920"/>
          </a:xfrm>
          <a:prstGeom prst="rect">
            <a:avLst/>
          </a:prstGeom>
        </p:spPr>
      </p:pic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5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复现实验结果</a:t>
            </a:r>
          </a:p>
        </p:txBody>
      </p:sp>
      <p:sp>
        <p:nvSpPr>
          <p:cNvPr id="8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6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481328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300" b="1" noProof="1">
                <a:latin typeface="Segoe UI"/>
                <a:ea typeface="微软雅黑"/>
              </a:rPr>
              <a:t>论文 Table 3 · 达到收敛所需的 session 数（越小越好）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1865376"/>
            <a:ext cx="5074920" cy="145809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4632" y="3456432"/>
            <a:ext cx="5074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zh-CN" altLang="en-US" sz="1100" b="0" noProof="1">
                <a:latin typeface="Segoe UI"/>
                <a:ea typeface="微软雅黑"/>
              </a:rPr>
              <a:t>高亮格 19.2 = 本次复现对应的 Separate / Student / Hybrid 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931920"/>
            <a:ext cx="5074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本次复现结果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论文（5 次独立试验均值）　</a:t>
            </a:r>
            <a:r>
              <a:rPr lang="zh-CN" altLang="en-US" sz="2400" b="1" noProof="1">
                <a:latin typeface="Segoe UI"/>
                <a:ea typeface="微软雅黑"/>
              </a:rPr>
              <a:t>19.2</a:t>
            </a:r>
          </a:p>
          <a:p>
            <a:pPr>
              <a:spcAft>
                <a:spcPts val="200"/>
              </a:spcAft>
            </a:pPr>
            <a:r>
              <a:rPr lang="zh-CN" altLang="en-US" sz="1200" noProof="1">
                <a:latin typeface="Segoe UI"/>
                <a:ea typeface="微软雅黑"/>
              </a:rPr>
              <a:t>本次复现（单次运行）　</a:t>
            </a:r>
            <a:r>
              <a:rPr lang="zh-CN" altLang="en-US" sz="2400" b="1" noProof="1">
                <a:latin typeface="Segoe UI"/>
                <a:ea typeface="微软雅黑"/>
              </a:rPr>
              <a:t>20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配置：Policy / PRM = Qwen3-4B-Thinking-2507</a:t>
            </a:r>
          </a:p>
          <a:p>
            <a:pPr>
              <a:lnSpc>
                <a:spcPct val="115000"/>
              </a:lnSpc>
              <a:spcBef>
                <a:spcPts val="1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　　　Simulator = DeepSeek-V4-Flash　｜　GSM8K　｜　Separate-Student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判定：rule-based，连续 3 个 session 的 Turn 1 回复均满足偏好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200"/>
              </a:spcAft>
            </a:pPr>
            <a:r>
              <a:rPr lang="zh-CN" altLang="en-US" sz="1050" noProof="1">
                <a:latin typeface="Segoe UI"/>
                <a:ea typeface="微软雅黑"/>
              </a:rPr>
              <a:t>第 18 个 session 起共 15 次有效回复，14 次 Turn 1 直接达标，仅 1 次退化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6514424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321" y="289657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工作完成情况 ｜ 方法泛化方案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632" y="1536192"/>
            <a:ext cx="5212080" cy="4983480"/>
          </a:xfrm>
        </p:spPr>
        <p:txBody>
          <a:bodyPr wrap="square">
            <a:normAutofit lnSpcReduction="10000"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50" b="1" noProof="1">
                <a:latin typeface="Segoe UI"/>
                <a:ea typeface="微软雅黑"/>
              </a:rPr>
              <a:t>① 为什么做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50" noProof="1">
                <a:latin typeface="Segoe UI"/>
                <a:ea typeface="微软雅黑"/>
              </a:rPr>
              <a:t>方法已在 Personal Agent 场景复现校准，换到 </a:t>
            </a:r>
            <a:r>
              <a:rPr lang="zh-CN" altLang="en-US" sz="1250" b="1" noProof="1">
                <a:latin typeface="Segoe UI"/>
                <a:ea typeface="微软雅黑"/>
              </a:rPr>
              <a:t>MetaClaw-Bench</a:t>
            </a:r>
            <a:r>
              <a:rPr lang="zh-CN" altLang="en-US" sz="1250" noProof="1">
                <a:latin typeface="Segoe UI"/>
                <a:ea typeface="微软雅黑"/>
              </a:rPr>
              <a:t>（另一篇论文的评测基准，30 天连续任务流）验证普适性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50" b="1" noProof="1">
                <a:latin typeface="Segoe UI"/>
                <a:ea typeface="微软雅黑"/>
              </a:rPr>
              <a:t>② 怎么迁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50" noProof="1">
                <a:latin typeface="Segoe UI"/>
                <a:ea typeface="微软雅黑"/>
              </a:rPr>
              <a:t>训练主干不动：Megatron + slime、GRPO + OPD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50" b="1" noProof="1">
                <a:latin typeface="Segoe UI"/>
                <a:ea typeface="微软雅黑"/>
              </a:rPr>
              <a:t>两类信号换来源</a:t>
            </a:r>
            <a:r>
              <a:rPr lang="zh-CN" altLang="en-US" sz="1250" noProof="1">
                <a:latin typeface="Segoe UI"/>
                <a:ea typeface="微软雅黑"/>
              </a:rPr>
              <a:t>：</a:t>
            </a:r>
            <a:r>
              <a:rPr lang="zh-CN" altLang="en-US" sz="1250" b="1" noProof="1">
                <a:latin typeface="Segoe UI"/>
                <a:ea typeface="微软雅黑"/>
              </a:rPr>
              <a:t>round 最终轮次</a:t>
            </a:r>
            <a:r>
              <a:rPr lang="zh-CN" altLang="en-US" sz="1250" noProof="1">
                <a:latin typeface="Segoe UI"/>
                <a:ea typeface="微软雅黑"/>
              </a:rPr>
              <a:t>的评估与指令信号，均改由 Bench 自身的确定性反馈提供，不再需要 LLM 判官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50" b="1" noProof="1">
                <a:latin typeface="Segoe UI"/>
                <a:ea typeface="微软雅黑"/>
              </a:rPr>
              <a:t>环境换掉</a:t>
            </a:r>
            <a:r>
              <a:rPr lang="zh-CN" altLang="en-US" sz="1250" noProof="1">
                <a:latin typeface="Segoe UI"/>
                <a:ea typeface="微软雅黑"/>
              </a:rPr>
              <a:t>：从三角色对话（GSM8K）改为模型直接当 CLI agent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50" b="1" noProof="1">
                <a:latin typeface="Segoe UI"/>
                <a:ea typeface="微软雅黑"/>
              </a:rPr>
              <a:t>补一个新部件</a:t>
            </a:r>
            <a:r>
              <a:rPr lang="zh-CN" altLang="en-US" sz="1250" noProof="1">
                <a:latin typeface="Segoe UI"/>
                <a:ea typeface="微软雅黑"/>
              </a:rPr>
              <a:t>：多轮 tool-call 的</a:t>
            </a:r>
            <a:r>
              <a:rPr lang="zh-CN" altLang="en-US" sz="1250" b="1" noProof="1">
                <a:latin typeface="Segoe UI"/>
                <a:ea typeface="微软雅黑"/>
              </a:rPr>
              <a:t>中间轮次</a:t>
            </a:r>
            <a:r>
              <a:rPr lang="zh-CN" altLang="en-US" sz="1250" noProof="1">
                <a:latin typeface="Segoe UI"/>
                <a:ea typeface="微软雅黑"/>
              </a:rPr>
              <a:t>另用步骤判官单独打分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50" b="1" noProof="1">
                <a:latin typeface="Segoe UI"/>
                <a:ea typeface="微软雅黑"/>
              </a:rPr>
              <a:t>③ 结果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50" noProof="1">
                <a:latin typeface="Segoe UI"/>
                <a:ea typeface="微软雅黑"/>
              </a:rPr>
              <a:t>Acc. 17.8% → </a:t>
            </a:r>
            <a:r>
              <a:rPr lang="zh-CN" altLang="en-US" sz="1250" b="1" noProof="1">
                <a:latin typeface="Segoe UI"/>
                <a:ea typeface="微软雅黑"/>
              </a:rPr>
              <a:t>37.3%</a:t>
            </a:r>
            <a:r>
              <a:rPr lang="zh-CN" altLang="en-US" sz="1250" noProof="1">
                <a:latin typeface="Segoe UI"/>
                <a:ea typeface="微软雅黑"/>
              </a:rPr>
              <a:t>（</a:t>
            </a:r>
            <a:r>
              <a:rPr lang="zh-CN" altLang="en-US" sz="1250" b="1" noProof="1">
                <a:latin typeface="Segoe UI"/>
                <a:ea typeface="微软雅黑"/>
              </a:rPr>
              <a:t>+19.5pt</a:t>
            </a:r>
            <a:r>
              <a:rPr lang="zh-CN" altLang="en-US" sz="1250" noProof="1">
                <a:latin typeface="Segoe UI"/>
                <a:ea typeface="微软雅黑"/>
              </a:rPr>
              <a:t>）　｜　Compl. 0.0% → </a:t>
            </a:r>
            <a:r>
              <a:rPr lang="zh-CN" altLang="en-US" sz="1250" b="1" noProof="1">
                <a:latin typeface="Segoe UI"/>
                <a:ea typeface="微软雅黑"/>
              </a:rPr>
              <a:t>13.9%</a:t>
            </a:r>
            <a:r>
              <a:rPr lang="zh-CN" altLang="en-US" sz="1250" noProof="1">
                <a:latin typeface="Segoe UI"/>
                <a:ea typeface="微软雅黑"/>
              </a:rPr>
              <a:t>（</a:t>
            </a:r>
            <a:r>
              <a:rPr lang="zh-CN" altLang="en-US" sz="1250" b="1" noProof="1">
                <a:latin typeface="Segoe UI"/>
                <a:ea typeface="微软雅黑"/>
              </a:rPr>
              <a:t>首次非零</a:t>
            </a:r>
            <a:r>
              <a:rPr lang="zh-CN" altLang="en-US" sz="1250" noProof="1">
                <a:latin typeface="Segoe UI"/>
                <a:ea typeface="微软雅黑"/>
              </a:rPr>
              <a:t>）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50" noProof="1">
                <a:latin typeface="Segoe UI"/>
                <a:ea typeface="微软雅黑"/>
              </a:rPr>
              <a:t>出分口径与论文 Table 1 一致 —— 同一趟训练运行全程实时聚合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lang="zh-CN" altLang="en-US" sz="1450" b="1" noProof="1">
                <a:latin typeface="Segoe UI"/>
                <a:ea typeface="微软雅黑"/>
              </a:rPr>
              <a:t>④ 当前问题</a:t>
            </a:r>
          </a:p>
          <a:p>
            <a:pPr lvl="1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lang="zh-CN" altLang="en-US" sz="1250" noProof="1">
                <a:latin typeface="Segoe UI"/>
                <a:ea typeface="微软雅黑"/>
              </a:rPr>
              <a:t>训练还跑不满 30 天，后期陷入长思考空转；评测走训练自身 harness，与官方独立 bench 不完全同构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7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691640"/>
            <a:ext cx="5989320" cy="39647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5765180"/>
            <a:ext cx="5989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lang="zh-CN" altLang="en-US" sz="1100" noProof="1">
                <a:latin typeface="Segoe UI"/>
                <a:ea typeface="微软雅黑"/>
              </a:rPr>
              <a:t>本次仅迁移 RL 训练方法，不含 MetaClaw 技能库；模型与评测环境均不同，与论文各行为数量级参照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49569-EFCA-48F1-B283-8821975D3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46698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实习收获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2840D4-3208-44BE-9122-D0BFBA98A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18681" y="1534288"/>
            <a:ext cx="8898569" cy="4773477"/>
          </a:xfrm>
        </p:spPr>
        <p:txBody>
          <a:bodyPr wrap="square"/>
          <a:lstStyle/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收获一 ｜ 对 Agent 自进化形成了系统认知</a:t>
            </a:r>
            <a:endParaRPr lang="en-US" altLang="zh-CN" dirty="0">
              <a:latin typeface="Calibri" pitchFamily="34" charset="0"/>
            </a:endParaRP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结论</a:t>
            </a:r>
            <a:r>
              <a:rPr lang="zh-CN" altLang="en-US" sz="1500" noProof="1">
                <a:latin typeface="Segoe UI"/>
                <a:ea typeface="微软雅黑"/>
              </a:rPr>
              <a:t>：自进化是通往 AGI 的必要路径；当前没有一条技术路线是完备的，值得多方案并行探索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必要性</a:t>
            </a:r>
            <a:r>
              <a:rPr lang="zh-CN" altLang="en-US" sz="1500" noProof="1">
                <a:latin typeface="Segoe UI"/>
                <a:ea typeface="微软雅黑"/>
              </a:rPr>
              <a:t>：模型上线即冻结，而用户任务分布持续漂移 —— 能力衰减是必然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技术谱系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非参数化</a:t>
            </a:r>
            <a:r>
              <a:rPr lang="zh-CN" altLang="en-US" sz="1500" noProof="1">
                <a:latin typeface="Segoe UI"/>
                <a:ea typeface="微软雅黑"/>
              </a:rPr>
              <a:t>（记忆 / 技能库；零停机、见效快，但模型能力本身不变）　↔　</a:t>
            </a:r>
            <a:r>
              <a:rPr lang="zh-CN" altLang="en-US" sz="1500" b="1" noProof="1">
                <a:latin typeface="Segoe UI"/>
                <a:ea typeface="微软雅黑"/>
              </a:rPr>
              <a:t>参数化</a:t>
            </a:r>
            <a:r>
              <a:rPr lang="zh-CN" altLang="en-US" sz="1500" noProof="1">
                <a:latin typeface="Segoe UI"/>
                <a:ea typeface="微软雅黑"/>
              </a:rPr>
              <a:t>（权重更新；真正长能力，但代价高、传统需停机）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b="1" noProof="1">
                <a:latin typeface="Segoe UI"/>
                <a:ea typeface="微软雅黑"/>
              </a:rPr>
              <a:t>我的落点</a:t>
            </a:r>
            <a:r>
              <a:rPr lang="zh-CN" altLang="en-US" sz="1500" noProof="1">
                <a:latin typeface="Segoe UI"/>
                <a:ea typeface="微软雅黑"/>
              </a:rPr>
              <a:t>：</a:t>
            </a:r>
            <a:r>
              <a:rPr lang="zh-CN" altLang="en-US" sz="1500" b="1" noProof="1">
                <a:latin typeface="Segoe UI"/>
                <a:ea typeface="微软雅黑"/>
              </a:rPr>
              <a:t>复现并验证了 OpenClaw-RL 的核心机制</a:t>
            </a:r>
            <a:r>
              <a:rPr lang="zh-CN" altLang="en-US" sz="1500" noProof="1">
                <a:latin typeface="Segoe UI"/>
                <a:ea typeface="微软雅黑"/>
              </a:rPr>
              <a:t> —— 属于参数化一端，且把权重更新做进真实对话流，实现“边服务边进化”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收获二 ｜ 试用 Multica平台，体验了另一条技术路线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试用了自研多智能体协作平台 Multica，并在其上实际完成了一个完整产品的开发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体验到</a:t>
            </a:r>
            <a:r>
              <a:rPr lang="zh-CN" altLang="en-US" sz="1500" b="1" noProof="1">
                <a:latin typeface="Segoe UI"/>
                <a:ea typeface="微软雅黑"/>
              </a:rPr>
              <a:t>非参数化自进化</a:t>
            </a:r>
            <a:r>
              <a:rPr lang="zh-CN" altLang="en-US" sz="1500" noProof="1">
                <a:latin typeface="Segoe UI"/>
                <a:ea typeface="微软雅黑"/>
              </a:rPr>
              <a:t>的实际形态 —— 与收获一的参数化路线互为对照，印证了“两条路互补”的判断</a:t>
            </a:r>
          </a:p>
          <a:p>
            <a:pPr lvl="1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</a:pPr>
            <a:r>
              <a:rPr lang="zh-CN" altLang="en-US" sz="1500" noProof="1">
                <a:latin typeface="Segoe UI"/>
                <a:ea typeface="微软雅黑"/>
              </a:rPr>
              <a:t>直观看到了多智能体协作的优势；结合实际使用体验，向平台提出了多项改进意见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79EC64-817B-4883-9470-CDFA4EB1AD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8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7734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9635" y="265109"/>
            <a:ext cx="8681776" cy="1205508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印象最深的一件事 ｜ 联想暑期活动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3475" y="1819414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作为 </a:t>
            </a:r>
            <a:r>
              <a:rPr lang="zh-CN" altLang="en-US" sz="2400" b="1" noProof="1">
                <a:latin typeface="Segoe UI"/>
                <a:ea typeface="微软雅黑"/>
              </a:rPr>
              <a:t>AI 发起者小组组长</a:t>
            </a:r>
            <a:r>
              <a:rPr lang="zh-CN" altLang="en-US" sz="2400" noProof="1">
                <a:latin typeface="Segoe UI"/>
                <a:ea typeface="微软雅黑"/>
              </a:rPr>
              <a:t>，与其他部门的实习生组队协作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五周时间，从 0 到 1 完成了「掉了么」这个可视化产品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2800"/>
              </a:spcAft>
            </a:pPr>
            <a:r>
              <a:rPr lang="zh-CN" altLang="en-US" sz="2400" noProof="1">
                <a:latin typeface="Segoe UI"/>
                <a:ea typeface="微软雅黑"/>
              </a:rPr>
              <a:t>也看到了其他小组的成果 —— 是一次难得的横向视野</a:t>
            </a:r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9</a:t>
            </a:fld>
            <a:endParaRPr lang="en-US" dirty="0">
              <a:solidFill>
                <a:srgbClr val="000000"/>
              </a:solidFill>
            </a:endParaRPr>
          </a:p>
        </p:txBody>
      </p:sp>
      <p:pic>
        <p:nvPicPr>
          <p:cNvPr id="6" name="图片 5" descr="一群人站在桌子边&#10;&#10;AI 生成的内容可能不正确。">
            <a:extLst>
              <a:ext uri="{FF2B5EF4-FFF2-40B4-BE49-F238E27FC236}">
                <a16:creationId xmlns:a16="http://schemas.microsoft.com/office/drawing/2014/main" id="{FFED5FE0-AAF3-8EFC-3F4A-3EC21C9C8A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0654" y="689881"/>
            <a:ext cx="2923421" cy="2192138"/>
          </a:xfrm>
          <a:prstGeom prst="rect">
            <a:avLst/>
          </a:prstGeom>
        </p:spPr>
      </p:pic>
      <p:pic>
        <p:nvPicPr>
          <p:cNvPr id="8" name="图片 7" descr="会议室里的人们&#10;&#10;AI 生成的内容可能不正确。">
            <a:extLst>
              <a:ext uri="{FF2B5EF4-FFF2-40B4-BE49-F238E27FC236}">
                <a16:creationId xmlns:a16="http://schemas.microsoft.com/office/drawing/2014/main" id="{07710BDF-EC87-CA77-57FF-C58D18277B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807" y="4293423"/>
            <a:ext cx="3066556" cy="2299468"/>
          </a:xfrm>
          <a:prstGeom prst="rect">
            <a:avLst/>
          </a:prstGeom>
        </p:spPr>
      </p:pic>
      <p:pic>
        <p:nvPicPr>
          <p:cNvPr id="10" name="图片 9" descr="会议室里的人们&#10;&#10;AI 生成的内容可能不正确。">
            <a:extLst>
              <a:ext uri="{FF2B5EF4-FFF2-40B4-BE49-F238E27FC236}">
                <a16:creationId xmlns:a16="http://schemas.microsoft.com/office/drawing/2014/main" id="{D574F725-B7FD-14B6-E230-4BBE6C5C8F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8122" y="4293422"/>
            <a:ext cx="3066555" cy="229946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9E27CA-D9EB-499A-B32D-15D44741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12" y="289657"/>
            <a:ext cx="8681776" cy="1205508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zh-CN" altLang="en-US" sz="2600" b="1" noProof="1">
                <a:latin typeface="Segoe UI"/>
                <a:ea typeface="微软雅黑"/>
              </a:rPr>
              <a:t>职业规划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8F1F8E-D9F9-42E0-8A09-861DD64407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99171" y="1616895"/>
            <a:ext cx="8681776" cy="4773477"/>
          </a:xfrm>
        </p:spPr>
        <p:txBody>
          <a:bodyPr wrap="square"/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职业目标</a:t>
            </a:r>
            <a:r>
              <a:rPr lang="zh-CN" altLang="en-US" sz="1800" noProof="1">
                <a:latin typeface="Segoe UI"/>
                <a:ea typeface="微软雅黑"/>
              </a:rPr>
              <a:t>：成为能在所处方向上做出行业领先成果的研究员 —— </a:t>
            </a:r>
            <a:r>
              <a:rPr lang="zh-CN" altLang="en-US" sz="1800" b="1" noProof="1">
                <a:latin typeface="Segoe UI"/>
                <a:ea typeface="微软雅黑"/>
              </a:rPr>
              <a:t>从跟随前沿，到定义前沿</a:t>
            </a:r>
            <a:endParaRPr lang="en-US" altLang="zh-CN" dirty="0"/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短期</a:t>
            </a:r>
            <a:r>
              <a:rPr lang="zh-CN" altLang="en-US" sz="1800" noProof="1">
                <a:latin typeface="Segoe UI"/>
                <a:ea typeface="微软雅黑"/>
              </a:rPr>
              <a:t>：从“复现”走向“独立” —— 能自己判断方向价值、设计实验路径，做出经得起推敲的结果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中期</a:t>
            </a:r>
            <a:r>
              <a:rPr lang="zh-CN" altLang="en-US" sz="1800" noProof="1">
                <a:latin typeface="Segoe UI"/>
                <a:ea typeface="微软雅黑"/>
              </a:rPr>
              <a:t>：做出</a:t>
            </a:r>
            <a:r>
              <a:rPr lang="zh-CN" altLang="en-US" sz="1800" b="1" noProof="1">
                <a:latin typeface="Segoe UI"/>
                <a:ea typeface="微软雅黑"/>
              </a:rPr>
              <a:t>行业领先的成果</a:t>
            </a:r>
            <a:r>
              <a:rPr lang="zh-CN" altLang="en-US" sz="1800" noProof="1">
                <a:latin typeface="Segoe UI"/>
                <a:ea typeface="微软雅黑"/>
              </a:rPr>
              <a:t> —— 在具体问题上达到 SOTA，并推动其在真实场景中落地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长期</a:t>
            </a:r>
            <a:r>
              <a:rPr lang="zh-CN" altLang="en-US" sz="1800" noProof="1">
                <a:latin typeface="Segoe UI"/>
                <a:ea typeface="微软雅黑"/>
              </a:rPr>
              <a:t>：提出</a:t>
            </a:r>
            <a:r>
              <a:rPr lang="zh-CN" altLang="en-US" sz="1800" b="1" noProof="1">
                <a:latin typeface="Segoe UI"/>
                <a:ea typeface="微软雅黑"/>
              </a:rPr>
              <a:t>有原创性的方法或理论</a:t>
            </a:r>
            <a:r>
              <a:rPr lang="zh-CN" altLang="en-US" sz="1800" noProof="1">
                <a:latin typeface="Segoe UI"/>
                <a:ea typeface="微软雅黑"/>
              </a:rPr>
              <a:t>，在所处方向上形成影响力，让自己的工作成为别人的参照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lang="zh-CN" altLang="en-US" sz="1800" b="1" noProof="1">
                <a:latin typeface="Segoe UI"/>
                <a:ea typeface="微软雅黑"/>
              </a:rPr>
              <a:t>行动方案</a:t>
            </a:r>
            <a:r>
              <a:rPr lang="zh-CN" altLang="en-US" sz="1800" noProof="1">
                <a:latin typeface="Segoe UI"/>
                <a:ea typeface="微软雅黑"/>
              </a:rPr>
              <a:t>：在自进化主线上保持高频跟进；把复现能力沉淀为可复用的实验基建，缩短从论文到验证的周期；成果尽量对外呈现，接受同行检验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824ABD6-1ED0-4A44-B840-9239599BF4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/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/>
              <a:t>10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617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933230" y="1473126"/>
            <a:ext cx="9957805" cy="3026129"/>
          </a:xfrm>
        </p:spPr>
        <p:txBody>
          <a:bodyPr>
            <a:normAutofit/>
          </a:bodyPr>
          <a:lstStyle/>
          <a:p>
            <a:r>
              <a:rPr lang="zh-CN" altLang="en-US" sz="13797" noProof="1">
                <a:solidFill>
                  <a:schemeClr val="accent2"/>
                </a:solidFill>
              </a:rPr>
              <a:t>Q</a:t>
            </a:r>
            <a:r>
              <a:rPr lang="zh-CN" altLang="en-US" sz="13797" noProof="1">
                <a:solidFill>
                  <a:schemeClr val="accent3"/>
                </a:solidFill>
              </a:rPr>
              <a:t>&amp;</a:t>
            </a:r>
            <a:r>
              <a:rPr lang="zh-CN" altLang="en-US" sz="13797" noProof="1">
                <a:solidFill>
                  <a:schemeClr val="accent4"/>
                </a:solidFill>
              </a:rPr>
              <a:t>A</a:t>
            </a:r>
            <a:endParaRPr lang="en-US" sz="13797" dirty="0">
              <a:solidFill>
                <a:schemeClr val="accent1"/>
              </a:solidFill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2398691" y="6827996"/>
            <a:ext cx="463035" cy="163949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zh-CN"/>
            </a:defPPr>
            <a:lvl1pPr marL="0" algn="ctr" defTabSz="964418" rtl="0" eaLnBrk="1" latinLnBrk="0" hangingPunct="1">
              <a:defRPr sz="1055" kern="1200">
                <a:solidFill>
                  <a:schemeClr val="tx1"/>
                </a:solidFill>
                <a:latin typeface="微软雅黑" panose="020B0502040204020203" pitchFamily="34" charset="-122"/>
                <a:ea typeface="微软雅黑" panose="020B0502040204020203" pitchFamily="34" charset="-122"/>
                <a:cs typeface="Arial" panose="020B0604020202020204" pitchFamily="34" charset="0"/>
              </a:defRPr>
            </a:lvl1pPr>
            <a:lvl2pPr marL="482209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64418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46627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28835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11044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893253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75462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57671" algn="l" defTabSz="964418" rtl="0" eaLnBrk="1" latinLnBrk="0" hangingPunct="1">
              <a:defRPr sz="18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218212">
              <a:defRPr/>
            </a:pPr>
            <a:fld id="{6D22F896-40B5-4ADD-8801-0D06FADFA095}" type="slidenum">
              <a:rPr lang="en-US">
                <a:solidFill>
                  <a:prstClr val="black"/>
                </a:solidFill>
              </a:rPr>
              <a:pPr defTabSz="1218212">
                <a:defRPr/>
              </a:pPr>
              <a:t>11</a:t>
            </a:fld>
            <a:endParaRPr lang="en-US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id="{54CF6A62-F30D-BE3B-8824-163E6F4DB6E5}"/>
              </a:ext>
            </a:extLst>
          </p:cNvPr>
          <p:cNvGrpSpPr/>
          <p:nvPr/>
        </p:nvGrpSpPr>
        <p:grpSpPr>
          <a:xfrm>
            <a:off x="3163489" y="2363511"/>
            <a:ext cx="5865022" cy="2130977"/>
            <a:chOff x="3122505" y="1346200"/>
            <a:chExt cx="5560910" cy="2020482"/>
          </a:xfrm>
        </p:grpSpPr>
        <p:sp>
          <p:nvSpPr>
            <p:cNvPr id="2" name="TextBox 1"/>
            <p:cNvSpPr txBox="1"/>
            <p:nvPr/>
          </p:nvSpPr>
          <p:spPr>
            <a:xfrm>
              <a:off x="3122505" y="1346200"/>
              <a:ext cx="5560910" cy="1466074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10969" i="1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THANKS</a:t>
              </a:r>
            </a:p>
          </p:txBody>
        </p:sp>
        <p:sp>
          <p:nvSpPr>
            <p:cNvPr id="10" name="TextBox 1">
              <a:extLst>
                <a:ext uri="{FF2B5EF4-FFF2-40B4-BE49-F238E27FC236}">
                  <a16:creationId xmlns:a16="http://schemas.microsoft.com/office/drawing/2014/main" id="{2B692CD4-E07B-3BDB-B3CF-D41A31F90541}"/>
                </a:ext>
              </a:extLst>
            </p:cNvPr>
            <p:cNvSpPr txBox="1"/>
            <p:nvPr/>
          </p:nvSpPr>
          <p:spPr>
            <a:xfrm>
              <a:off x="3234172" y="2593189"/>
              <a:ext cx="5337576" cy="773493"/>
            </a:xfrm>
            <a:prstGeom prst="rect">
              <a:avLst/>
            </a:prstGeom>
            <a:solidFill>
              <a:srgbClr val="FFFFFF">
                <a:alpha val="0"/>
              </a:srgbClr>
            </a:solidFill>
          </p:spPr>
          <p:txBody>
            <a:bodyPr wrap="square" lIns="33486" tIns="13395" rIns="33486" bIns="13395" rtlCol="0" anchor="t">
              <a:spAutoFit/>
            </a:bodyPr>
            <a:lstStyle/>
            <a:p>
              <a:pPr algn="ctr" defTabSz="964418" latinLnBrk="1">
                <a:lnSpc>
                  <a:spcPct val="90000"/>
                </a:lnSpc>
              </a:pPr>
              <a:r>
                <a:rPr lang="zh-CN" altLang="en-US" sz="5695" i="1" spc="-158" noProof="1">
                  <a:gradFill>
                    <a:gsLst>
                      <a:gs pos="0">
                        <a:srgbClr val="F36629"/>
                      </a:gs>
                      <a:gs pos="100000">
                        <a:srgbClr val="FF9E3A"/>
                      </a:gs>
                    </a:gsLst>
                    <a:lin ang="5400000" scaled="1"/>
                  </a:gradFill>
                  <a:latin typeface="PangMenZhengDao" panose="02010600030101010101" pitchFamily="2" charset="-122"/>
                  <a:ea typeface="PangMenZhengDao" panose="02010600030101010101" pitchFamily="2" charset="-122"/>
                </a:rPr>
                <a:t>FOR WATCHING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23135686"/>
      </p:ext>
    </p:extLst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1192</Words>
  <Application>Microsoft Office PowerPoint</Application>
  <PresentationFormat>宽屏</PresentationFormat>
  <Paragraphs>96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PangMenZhengDao</vt:lpstr>
      <vt:lpstr>等线</vt:lpstr>
      <vt:lpstr>微软雅黑</vt:lpstr>
      <vt:lpstr>微软雅黑</vt:lpstr>
      <vt:lpstr>Arial</vt:lpstr>
      <vt:lpstr>Calibri</vt:lpstr>
      <vt:lpstr>Segoe UI</vt:lpstr>
      <vt:lpstr>Office Theme</vt:lpstr>
      <vt:lpstr>PowerPoint 演示文稿</vt:lpstr>
      <vt:lpstr>呈现大纲</vt:lpstr>
      <vt:lpstr>自我介绍</vt:lpstr>
      <vt:lpstr>工作完成情况 ｜ 自进化调研</vt:lpstr>
      <vt:lpstr>工作完成情况 ｜ OpenClaw-RL 实现方法</vt:lpstr>
      <vt:lpstr>工作完成情况 ｜ 复现实验结果</vt:lpstr>
      <vt:lpstr>工作完成情况 ｜ 方法泛化方案</vt:lpstr>
      <vt:lpstr>实习收获</vt:lpstr>
      <vt:lpstr>印象最深的一件事 ｜ 联想暑期活动</vt:lpstr>
      <vt:lpstr>职业规划</vt:lpstr>
      <vt:lpstr>Q&amp;A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Shuo Shuo28 Wang</dc:creator>
  <cp:lastModifiedBy>#MAO ZEHUI#</cp:lastModifiedBy>
  <cp:revision>12</cp:revision>
  <dcterms:created xsi:type="dcterms:W3CDTF">2025-08-12T09:33:41Z</dcterms:created>
  <dcterms:modified xsi:type="dcterms:W3CDTF">2026-08-21T06:57:07Z</dcterms:modified>
</cp:coreProperties>
</file>
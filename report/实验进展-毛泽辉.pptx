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70" r:id="rId2"/>
    <p:sldId id="37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70"/>
            <p14:sldId id="3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altLang="en-US" sz="1100" b="1" noProof="1"/>
              <a:t>day01-22 逐日 Acc.（%）：OPD 反馈修复 vs 只训练到 day 6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OPD 反馈修复</c:v>
                </c:pt>
              </c:strCache>
            </c:strRef>
          </c:tx>
          <c:spPr>
            <a:ln w="31750">
              <a:solidFill>
                <a:srgbClr val="C0504D"/>
              </a:solidFill>
            </a:ln>
          </c:spPr>
          <c:marker>
            <c:symbol val="diamond"/>
            <c:size val="5"/>
            <c:spPr>
              <a:solidFill>
                <a:srgbClr val="C0504D"/>
              </a:solidFill>
              <a:ln>
                <a:solidFill>
                  <a:srgbClr val="C0504D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  <c:pt idx="20">
                  <c:v>D21</c:v>
                </c:pt>
                <c:pt idx="21">
                  <c:v>D22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</c:v>
                </c:pt>
                <c:pt idx="1">
                  <c:v>53</c:v>
                </c:pt>
                <c:pt idx="2">
                  <c:v>62.5</c:v>
                </c:pt>
                <c:pt idx="3">
                  <c:v>55</c:v>
                </c:pt>
                <c:pt idx="4">
                  <c:v>71.8</c:v>
                </c:pt>
                <c:pt idx="5">
                  <c:v>40.700000000000003</c:v>
                </c:pt>
                <c:pt idx="6">
                  <c:v>15.8</c:v>
                </c:pt>
                <c:pt idx="7">
                  <c:v>39.799999999999997</c:v>
                </c:pt>
                <c:pt idx="8">
                  <c:v>29.7</c:v>
                </c:pt>
                <c:pt idx="9">
                  <c:v>38</c:v>
                </c:pt>
                <c:pt idx="10">
                  <c:v>36.700000000000003</c:v>
                </c:pt>
                <c:pt idx="11">
                  <c:v>28.2</c:v>
                </c:pt>
                <c:pt idx="12">
                  <c:v>34</c:v>
                </c:pt>
                <c:pt idx="13">
                  <c:v>23.9</c:v>
                </c:pt>
                <c:pt idx="14">
                  <c:v>13.3</c:v>
                </c:pt>
                <c:pt idx="15">
                  <c:v>35</c:v>
                </c:pt>
                <c:pt idx="16">
                  <c:v>17.899999999999999</c:v>
                </c:pt>
                <c:pt idx="17">
                  <c:v>20.8</c:v>
                </c:pt>
                <c:pt idx="18">
                  <c:v>18.2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43-4E3B-AE57-3ACC91040E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只训练到 day 6</c:v>
                </c:pt>
              </c:strCache>
            </c:strRef>
          </c:tx>
          <c:spPr>
            <a:ln w="31750">
              <a:solidFill>
                <a:srgbClr val="4F81BD"/>
              </a:solidFill>
            </a:ln>
          </c:spPr>
          <c:marker>
            <c:symbol val="diamond"/>
            <c:size val="5"/>
            <c:spPr>
              <a:solidFill>
                <a:srgbClr val="4F81BD"/>
              </a:solidFill>
              <a:ln>
                <a:solidFill>
                  <a:srgbClr val="4F81BD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  <c:pt idx="20">
                  <c:v>D21</c:v>
                </c:pt>
                <c:pt idx="21">
                  <c:v>D22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40</c:v>
                </c:pt>
                <c:pt idx="1">
                  <c:v>53</c:v>
                </c:pt>
                <c:pt idx="2">
                  <c:v>71.2</c:v>
                </c:pt>
                <c:pt idx="3">
                  <c:v>53.3</c:v>
                </c:pt>
                <c:pt idx="4">
                  <c:v>83.3</c:v>
                </c:pt>
                <c:pt idx="5">
                  <c:v>63.2</c:v>
                </c:pt>
                <c:pt idx="6">
                  <c:v>21.2</c:v>
                </c:pt>
                <c:pt idx="7">
                  <c:v>37.9</c:v>
                </c:pt>
                <c:pt idx="8">
                  <c:v>49.4</c:v>
                </c:pt>
                <c:pt idx="9">
                  <c:v>46.4</c:v>
                </c:pt>
                <c:pt idx="10">
                  <c:v>40</c:v>
                </c:pt>
                <c:pt idx="11">
                  <c:v>31.5</c:v>
                </c:pt>
                <c:pt idx="12">
                  <c:v>37.5</c:v>
                </c:pt>
                <c:pt idx="13">
                  <c:v>25.8</c:v>
                </c:pt>
                <c:pt idx="14">
                  <c:v>22.3</c:v>
                </c:pt>
                <c:pt idx="15">
                  <c:v>46.7</c:v>
                </c:pt>
                <c:pt idx="16">
                  <c:v>27</c:v>
                </c:pt>
                <c:pt idx="17">
                  <c:v>36.1</c:v>
                </c:pt>
                <c:pt idx="18">
                  <c:v>35.299999999999997</c:v>
                </c:pt>
                <c:pt idx="19">
                  <c:v>35.6</c:v>
                </c:pt>
                <c:pt idx="20">
                  <c:v>36.700000000000003</c:v>
                </c:pt>
                <c:pt idx="21">
                  <c:v>29.5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43-4E3B-AE57-3ACC91040E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E7E6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zh-CN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Click to edit Master text styles</a:t>
            </a:r>
          </a:p>
          <a:p>
            <a:pPr lvl="1"/>
            <a:r>
              <a:rPr lang="zh-CN" altLang="en-US" noProof="1"/>
              <a:t>Second level</a:t>
            </a:r>
          </a:p>
          <a:p>
            <a:pPr lvl="2"/>
            <a:r>
              <a:rPr lang="zh-CN" altLang="en-US" noProof="1"/>
              <a:t>Third level</a:t>
            </a:r>
          </a:p>
          <a:p>
            <a:pPr lvl="3"/>
            <a:r>
              <a:rPr lang="zh-CN" altLang="en-US" noProof="1"/>
              <a:t>Fourth level</a:t>
            </a:r>
          </a:p>
          <a:p>
            <a:pPr lvl="4"/>
            <a:r>
              <a:rPr lang="zh-CN" alt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  <a:p>
            <a:pPr lvl="1"/>
            <a:r>
              <a:rPr lang="zh-CN" altLang="en-US" noProof="1"/>
              <a:t>Second level</a:t>
            </a:r>
          </a:p>
          <a:p>
            <a:pPr lvl="2"/>
            <a:r>
              <a:rPr lang="zh-CN" altLang="en-US" noProof="1"/>
              <a:t>Third level</a:t>
            </a:r>
          </a:p>
          <a:p>
            <a:pPr lvl="3"/>
            <a:r>
              <a:rPr lang="zh-CN" altLang="en-US" noProof="1"/>
              <a:t>Fourth level</a:t>
            </a:r>
          </a:p>
          <a:p>
            <a:pPr lvl="4"/>
            <a:r>
              <a:rPr lang="zh-CN" alt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  <a:p>
            <a:pPr lvl="1"/>
            <a:r>
              <a:rPr lang="zh-CN" altLang="en-US" noProof="1"/>
              <a:t>Second level</a:t>
            </a:r>
          </a:p>
          <a:p>
            <a:pPr lvl="2"/>
            <a:r>
              <a:rPr lang="zh-CN" altLang="en-US" noProof="1"/>
              <a:t>Third level</a:t>
            </a:r>
          </a:p>
          <a:p>
            <a:pPr lvl="3"/>
            <a:r>
              <a:rPr lang="zh-CN" altLang="en-US" noProof="1"/>
              <a:t>Fourth level</a:t>
            </a:r>
          </a:p>
          <a:p>
            <a:pPr lvl="4"/>
            <a:r>
              <a:rPr lang="zh-CN" alt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  <a:p>
            <a:pPr lvl="1"/>
            <a:r>
              <a:rPr lang="zh-CN" altLang="en-US" noProof="1"/>
              <a:t>Second level</a:t>
            </a:r>
          </a:p>
          <a:p>
            <a:pPr lvl="2"/>
            <a:r>
              <a:rPr lang="zh-CN" altLang="en-US" noProof="1"/>
              <a:t>Third level</a:t>
            </a:r>
          </a:p>
          <a:p>
            <a:pPr lvl="3"/>
            <a:r>
              <a:rPr lang="zh-CN" altLang="en-US" noProof="1"/>
              <a:t>Fourth level</a:t>
            </a:r>
          </a:p>
          <a:p>
            <a:pPr lvl="4"/>
            <a:r>
              <a:rPr lang="zh-CN" alt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  <a:p>
            <a:pPr lvl="1"/>
            <a:r>
              <a:rPr lang="zh-CN" altLang="en-US" noProof="1"/>
              <a:t>Second level</a:t>
            </a:r>
          </a:p>
          <a:p>
            <a:pPr lvl="2"/>
            <a:r>
              <a:rPr lang="zh-CN" altLang="en-US" noProof="1"/>
              <a:t>Third level</a:t>
            </a:r>
          </a:p>
          <a:p>
            <a:pPr lvl="3"/>
            <a:r>
              <a:rPr lang="zh-CN" altLang="en-US" noProof="1"/>
              <a:t>Fourth level</a:t>
            </a:r>
          </a:p>
          <a:p>
            <a:pPr lvl="4"/>
            <a:r>
              <a:rPr lang="zh-CN" alt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  <a:p>
            <a:pPr lvl="1"/>
            <a:r>
              <a:rPr lang="zh-CN" altLang="en-US" noProof="1"/>
              <a:t>Second level</a:t>
            </a:r>
          </a:p>
          <a:p>
            <a:pPr lvl="2"/>
            <a:r>
              <a:rPr lang="zh-CN" altLang="en-US" noProof="1"/>
              <a:t>Third level</a:t>
            </a:r>
          </a:p>
          <a:p>
            <a:pPr lvl="3"/>
            <a:r>
              <a:rPr lang="zh-CN" altLang="en-US" noProof="1"/>
              <a:t>Fourth level</a:t>
            </a:r>
          </a:p>
          <a:p>
            <a:pPr lvl="4"/>
            <a:r>
              <a:rPr lang="zh-CN" alt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zh-CN" alt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Click to edit Master text styles</a:t>
            </a:r>
          </a:p>
          <a:p>
            <a:pPr lvl="1"/>
            <a:r>
              <a:rPr lang="zh-CN" altLang="en-US" noProof="1"/>
              <a:t>Second level</a:t>
            </a:r>
          </a:p>
          <a:p>
            <a:pPr lvl="2"/>
            <a:r>
              <a:rPr lang="zh-CN" altLang="en-US" noProof="1"/>
              <a:t>Third level</a:t>
            </a:r>
          </a:p>
          <a:p>
            <a:pPr lvl="3"/>
            <a:r>
              <a:rPr lang="zh-CN" altLang="en-US" noProof="1"/>
              <a:t>Fourth level</a:t>
            </a:r>
          </a:p>
          <a:p>
            <a:pPr lvl="4"/>
            <a:r>
              <a:rPr lang="zh-CN" alt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zh-CN" altLang="en-US" noProof="1"/>
              <a:t>Click to edit Master text styles</a:t>
            </a:r>
          </a:p>
          <a:p>
            <a:pPr lvl="1"/>
            <a:r>
              <a:rPr lang="zh-CN" altLang="en-US" noProof="1"/>
              <a:t>Second level</a:t>
            </a:r>
          </a:p>
          <a:p>
            <a:pPr lvl="2"/>
            <a:r>
              <a:rPr lang="zh-CN" altLang="en-US" noProof="1"/>
              <a:t>Third level</a:t>
            </a:r>
          </a:p>
          <a:p>
            <a:pPr lvl="3"/>
            <a:r>
              <a:rPr lang="zh-CN" altLang="en-US" noProof="1"/>
              <a:t>Fourth level</a:t>
            </a:r>
          </a:p>
          <a:p>
            <a:pPr lvl="4"/>
            <a:r>
              <a:rPr lang="zh-CN" alt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zh-CN" altLang="en-US" noProof="1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zh-CN" altLang="en-US" noProof="1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noProof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1"/>
              <a:t>Click to edit Master text styles</a:t>
            </a:r>
          </a:p>
          <a:p>
            <a:pPr lvl="1"/>
            <a:r>
              <a:rPr lang="zh-CN" altLang="en-US" noProof="1"/>
              <a:t>Second level</a:t>
            </a:r>
          </a:p>
          <a:p>
            <a:pPr lvl="2"/>
            <a:r>
              <a:rPr lang="zh-CN" altLang="en-US" noProof="1"/>
              <a:t>Third level</a:t>
            </a:r>
          </a:p>
          <a:p>
            <a:pPr lvl="3"/>
            <a:r>
              <a:rPr lang="zh-CN" altLang="en-US" noProof="1"/>
              <a:t>Fourth level</a:t>
            </a:r>
          </a:p>
          <a:p>
            <a:pPr lvl="4"/>
            <a:r>
              <a:rPr lang="zh-CN" alt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zh-CN" altLang="en-US" noProof="1" smtClean="0"/>
              <a:pPr/>
              <a:t>2026/8/31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zh-CN" altLang="en-US" noProof="1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534924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400" b="1" noProof="1">
                <a:latin typeface="Segoe UI"/>
                <a:ea typeface="微软雅黑"/>
              </a:rPr>
              <a:t>MetaClaw </a:t>
            </a:r>
            <a:r>
              <a:rPr lang="zh-CN" altLang="en-US" sz="2400" b="1" noProof="1">
                <a:latin typeface="Segoe UI"/>
                <a:ea typeface="微软雅黑"/>
              </a:rPr>
              <a:t>方法泛化实验进展（一）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 lnSpcReduction="10000"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整体框架</a:t>
            </a:r>
            <a:endParaRPr lang="zh-CN" altLang="en-US"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zh-CN" altLang="en-US" sz="1150" b="0" noProof="1">
                <a:latin typeface="Segoe UI"/>
                <a:ea typeface="微软雅黑"/>
              </a:rPr>
              <a:t>训练方法基于已验证过的 </a:t>
            </a:r>
            <a:r>
              <a:rPr lang="en-US" altLang="zh-CN" sz="1150" b="0" noProof="1">
                <a:latin typeface="Segoe UI"/>
                <a:ea typeface="微软雅黑"/>
              </a:rPr>
              <a:t>Hybrid RL</a:t>
            </a:r>
            <a:r>
              <a:rPr lang="zh-CN" altLang="en-US" sz="1150" b="0" noProof="1">
                <a:latin typeface="Segoe UI"/>
                <a:ea typeface="微软雅黑"/>
              </a:rPr>
              <a:t>（</a:t>
            </a:r>
            <a:r>
              <a:rPr lang="en-US" altLang="zh-CN" sz="1150" b="0" noProof="1">
                <a:latin typeface="Segoe UI"/>
                <a:ea typeface="微软雅黑"/>
              </a:rPr>
              <a:t>GRPO+OPD </a:t>
            </a:r>
            <a:r>
              <a:rPr lang="zh-CN" altLang="en-US" sz="1150" b="0" noProof="1">
                <a:latin typeface="Segoe UI"/>
                <a:ea typeface="微软雅黑"/>
              </a:rPr>
              <a:t>混合损失），原样应用在 </a:t>
            </a:r>
            <a:r>
              <a:rPr lang="en-US" altLang="zh-CN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b="0" noProof="1">
                <a:latin typeface="Segoe UI"/>
                <a:ea typeface="微软雅黑"/>
              </a:rPr>
              <a:t>（</a:t>
            </a:r>
            <a:r>
              <a:rPr lang="en-US" altLang="zh-CN" sz="1150" b="0" noProof="1">
                <a:latin typeface="Segoe UI"/>
                <a:ea typeface="微软雅黑"/>
              </a:rPr>
              <a:t>30 </a:t>
            </a:r>
            <a:r>
              <a:rPr lang="zh-CN" altLang="en-US" sz="1150" b="0" noProof="1">
                <a:latin typeface="Segoe UI"/>
                <a:ea typeface="微软雅黑"/>
              </a:rPr>
              <a:t>天连续任务流的评测基准）上验证泛化性</a:t>
            </a:r>
            <a:r>
              <a:rPr lang="en-US" altLang="zh-CN" sz="1150" b="0" noProof="1">
                <a:latin typeface="Segoe UI"/>
                <a:ea typeface="微软雅黑"/>
              </a:rPr>
              <a:t>——</a:t>
            </a:r>
            <a:r>
              <a:rPr lang="zh-CN" altLang="en-US" sz="1150" b="0" noProof="1">
                <a:latin typeface="Segoe UI"/>
                <a:ea typeface="微软雅黑"/>
              </a:rPr>
              <a:t>训练主干、损失公式、反向传播均未改动，</a:t>
            </a: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zh-CN" altLang="en-US" sz="1150" b="0" noProof="1">
                <a:latin typeface="Segoe UI"/>
                <a:ea typeface="微软雅黑"/>
              </a:rPr>
              <a:t>只替换了信号来源：确定性 </a:t>
            </a:r>
            <a:r>
              <a:rPr lang="en-US" altLang="zh-CN" sz="1150" b="1" noProof="1">
                <a:latin typeface="Segoe UI"/>
                <a:ea typeface="微软雅黑"/>
              </a:rPr>
              <a:t>checker</a:t>
            </a:r>
            <a:r>
              <a:rPr lang="zh-CN" altLang="en-US" sz="1150" b="0" noProof="1">
                <a:latin typeface="Segoe UI"/>
                <a:ea typeface="微软雅黑"/>
              </a:rPr>
              <a:t> 取代主观判官、新增任务无关的中间步骤判官（右图橙</a:t>
            </a:r>
            <a:r>
              <a:rPr lang="en-US" altLang="zh-CN" sz="1150" b="0" noProof="1">
                <a:latin typeface="Segoe UI"/>
                <a:ea typeface="微软雅黑"/>
              </a:rPr>
              <a:t>/</a:t>
            </a:r>
            <a:r>
              <a:rPr lang="zh-CN" altLang="en-US" sz="1150" b="0" noProof="1">
                <a:latin typeface="Segoe UI"/>
                <a:ea typeface="微软雅黑"/>
              </a:rPr>
              <a:t>绿框）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② 目前进展</a:t>
            </a:r>
            <a:endParaRPr lang="zh-CN" altLang="en-US"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zh-CN" altLang="en-US" sz="1150" b="0" noProof="1">
                <a:latin typeface="Segoe UI"/>
                <a:ea typeface="微软雅黑"/>
              </a:rPr>
              <a:t>只训练到 </a:t>
            </a:r>
            <a:r>
              <a:rPr lang="en-US" altLang="zh-CN" sz="1150" b="0" noProof="1">
                <a:latin typeface="Segoe UI"/>
                <a:ea typeface="微软雅黑"/>
              </a:rPr>
              <a:t>day 6 </a:t>
            </a:r>
            <a:r>
              <a:rPr lang="zh-CN" altLang="en-US" sz="1150" b="0" noProof="1">
                <a:latin typeface="Segoe UI"/>
                <a:ea typeface="微软雅黑"/>
              </a:rPr>
              <a:t>实验验证方法本身有效：</a:t>
            </a:r>
            <a:r>
              <a:rPr lang="en-US" altLang="zh-CN" sz="1150" b="0" noProof="1">
                <a:latin typeface="Segoe UI"/>
                <a:ea typeface="微软雅黑"/>
              </a:rPr>
              <a:t>Acc. </a:t>
            </a:r>
            <a:r>
              <a:rPr lang="en-US" altLang="zh-CN" sz="1150" b="1" noProof="1">
                <a:latin typeface="Segoe UI"/>
                <a:ea typeface="微软雅黑"/>
              </a:rPr>
              <a:t>17.8%→37.3%</a:t>
            </a:r>
            <a:r>
              <a:rPr lang="zh-CN" altLang="en-US" sz="1150" b="0" noProof="1">
                <a:latin typeface="Segoe UI"/>
                <a:ea typeface="微软雅黑"/>
              </a:rPr>
              <a:t>，</a:t>
            </a:r>
            <a:r>
              <a:rPr lang="en-US" altLang="zh-CN" sz="1150" b="0" noProof="1">
                <a:latin typeface="Segoe UI"/>
                <a:ea typeface="微软雅黑"/>
              </a:rPr>
              <a:t>Compl. </a:t>
            </a:r>
            <a:r>
              <a:rPr lang="en-US" altLang="zh-CN" sz="1150" b="1" noProof="1">
                <a:latin typeface="Segoe UI"/>
                <a:ea typeface="微软雅黑"/>
              </a:rPr>
              <a:t>0%→13.9%</a:t>
            </a:r>
            <a:r>
              <a:rPr lang="zh-CN" altLang="en-US" sz="1150" b="0" noProof="1">
                <a:latin typeface="Segoe UI"/>
                <a:ea typeface="微软雅黑"/>
              </a:rPr>
              <a:t>（首次非零）</a:t>
            </a:r>
            <a:r>
              <a:rPr lang="en-US" altLang="zh-CN" sz="1150" b="0" noProof="1">
                <a:latin typeface="Segoe UI"/>
                <a:ea typeface="微软雅黑"/>
              </a:rPr>
              <a:t>——</a:t>
            </a:r>
            <a:r>
              <a:rPr lang="zh-CN" altLang="en-US" sz="1150" b="0" noProof="1">
                <a:latin typeface="Segoe UI"/>
                <a:ea typeface="微软雅黑"/>
              </a:rPr>
              <a:t>但只训到 </a:t>
            </a:r>
            <a:r>
              <a:rPr lang="en-US" altLang="zh-CN" sz="1150" b="0" noProof="1">
                <a:latin typeface="Segoe UI"/>
                <a:ea typeface="微软雅黑"/>
              </a:rPr>
              <a:t>day 6</a:t>
            </a:r>
            <a:r>
              <a:rPr lang="zh-CN" altLang="en-US" sz="1150" b="0" noProof="1">
                <a:latin typeface="Segoe UI"/>
                <a:ea typeface="微软雅黑"/>
              </a:rPr>
              <a:t>，是权宜之计，</a:t>
            </a:r>
            <a:r>
              <a:rPr lang="zh-CN" altLang="en-US" sz="1150" b="1" noProof="1">
                <a:latin typeface="Segoe UI"/>
                <a:ea typeface="微软雅黑"/>
              </a:rPr>
              <a:t>终极目标是训满完整 </a:t>
            </a:r>
            <a:r>
              <a:rPr lang="en-US" altLang="zh-CN" sz="1150" b="1" noProof="1">
                <a:latin typeface="Segoe UI"/>
                <a:ea typeface="微软雅黑"/>
              </a:rPr>
              <a:t>30 </a:t>
            </a:r>
            <a:r>
              <a:rPr lang="zh-CN" altLang="en-US" sz="1150" b="1" noProof="1">
                <a:latin typeface="Segoe UI"/>
                <a:ea typeface="微软雅黑"/>
              </a:rPr>
              <a:t>天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 altLang="zh-CN" noProof="1" smtClean="0">
                <a:solidFill>
                  <a:prstClr val="black"/>
                </a:solidFill>
              </a:rPr>
              <a:pPr defTabSz="1218212">
                <a:defRPr/>
              </a:pPr>
              <a:t>1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b="0" noProof="1">
                <a:latin typeface="Segoe UI"/>
                <a:ea typeface="微软雅黑"/>
              </a:rPr>
              <a:t>本次仅迁移 </a:t>
            </a:r>
            <a:r>
              <a:rPr lang="en-US" altLang="zh-CN" sz="1000" b="0" noProof="1">
                <a:latin typeface="Segoe UI"/>
                <a:ea typeface="微软雅黑"/>
              </a:rPr>
              <a:t>RL </a:t>
            </a:r>
            <a:r>
              <a:rPr lang="zh-CN" altLang="en-US" sz="1000" b="0" noProof="1">
                <a:latin typeface="Segoe UI"/>
                <a:ea typeface="微软雅黑"/>
              </a:rPr>
              <a:t>训练方法，不含 </a:t>
            </a:r>
            <a:r>
              <a:rPr lang="en-US" altLang="zh-CN" sz="1000" b="0" noProof="1">
                <a:latin typeface="Segoe UI"/>
                <a:ea typeface="微软雅黑"/>
              </a:rPr>
              <a:t>MetaClaw</a:t>
            </a:r>
            <a:r>
              <a:rPr lang="zh-CN" altLang="en-US" sz="1000" b="0" noProof="1">
                <a:latin typeface="Segoe UI"/>
                <a:ea typeface="微软雅黑"/>
              </a:rPr>
              <a:t> 技能库；模型与评测环境均不同，与论文各行为数量级参照</a:t>
            </a:r>
            <a:endParaRPr lang="zh-CN" altLang="en-US" sz="1000" b="0" dirty="0">
              <a:latin typeface="Segoe UI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400" b="1" noProof="1">
                <a:latin typeface="Segoe UI"/>
                <a:ea typeface="微软雅黑"/>
              </a:rPr>
              <a:t>MetaClaw </a:t>
            </a:r>
            <a:r>
              <a:rPr lang="zh-CN" altLang="en-US" sz="2400" b="1" noProof="1">
                <a:latin typeface="Segoe UI"/>
                <a:ea typeface="微软雅黑"/>
              </a:rPr>
              <a:t>方法泛化实验进展（二）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5165"/>
            <a:ext cx="4434840" cy="1127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已做的小修改</a:t>
            </a:r>
            <a:endParaRPr lang="zh-CN" altLang="en-US"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en-US" altLang="zh-CN" sz="1150" b="0" noProof="1">
                <a:latin typeface="Segoe UI"/>
                <a:ea typeface="微软雅黑"/>
              </a:rPr>
              <a:t>OPD </a:t>
            </a:r>
            <a:r>
              <a:rPr lang="zh-CN" altLang="en-US" sz="1150" b="0" noProof="1">
                <a:latin typeface="Segoe UI"/>
                <a:ea typeface="微软雅黑"/>
              </a:rPr>
              <a:t>反馈修复实验：训练流程从此前 </a:t>
            </a:r>
            <a:r>
              <a:rPr lang="en-US" altLang="zh-CN" sz="1150" b="0" noProof="1">
                <a:latin typeface="Segoe UI"/>
                <a:ea typeface="微软雅黑"/>
              </a:rPr>
              <a:t>day12 </a:t>
            </a:r>
            <a:r>
              <a:rPr lang="zh-CN" altLang="en-US" sz="1150" b="0" noProof="1">
                <a:latin typeface="Segoe UI"/>
                <a:ea typeface="微软雅黑"/>
              </a:rPr>
              <a:t>左右直接崩溃，</a:t>
            </a:r>
            <a:r>
              <a:rPr lang="zh-CN" altLang="en-US" sz="1150" b="1" noProof="1">
                <a:latin typeface="Segoe UI"/>
                <a:ea typeface="微软雅黑"/>
              </a:rPr>
              <a:t>延后到能持续跑完 </a:t>
            </a:r>
            <a:r>
              <a:rPr lang="en-US" altLang="zh-CN" sz="1150" b="1" noProof="1">
                <a:latin typeface="Segoe UI"/>
                <a:ea typeface="微软雅黑"/>
              </a:rPr>
              <a:t>day22</a:t>
            </a:r>
            <a:r>
              <a:rPr lang="zh-CN" altLang="en-US" sz="1150" b="0" noProof="1">
                <a:latin typeface="Segoe UI"/>
                <a:ea typeface="微软雅黑"/>
              </a:rPr>
              <a:t>（进程不再提前终止）</a:t>
            </a: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zh-CN" altLang="en-US" sz="1150" b="0" noProof="1">
                <a:latin typeface="Segoe UI"/>
                <a:ea typeface="微软雅黑"/>
              </a:rPr>
              <a:t>进一步定位到确定性 </a:t>
            </a:r>
            <a:r>
              <a:rPr lang="en-US" altLang="zh-CN" sz="1150" b="0" noProof="1">
                <a:latin typeface="Segoe UI"/>
                <a:ea typeface="微软雅黑"/>
              </a:rPr>
              <a:t>checker </a:t>
            </a:r>
            <a:r>
              <a:rPr lang="zh-CN" altLang="en-US" sz="1150" b="0" noProof="1">
                <a:latin typeface="Segoe UI"/>
                <a:ea typeface="微软雅黑"/>
              </a:rPr>
              <a:t>的一类结构性缺陷：部分检查是</a:t>
            </a:r>
            <a:r>
              <a:rPr lang="zh-CN" altLang="en-US" sz="1150" b="1" noProof="1">
                <a:latin typeface="Segoe UI"/>
                <a:ea typeface="微软雅黑"/>
              </a:rPr>
              <a:t>累计跨轮次计数</a:t>
            </a:r>
            <a:r>
              <a:rPr lang="zh-CN" altLang="en-US" sz="1150" b="0" noProof="1">
                <a:latin typeface="Segoe UI"/>
                <a:ea typeface="微软雅黑"/>
              </a:rPr>
              <a:t>，本轮做对也可能因更早轮次欠账被判负</a:t>
            </a:r>
            <a:endParaRPr lang="zh-CN" altLang="en-US" sz="1150" b="0" dirty="0">
              <a:latin typeface="Segoe UI"/>
              <a:ea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74920" y="141732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</a:pPr>
            <a:r>
              <a:rPr lang="zh-CN" altLang="en-US" sz="1100" b="1" noProof="1">
                <a:solidFill>
                  <a:srgbClr val="404040"/>
                </a:solidFill>
                <a:latin typeface="Segoe UI"/>
                <a:ea typeface="微软雅黑"/>
              </a:rPr>
              <a:t>旧逻辑：累计计数</a:t>
            </a:r>
          </a:p>
          <a:p>
            <a:pPr algn="l">
              <a:spcAft>
                <a:spcPts val="200"/>
              </a:spcAft>
            </a:pPr>
            <a:r>
              <a:rPr lang="en-US" altLang="zh-CN" sz="950" b="0" noProof="1">
                <a:solidFill>
                  <a:srgbClr val="404040"/>
                </a:solidFill>
                <a:latin typeface="Segoe UI"/>
                <a:ea typeface="微软雅黑"/>
              </a:rPr>
              <a:t>round2 </a:t>
            </a:r>
            <a:r>
              <a:rPr lang="zh-CN" altLang="en-US" sz="950" b="0" noProof="1">
                <a:solidFill>
                  <a:srgbClr val="404040"/>
                </a:solidFill>
                <a:latin typeface="Segoe UI"/>
                <a:ea typeface="微软雅黑"/>
              </a:rPr>
              <a:t>本轮写对</a:t>
            </a:r>
          </a:p>
          <a:p>
            <a:pPr algn="l">
              <a:spcAft>
                <a:spcPts val="200"/>
              </a:spcAft>
            </a:pPr>
            <a:r>
              <a:rPr lang="zh-CN" altLang="en-US" sz="950" b="0" noProof="1">
                <a:solidFill>
                  <a:srgbClr val="C0504D"/>
                </a:solidFill>
                <a:latin typeface="Segoe UI"/>
                <a:ea typeface="微软雅黑"/>
              </a:rPr>
              <a:t>但历史欠账未补 → 判 </a:t>
            </a:r>
            <a:r>
              <a:rPr lang="en-US" altLang="zh-CN" sz="950" b="0" noProof="1">
                <a:solidFill>
                  <a:srgbClr val="C0504D"/>
                </a:solidFill>
                <a:latin typeface="Segoe UI"/>
                <a:ea typeface="微软雅黑"/>
              </a:rPr>
              <a:t>FAIL ✗</a:t>
            </a:r>
          </a:p>
        </p:txBody>
      </p:sp>
      <p:sp>
        <p:nvSpPr>
          <p:cNvPr id="5" name="Right Arrow 4"/>
          <p:cNvSpPr/>
          <p:nvPr/>
        </p:nvSpPr>
        <p:spPr>
          <a:xfrm>
            <a:off x="8001000" y="1961388"/>
            <a:ext cx="502920" cy="3291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641080" y="141732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EBF1DD"/>
          </a:solidFill>
          <a:ln w="12700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</a:pPr>
            <a:r>
              <a:rPr lang="zh-CN" altLang="en-US" sz="1100" b="1" noProof="1">
                <a:solidFill>
                  <a:srgbClr val="404040"/>
                </a:solidFill>
                <a:latin typeface="Segoe UI"/>
                <a:ea typeface="微软雅黑"/>
              </a:rPr>
              <a:t>新逻辑：本轮净增</a:t>
            </a:r>
          </a:p>
          <a:p>
            <a:pPr algn="l">
              <a:spcAft>
                <a:spcPts val="200"/>
              </a:spcAft>
            </a:pPr>
            <a:r>
              <a:rPr lang="en-US" altLang="zh-CN" sz="950" b="0" noProof="1">
                <a:solidFill>
                  <a:srgbClr val="404040"/>
                </a:solidFill>
                <a:latin typeface="Segoe UI"/>
                <a:ea typeface="微软雅黑"/>
              </a:rPr>
              <a:t>round2 </a:t>
            </a:r>
            <a:r>
              <a:rPr lang="zh-CN" altLang="en-US" sz="950" b="0" noProof="1">
                <a:solidFill>
                  <a:srgbClr val="404040"/>
                </a:solidFill>
                <a:latin typeface="Segoe UI"/>
                <a:ea typeface="微软雅黑"/>
              </a:rPr>
              <a:t>本轮写对</a:t>
            </a:r>
          </a:p>
          <a:p>
            <a:pPr algn="l">
              <a:spcAft>
                <a:spcPts val="200"/>
              </a:spcAft>
            </a:pPr>
            <a:r>
              <a:rPr lang="zh-CN" altLang="en-US" sz="950" b="0" noProof="1">
                <a:solidFill>
                  <a:srgbClr val="4F7A1E"/>
                </a:solidFill>
                <a:latin typeface="Segoe UI"/>
                <a:ea typeface="微软雅黑"/>
              </a:rPr>
              <a:t>只看本轮新增文件 → 判 </a:t>
            </a:r>
            <a:r>
              <a:rPr lang="en-US" altLang="zh-CN" sz="950" b="0" noProof="1">
                <a:solidFill>
                  <a:srgbClr val="4F7A1E"/>
                </a:solidFill>
                <a:latin typeface="Segoe UI"/>
                <a:ea typeface="微软雅黑"/>
              </a:rPr>
              <a:t>PASS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2907792"/>
            <a:ext cx="3209533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950" b="0" noProof="1">
                <a:solidFill>
                  <a:srgbClr val="808080"/>
                </a:solidFill>
                <a:latin typeface="Segoe UI"/>
                <a:ea typeface="微软雅黑"/>
              </a:rPr>
              <a:t>官方 </a:t>
            </a:r>
            <a:r>
              <a:rPr lang="en-US" altLang="zh-CN" sz="950" b="0" noProof="1">
                <a:solidFill>
                  <a:srgbClr val="808080"/>
                </a:solidFill>
                <a:latin typeface="Segoe UI"/>
                <a:ea typeface="微软雅黑"/>
              </a:rPr>
              <a:t>Acc./Compl. </a:t>
            </a:r>
            <a:r>
              <a:rPr lang="zh-CN" altLang="en-US" sz="950" b="0" noProof="1">
                <a:solidFill>
                  <a:srgbClr val="808080"/>
                </a:solidFill>
                <a:latin typeface="Segoe UI"/>
                <a:ea typeface="微软雅黑"/>
              </a:rPr>
              <a:t>判定口径不变，只改训练用的奖励信号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4434840" cy="1725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② 存在的问题</a:t>
            </a:r>
            <a:endParaRPr lang="zh-CN" altLang="en-US"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zh-CN" altLang="en-US" sz="1150" b="0" noProof="1">
                <a:latin typeface="Segoe UI"/>
                <a:ea typeface="微软雅黑"/>
              </a:rPr>
              <a:t>但</a:t>
            </a:r>
            <a:r>
              <a:rPr lang="zh-CN" altLang="en-US" sz="1150" b="1" noProof="1">
                <a:latin typeface="Segoe UI"/>
                <a:ea typeface="微软雅黑"/>
              </a:rPr>
              <a:t>跑得更久不等于效果更好</a:t>
            </a:r>
            <a:r>
              <a:rPr lang="zh-CN" altLang="en-US" sz="1150" b="0" noProof="1">
                <a:latin typeface="Segoe UI"/>
                <a:ea typeface="微软雅黑"/>
              </a:rPr>
              <a:t>：</a:t>
            </a:r>
            <a:r>
              <a:rPr lang="en-US" altLang="zh-CN" sz="1150" b="0" noProof="1">
                <a:latin typeface="Segoe UI"/>
                <a:ea typeface="微软雅黑"/>
              </a:rPr>
              <a:t>OPD</a:t>
            </a:r>
            <a:r>
              <a:rPr lang="zh-CN" altLang="en-US" sz="1150" b="0" noProof="1">
                <a:latin typeface="Segoe UI"/>
                <a:ea typeface="微软雅黑"/>
              </a:rPr>
              <a:t> 反馈修复实验 </a:t>
            </a:r>
            <a:r>
              <a:rPr lang="en-US" altLang="zh-CN" sz="1150" b="0" noProof="1">
                <a:latin typeface="Segoe UI"/>
                <a:ea typeface="微软雅黑"/>
              </a:rPr>
              <a:t>day01-22 </a:t>
            </a:r>
            <a:r>
              <a:rPr lang="zh-CN" altLang="en-US" sz="1150" b="0" noProof="1">
                <a:latin typeface="Segoe UI"/>
                <a:ea typeface="微软雅黑"/>
              </a:rPr>
              <a:t>整体 </a:t>
            </a:r>
            <a:r>
              <a:rPr lang="en-US" altLang="zh-CN" sz="1150" b="0" noProof="1">
                <a:latin typeface="Segoe UI"/>
                <a:ea typeface="微软雅黑"/>
              </a:rPr>
              <a:t>Acc. </a:t>
            </a:r>
            <a:r>
              <a:rPr lang="zh-CN" altLang="en-US" sz="1150" b="0" noProof="1">
                <a:latin typeface="Segoe UI"/>
                <a:ea typeface="微软雅黑"/>
              </a:rPr>
              <a:t>均值 </a:t>
            </a:r>
            <a:r>
              <a:rPr lang="en-US" altLang="zh-CN" sz="1150" b="1" noProof="1">
                <a:latin typeface="Segoe UI"/>
                <a:ea typeface="微软雅黑"/>
              </a:rPr>
              <a:t>31.0%</a:t>
            </a:r>
            <a:r>
              <a:rPr lang="zh-CN" altLang="en-US" sz="1150" b="0" noProof="1">
                <a:latin typeface="Segoe UI"/>
                <a:ea typeface="微软雅黑"/>
              </a:rPr>
              <a:t>，明显低于只训练到 </a:t>
            </a:r>
            <a:r>
              <a:rPr lang="en-US" altLang="zh-CN" sz="1150" b="0" noProof="1">
                <a:latin typeface="Segoe UI"/>
                <a:ea typeface="微软雅黑"/>
              </a:rPr>
              <a:t>day 6 </a:t>
            </a:r>
            <a:r>
              <a:rPr lang="zh-CN" altLang="en-US" sz="1150" b="0" noProof="1">
                <a:latin typeface="Segoe UI"/>
                <a:ea typeface="微软雅黑"/>
              </a:rPr>
              <a:t>实验的 </a:t>
            </a:r>
            <a:r>
              <a:rPr lang="en-US" altLang="zh-CN" sz="1150" b="1" noProof="1">
                <a:latin typeface="Segoe UI"/>
                <a:ea typeface="微软雅黑"/>
              </a:rPr>
              <a:t>41.7%</a:t>
            </a:r>
            <a:r>
              <a:rPr lang="zh-CN" altLang="en-US" sz="1150" b="0" noProof="1">
                <a:latin typeface="Segoe UI"/>
                <a:ea typeface="微软雅黑"/>
              </a:rPr>
              <a:t>（</a:t>
            </a:r>
            <a:r>
              <a:rPr lang="en-US" altLang="zh-CN" sz="1150" b="0" noProof="1">
                <a:latin typeface="Segoe UI"/>
                <a:ea typeface="微软雅黑"/>
              </a:rPr>
              <a:t>-10.7 </a:t>
            </a:r>
            <a:r>
              <a:rPr lang="zh-CN" altLang="en-US" sz="1150" b="0" noProof="1">
                <a:latin typeface="Segoe UI"/>
                <a:ea typeface="微软雅黑"/>
              </a:rPr>
              <a:t>个百分点）</a:t>
            </a: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en-US" altLang="zh-CN" sz="1150" b="0" noProof="1">
                <a:latin typeface="Segoe UI"/>
                <a:ea typeface="微软雅黑"/>
              </a:rPr>
              <a:t>day16 </a:t>
            </a:r>
            <a:r>
              <a:rPr lang="zh-CN" altLang="en-US" sz="1150" b="0" noProof="1">
                <a:latin typeface="Segoe UI"/>
                <a:ea typeface="微软雅黑"/>
              </a:rPr>
              <a:t>起差距持续扩大，</a:t>
            </a:r>
            <a:r>
              <a:rPr lang="en-US" altLang="zh-CN" sz="1150" b="1" noProof="1">
                <a:latin typeface="Segoe UI"/>
                <a:ea typeface="微软雅黑"/>
              </a:rPr>
              <a:t>day20-22 </a:t>
            </a:r>
            <a:r>
              <a:rPr lang="zh-CN" altLang="en-US" sz="1150" b="1" noProof="1">
                <a:latin typeface="Segoe UI"/>
                <a:ea typeface="微软雅黑"/>
              </a:rPr>
              <a:t>三天 </a:t>
            </a:r>
            <a:r>
              <a:rPr lang="en-US" altLang="zh-CN" sz="1150" b="1" noProof="1">
                <a:latin typeface="Segoe UI"/>
                <a:ea typeface="微软雅黑"/>
              </a:rPr>
              <a:t>Acc. </a:t>
            </a:r>
            <a:r>
              <a:rPr lang="zh-CN" altLang="en-US" sz="1150" b="1" noProof="1">
                <a:latin typeface="Segoe UI"/>
                <a:ea typeface="微软雅黑"/>
              </a:rPr>
              <a:t>完全归零</a:t>
            </a:r>
            <a:r>
              <a:rPr lang="en-US" altLang="zh-CN" sz="1150" b="0" noProof="1">
                <a:latin typeface="Segoe UI"/>
                <a:ea typeface="微软雅黑"/>
              </a:rPr>
              <a:t>——</a:t>
            </a:r>
            <a:r>
              <a:rPr lang="zh-CN" altLang="en-US" sz="1150" b="0" noProof="1">
                <a:latin typeface="Segoe UI"/>
                <a:ea typeface="微软雅黑"/>
              </a:rPr>
              <a:t>右图逐日对比</a:t>
            </a:r>
            <a:endParaRPr lang="zh-CN" altLang="en-US" sz="1150" b="0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zh-CN" altLang="en-US" sz="1150" b="0" noProof="1">
                <a:latin typeface="Segoe UI"/>
                <a:ea typeface="微软雅黑"/>
              </a:rPr>
              <a:t>怀疑上游原因：中间步骤独立判官持续给超长 </a:t>
            </a:r>
            <a:r>
              <a:rPr lang="en-US" altLang="zh-CN" sz="1150" b="0" noProof="1">
                <a:latin typeface="Segoe UI"/>
                <a:ea typeface="微软雅黑"/>
              </a:rPr>
              <a:t>thinking </a:t>
            </a:r>
            <a:r>
              <a:rPr lang="zh-CN" altLang="en-US" sz="1150" b="0" noProof="1">
                <a:latin typeface="Segoe UI"/>
                <a:ea typeface="微软雅黑"/>
              </a:rPr>
              <a:t>打正分，被反复强化</a:t>
            </a:r>
            <a:endParaRPr lang="zh-CN" altLang="en-US" sz="1150" b="0" dirty="0">
              <a:latin typeface="Segoe UI"/>
              <a:ea typeface="微软雅黑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74920" y="3429000"/>
          <a:ext cx="6656832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897880"/>
            <a:ext cx="11292840" cy="762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③ 下一步计划</a:t>
            </a:r>
            <a:endParaRPr lang="zh-CN" altLang="en-US"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zh-CN" altLang="en-US" sz="1150" b="0" noProof="1">
                <a:latin typeface="Segoe UI"/>
                <a:ea typeface="微软雅黑"/>
              </a:rPr>
              <a:t>中间步骤打分消融实验：保留中间步骤（样本量不变），奖励来源从判官分改为本轮最终确定性结果，验证上述假设</a:t>
            </a:r>
            <a:endParaRPr lang="zh-CN" altLang="en-US" sz="1150" b="0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lang="zh-CN" altLang="en-US" sz="1150" b="0" noProof="1">
                <a:latin typeface="Segoe UI"/>
                <a:ea typeface="微软雅黑"/>
              </a:rPr>
              <a:t>终极目标：完整训满 </a:t>
            </a:r>
            <a:r>
              <a:rPr lang="en-US" altLang="zh-CN" sz="1150" b="0" noProof="1">
                <a:latin typeface="Segoe UI"/>
                <a:ea typeface="微软雅黑"/>
              </a:rPr>
              <a:t>30 </a:t>
            </a:r>
            <a:r>
              <a:rPr lang="zh-CN" altLang="en-US" sz="1150" b="0" noProof="1">
                <a:latin typeface="Segoe UI"/>
                <a:ea typeface="微软雅黑"/>
              </a:rPr>
              <a:t>天，用</a:t>
            </a:r>
            <a:r>
              <a:rPr lang="zh-CN" altLang="en-US" sz="1150" b="1" noProof="1">
                <a:latin typeface="Segoe UI"/>
                <a:ea typeface="微软雅黑"/>
              </a:rPr>
              <a:t>训练前后全程对比</a:t>
            </a:r>
            <a:r>
              <a:rPr lang="zh-CN" altLang="en-US" sz="1150" b="0" noProof="1">
                <a:latin typeface="Segoe UI"/>
                <a:ea typeface="微软雅黑"/>
              </a:rPr>
              <a:t>取代目前只训练到 </a:t>
            </a:r>
            <a:r>
              <a:rPr lang="en-US" altLang="zh-CN" sz="1150" b="0" noProof="1">
                <a:latin typeface="Segoe UI"/>
                <a:ea typeface="微软雅黑"/>
              </a:rPr>
              <a:t>day 6 </a:t>
            </a:r>
            <a:r>
              <a:rPr lang="zh-CN" altLang="en-US" sz="1150" b="0" noProof="1">
                <a:latin typeface="Segoe UI"/>
                <a:ea typeface="微软雅黑"/>
              </a:rPr>
              <a:t>这个权宜结果</a:t>
            </a:r>
            <a:endParaRPr lang="zh-CN" altLang="en-US" sz="1150" b="0" dirty="0">
              <a:latin typeface="Segoe UI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441</Words>
  <Application>Microsoft Office PowerPoint</Application>
  <PresentationFormat>宽屏</PresentationFormat>
  <Paragraphs>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Arial</vt:lpstr>
      <vt:lpstr>Calibri</vt:lpstr>
      <vt:lpstr>Segoe UI</vt:lpstr>
      <vt:lpstr>Office Theme</vt:lpstr>
      <vt:lpstr>MetaClaw 方法泛化实验进展（一）</vt:lpstr>
      <vt:lpstr>MetaClaw 方法泛化实验进展（二）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23</cp:revision>
  <dcterms:created xsi:type="dcterms:W3CDTF">2025-08-12T09:33:41Z</dcterms:created>
  <dcterms:modified xsi:type="dcterms:W3CDTF">2026-08-31T06:00:53Z</dcterms:modified>
</cp:coreProperties>
</file>
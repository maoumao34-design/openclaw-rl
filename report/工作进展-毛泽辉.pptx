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70" r:id="rId2"/>
    <p:sldId id="37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Relationship Id="rId10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/>
              <a:t>day01-22 逐日 Acc. / Compl.（%）：本次 vs K=6 冻结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本次 Acc.</c:v>
                </c:pt>
              </c:strCache>
            </c:strRef>
          </c:tx>
          <c:spPr>
            <a:ln w="28575">
              <a:solidFill>
                <a:srgbClr val="C0504D"/>
              </a:solidFill>
            </a:ln>
          </c:spPr>
          <c:marker>
            <c:symbol val="diamond"/>
            <c:size val="4"/>
            <c:spPr>
              <a:solidFill>
                <a:srgbClr val="C0504D"/>
              </a:solidFill>
              <a:ln>
                <a:solidFill>
                  <a:srgbClr val="C0504D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D01</c:v>
                </c:pt>
                <c:pt idx="1">
                  <c:v>D02</c:v>
                </c:pt>
                <c:pt idx="2">
                  <c:v>D03</c:v>
                </c:pt>
                <c:pt idx="3">
                  <c:v>D04</c:v>
                </c:pt>
                <c:pt idx="4">
                  <c:v>D05</c:v>
                </c:pt>
                <c:pt idx="5">
                  <c:v>D06</c:v>
                </c:pt>
                <c:pt idx="6">
                  <c:v>D07</c:v>
                </c:pt>
                <c:pt idx="7">
                  <c:v>D08</c:v>
                </c:pt>
                <c:pt idx="8">
                  <c:v>D09</c:v>
                </c:pt>
                <c:pt idx="9">
                  <c:v>D10</c:v>
                </c:pt>
                <c:pt idx="10">
                  <c:v>D11</c:v>
                </c:pt>
                <c:pt idx="11">
                  <c:v>D12</c:v>
                </c:pt>
                <c:pt idx="12">
                  <c:v>D13</c:v>
                </c:pt>
                <c:pt idx="13">
                  <c:v>D14</c:v>
                </c:pt>
                <c:pt idx="14">
                  <c:v>D15</c:v>
                </c:pt>
                <c:pt idx="15">
                  <c:v>D16</c:v>
                </c:pt>
                <c:pt idx="16">
                  <c:v>D17</c:v>
                </c:pt>
                <c:pt idx="17">
                  <c:v>D18</c:v>
                </c:pt>
                <c:pt idx="18">
                  <c:v>D19</c:v>
                </c:pt>
                <c:pt idx="19">
                  <c:v>D20</c:v>
                </c:pt>
                <c:pt idx="20">
                  <c:v>D21</c:v>
                </c:pt>
                <c:pt idx="21">
                  <c:v>D22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45.0</c:v>
                </c:pt>
                <c:pt idx="1">
                  <c:v>53.0</c:v>
                </c:pt>
                <c:pt idx="2">
                  <c:v>62.5</c:v>
                </c:pt>
                <c:pt idx="3">
                  <c:v>55.0</c:v>
                </c:pt>
                <c:pt idx="4">
                  <c:v>71.8</c:v>
                </c:pt>
                <c:pt idx="5">
                  <c:v>40.7</c:v>
                </c:pt>
                <c:pt idx="6">
                  <c:v>15.8</c:v>
                </c:pt>
                <c:pt idx="7">
                  <c:v>39.8</c:v>
                </c:pt>
                <c:pt idx="8">
                  <c:v>29.7</c:v>
                </c:pt>
                <c:pt idx="9">
                  <c:v>38.0</c:v>
                </c:pt>
                <c:pt idx="10">
                  <c:v>36.7</c:v>
                </c:pt>
                <c:pt idx="11">
                  <c:v>28.2</c:v>
                </c:pt>
                <c:pt idx="12">
                  <c:v>34.0</c:v>
                </c:pt>
                <c:pt idx="13">
                  <c:v>23.9</c:v>
                </c:pt>
                <c:pt idx="14">
                  <c:v>13.3</c:v>
                </c:pt>
                <c:pt idx="15">
                  <c:v>35.0</c:v>
                </c:pt>
                <c:pt idx="16">
                  <c:v>17.9</c:v>
                </c:pt>
                <c:pt idx="17">
                  <c:v>20.8</c:v>
                </c:pt>
                <c:pt idx="18">
                  <c:v>18.2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K=6 Acc.</c:v>
                </c:pt>
              </c:strCache>
            </c:strRef>
          </c:tx>
          <c:spPr>
            <a:ln w="28575">
              <a:solidFill>
                <a:srgbClr val="4F81BD"/>
              </a:solidFill>
            </a:ln>
          </c:spPr>
          <c:marker>
            <c:symbol val="diamond"/>
            <c:size val="4"/>
            <c:spPr>
              <a:solidFill>
                <a:srgbClr val="4F81BD"/>
              </a:solidFill>
              <a:ln>
                <a:solidFill>
                  <a:srgbClr val="4F81BD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D01</c:v>
                </c:pt>
                <c:pt idx="1">
                  <c:v>D02</c:v>
                </c:pt>
                <c:pt idx="2">
                  <c:v>D03</c:v>
                </c:pt>
                <c:pt idx="3">
                  <c:v>D04</c:v>
                </c:pt>
                <c:pt idx="4">
                  <c:v>D05</c:v>
                </c:pt>
                <c:pt idx="5">
                  <c:v>D06</c:v>
                </c:pt>
                <c:pt idx="6">
                  <c:v>D07</c:v>
                </c:pt>
                <c:pt idx="7">
                  <c:v>D08</c:v>
                </c:pt>
                <c:pt idx="8">
                  <c:v>D09</c:v>
                </c:pt>
                <c:pt idx="9">
                  <c:v>D10</c:v>
                </c:pt>
                <c:pt idx="10">
                  <c:v>D11</c:v>
                </c:pt>
                <c:pt idx="11">
                  <c:v>D12</c:v>
                </c:pt>
                <c:pt idx="12">
                  <c:v>D13</c:v>
                </c:pt>
                <c:pt idx="13">
                  <c:v>D14</c:v>
                </c:pt>
                <c:pt idx="14">
                  <c:v>D15</c:v>
                </c:pt>
                <c:pt idx="15">
                  <c:v>D16</c:v>
                </c:pt>
                <c:pt idx="16">
                  <c:v>D17</c:v>
                </c:pt>
                <c:pt idx="17">
                  <c:v>D18</c:v>
                </c:pt>
                <c:pt idx="18">
                  <c:v>D19</c:v>
                </c:pt>
                <c:pt idx="19">
                  <c:v>D20</c:v>
                </c:pt>
                <c:pt idx="20">
                  <c:v>D21</c:v>
                </c:pt>
                <c:pt idx="21">
                  <c:v>D22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40.0</c:v>
                </c:pt>
                <c:pt idx="1">
                  <c:v>53.0</c:v>
                </c:pt>
                <c:pt idx="2">
                  <c:v>71.2</c:v>
                </c:pt>
                <c:pt idx="3">
                  <c:v>53.3</c:v>
                </c:pt>
                <c:pt idx="4">
                  <c:v>83.3</c:v>
                </c:pt>
                <c:pt idx="5">
                  <c:v>63.2</c:v>
                </c:pt>
                <c:pt idx="6">
                  <c:v>21.2</c:v>
                </c:pt>
                <c:pt idx="7">
                  <c:v>37.9</c:v>
                </c:pt>
                <c:pt idx="8">
                  <c:v>49.4</c:v>
                </c:pt>
                <c:pt idx="9">
                  <c:v>46.4</c:v>
                </c:pt>
                <c:pt idx="10">
                  <c:v>40.0</c:v>
                </c:pt>
                <c:pt idx="11">
                  <c:v>31.5</c:v>
                </c:pt>
                <c:pt idx="12">
                  <c:v>37.5</c:v>
                </c:pt>
                <c:pt idx="13">
                  <c:v>25.8</c:v>
                </c:pt>
                <c:pt idx="14">
                  <c:v>22.3</c:v>
                </c:pt>
                <c:pt idx="15">
                  <c:v>46.7</c:v>
                </c:pt>
                <c:pt idx="16">
                  <c:v>27.0</c:v>
                </c:pt>
                <c:pt idx="17">
                  <c:v>36.1</c:v>
                </c:pt>
                <c:pt idx="18">
                  <c:v>35.3</c:v>
                </c:pt>
                <c:pt idx="19">
                  <c:v>35.6</c:v>
                </c:pt>
                <c:pt idx="20">
                  <c:v>36.7</c:v>
                </c:pt>
                <c:pt idx="21">
                  <c:v>29.5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本次 Compl.</c:v>
                </c:pt>
              </c:strCache>
            </c:strRef>
          </c:tx>
          <c:spPr>
            <a:ln w="19050">
              <a:solidFill>
                <a:srgbClr val="C0504D"/>
              </a:solidFill>
              <a:prstDash val="dash"/>
            </a:ln>
          </c:spPr>
          <c:marker>
            <c:symbol val="diamond"/>
            <c:size val="4"/>
            <c:spPr>
              <a:solidFill>
                <a:srgbClr val="C0504D"/>
              </a:solidFill>
              <a:ln>
                <a:solidFill>
                  <a:srgbClr val="C0504D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D01</c:v>
                </c:pt>
                <c:pt idx="1">
                  <c:v>D02</c:v>
                </c:pt>
                <c:pt idx="2">
                  <c:v>D03</c:v>
                </c:pt>
                <c:pt idx="3">
                  <c:v>D04</c:v>
                </c:pt>
                <c:pt idx="4">
                  <c:v>D05</c:v>
                </c:pt>
                <c:pt idx="5">
                  <c:v>D06</c:v>
                </c:pt>
                <c:pt idx="6">
                  <c:v>D07</c:v>
                </c:pt>
                <c:pt idx="7">
                  <c:v>D08</c:v>
                </c:pt>
                <c:pt idx="8">
                  <c:v>D09</c:v>
                </c:pt>
                <c:pt idx="9">
                  <c:v>D10</c:v>
                </c:pt>
                <c:pt idx="10">
                  <c:v>D11</c:v>
                </c:pt>
                <c:pt idx="11">
                  <c:v>D12</c:v>
                </c:pt>
                <c:pt idx="12">
                  <c:v>D13</c:v>
                </c:pt>
                <c:pt idx="13">
                  <c:v>D14</c:v>
                </c:pt>
                <c:pt idx="14">
                  <c:v>D15</c:v>
                </c:pt>
                <c:pt idx="15">
                  <c:v>D16</c:v>
                </c:pt>
                <c:pt idx="16">
                  <c:v>D17</c:v>
                </c:pt>
                <c:pt idx="17">
                  <c:v>D18</c:v>
                </c:pt>
                <c:pt idx="18">
                  <c:v>D19</c:v>
                </c:pt>
                <c:pt idx="19">
                  <c:v>D20</c:v>
                </c:pt>
                <c:pt idx="20">
                  <c:v>D21</c:v>
                </c:pt>
                <c:pt idx="21">
                  <c:v>D22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16.7</c:v>
                </c:pt>
                <c:pt idx="1">
                  <c:v>28.6</c:v>
                </c:pt>
                <c:pt idx="2">
                  <c:v>50.0</c:v>
                </c:pt>
                <c:pt idx="3">
                  <c:v>33.3</c:v>
                </c:pt>
                <c:pt idx="4">
                  <c:v>62.5</c:v>
                </c:pt>
                <c:pt idx="5">
                  <c:v>16.7</c:v>
                </c:pt>
                <c:pt idx="6">
                  <c:v>0.0</c:v>
                </c:pt>
                <c:pt idx="7">
                  <c:v>14.3</c:v>
                </c:pt>
                <c:pt idx="8">
                  <c:v>12.5</c:v>
                </c:pt>
                <c:pt idx="9">
                  <c:v>22.2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25.0</c:v>
                </c:pt>
                <c:pt idx="18">
                  <c:v>14.3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K=6 Compl.</c:v>
                </c:pt>
              </c:strCache>
            </c:strRef>
          </c:tx>
          <c:spPr>
            <a:ln w="19050">
              <a:solidFill>
                <a:srgbClr val="4F81BD"/>
              </a:solidFill>
              <a:prstDash val="dash"/>
            </a:ln>
          </c:spPr>
          <c:marker>
            <c:symbol val="diamond"/>
            <c:size val="4"/>
            <c:spPr>
              <a:solidFill>
                <a:srgbClr val="4F81BD"/>
              </a:solidFill>
              <a:ln>
                <a:solidFill>
                  <a:srgbClr val="4F81BD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D01</c:v>
                </c:pt>
                <c:pt idx="1">
                  <c:v>D02</c:v>
                </c:pt>
                <c:pt idx="2">
                  <c:v>D03</c:v>
                </c:pt>
                <c:pt idx="3">
                  <c:v>D04</c:v>
                </c:pt>
                <c:pt idx="4">
                  <c:v>D05</c:v>
                </c:pt>
                <c:pt idx="5">
                  <c:v>D06</c:v>
                </c:pt>
                <c:pt idx="6">
                  <c:v>D07</c:v>
                </c:pt>
                <c:pt idx="7">
                  <c:v>D08</c:v>
                </c:pt>
                <c:pt idx="8">
                  <c:v>D09</c:v>
                </c:pt>
                <c:pt idx="9">
                  <c:v>D10</c:v>
                </c:pt>
                <c:pt idx="10">
                  <c:v>D11</c:v>
                </c:pt>
                <c:pt idx="11">
                  <c:v>D12</c:v>
                </c:pt>
                <c:pt idx="12">
                  <c:v>D13</c:v>
                </c:pt>
                <c:pt idx="13">
                  <c:v>D14</c:v>
                </c:pt>
                <c:pt idx="14">
                  <c:v>D15</c:v>
                </c:pt>
                <c:pt idx="15">
                  <c:v>D16</c:v>
                </c:pt>
                <c:pt idx="16">
                  <c:v>D17</c:v>
                </c:pt>
                <c:pt idx="17">
                  <c:v>D18</c:v>
                </c:pt>
                <c:pt idx="18">
                  <c:v>D19</c:v>
                </c:pt>
                <c:pt idx="19">
                  <c:v>D20</c:v>
                </c:pt>
                <c:pt idx="20">
                  <c:v>D21</c:v>
                </c:pt>
                <c:pt idx="21">
                  <c:v>D22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16.7</c:v>
                </c:pt>
                <c:pt idx="1">
                  <c:v>28.6</c:v>
                </c:pt>
                <c:pt idx="2">
                  <c:v>62.5</c:v>
                </c:pt>
                <c:pt idx="3">
                  <c:v>33.3</c:v>
                </c:pt>
                <c:pt idx="4">
                  <c:v>75.0</c:v>
                </c:pt>
                <c:pt idx="5">
                  <c:v>40.0</c:v>
                </c:pt>
                <c:pt idx="6">
                  <c:v>12.5</c:v>
                </c:pt>
                <c:pt idx="7">
                  <c:v>12.5</c:v>
                </c:pt>
                <c:pt idx="8">
                  <c:v>37.5</c:v>
                </c:pt>
                <c:pt idx="9">
                  <c:v>33.3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16.7</c:v>
                </c:pt>
                <c:pt idx="16">
                  <c:v>0.0</c:v>
                </c:pt>
                <c:pt idx="17">
                  <c:v>12.5</c:v>
                </c:pt>
                <c:pt idx="18">
                  <c:v>14.3</c:v>
                </c:pt>
                <c:pt idx="19">
                  <c:v>20.0</c:v>
                </c:pt>
                <c:pt idx="20">
                  <c:v>0.0</c:v>
                </c:pt>
                <c:pt idx="21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 w="6350">
              <a:solidFill>
                <a:srgbClr val="E7E6E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4" r:id="rId12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1" y="112836"/>
            <a:ext cx="4964523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2600" b="1">
                <a:latin typeface="Segoe UI"/>
                <a:ea typeface="微软雅黑"/>
              </a:rPr>
              <a:t>工作完成情况 ｜ 方法泛化方案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1" y="4534407"/>
            <a:ext cx="5246027" cy="2159000"/>
          </a:xfrm>
        </p:spPr>
        <p:txBody>
          <a:bodyPr wrap="square">
            <a:norm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latin typeface="Segoe UI"/>
                <a:ea typeface="微软雅黑"/>
              </a:rPr>
              <a:t>① 整体框架</a:t>
            </a:r>
          </a:p>
          <a:p>
            <a:pPr lvl="1" marL="285750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sz="1150" b="0">
                <a:latin typeface="Segoe UI"/>
                <a:ea typeface="微软雅黑"/>
              </a:rPr>
              <a:t>方法已在 Personal Agent 场景复现校准，迁移到 </a:t>
            </a:r>
            <a:r>
              <a:rPr sz="1150" b="1">
                <a:latin typeface="Segoe UI"/>
                <a:ea typeface="微软雅黑"/>
              </a:rPr>
              <a:t>MetaClaw-Bench</a:t>
            </a:r>
            <a:r>
              <a:rPr sz="1150" b="0">
                <a:latin typeface="Segoe UI"/>
                <a:ea typeface="微软雅黑"/>
              </a:rPr>
              <a:t>（另一篇论文的评测基准，30 天连续任务流）验证普适性——训练主干、损失公式、反向传播均未改动，</a:t>
            </a:r>
          </a:p>
          <a:p>
            <a:pPr lvl="1" marL="285750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sz="1150" b="0">
                <a:latin typeface="Segoe UI"/>
                <a:ea typeface="微软雅黑"/>
              </a:rPr>
              <a:t>只替换了信号来源：确定性 </a:t>
            </a:r>
            <a:r>
              <a:rPr sz="1150" b="1">
                <a:latin typeface="Segoe UI"/>
                <a:ea typeface="微软雅黑"/>
              </a:rPr>
              <a:t>checker</a:t>
            </a:r>
            <a:r>
              <a:rPr sz="1150" b="0">
                <a:latin typeface="Segoe UI"/>
                <a:ea typeface="微软雅黑"/>
              </a:rPr>
              <a:t> 取代主观判官、新增任务无关的中间步骤判官（右图橙/绿框）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350" b="1">
                <a:latin typeface="Segoe UI"/>
                <a:ea typeface="微软雅黑"/>
              </a:rPr>
              <a:t>② 目前进展</a:t>
            </a:r>
          </a:p>
          <a:p>
            <a:pPr lvl="1" marL="285750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sz="1150" b="0">
                <a:latin typeface="Segoe UI"/>
                <a:ea typeface="微软雅黑"/>
              </a:rPr>
              <a:t>K=6 冻结实验验证方法本身有效：Acc. </a:t>
            </a:r>
            <a:r>
              <a:rPr sz="1150" b="1">
                <a:latin typeface="Segoe UI"/>
                <a:ea typeface="微软雅黑"/>
              </a:rPr>
              <a:t>17.8%→37.3%</a:t>
            </a:r>
            <a:r>
              <a:rPr sz="1150" b="0">
                <a:latin typeface="Segoe UI"/>
                <a:ea typeface="微软雅黑"/>
              </a:rPr>
              <a:t>，Compl. </a:t>
            </a:r>
            <a:r>
              <a:rPr sz="1150" b="1">
                <a:latin typeface="Segoe UI"/>
                <a:ea typeface="微软雅黑"/>
              </a:rPr>
              <a:t>0%→13.9%</a:t>
            </a:r>
            <a:r>
              <a:rPr sz="1150" b="0">
                <a:latin typeface="Segoe UI"/>
                <a:ea typeface="微软雅黑"/>
              </a:rPr>
              <a:t>（首次非零）——但只训 6 天即冻结，是权宜之计，</a:t>
            </a:r>
            <a:r>
              <a:rPr sz="1150" b="1">
                <a:latin typeface="Segoe UI"/>
                <a:ea typeface="微软雅黑"/>
              </a:rPr>
              <a:t>终极目标是训满完整 30 天</a:t>
            </a:r>
          </a:p>
          <a:p>
            <a:pPr lvl="1" marL="285750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sz="1150" b="0">
                <a:latin typeface="Segoe UI"/>
                <a:ea typeface="微软雅黑"/>
              </a:rPr>
              <a:t>针对训练后期崩溃这个问题，这两周做了两处关键修复、也发现了新的问题——详见下一页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metaclaw_migr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028" y="176565"/>
            <a:ext cx="6015547" cy="651684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40" y="1024057"/>
            <a:ext cx="4370903" cy="28934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440" y="3917472"/>
            <a:ext cx="4370903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1000" b="0">
                <a:latin typeface="Segoe UI"/>
                <a:ea typeface="微软雅黑"/>
              </a:rPr>
              <a:t>本次仅迁移 RL 训练方法，不含 MetaClaw 技能库；模型与评测环境均不同，与论文各行为数量级参照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2600" b="1">
                <a:latin typeface="Segoe UI"/>
                <a:ea typeface="微软雅黑"/>
              </a:rPr>
              <a:t>工作完成情况 ｜ 方法泛化方案（续）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4434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350" b="1">
                <a:latin typeface="Segoe UI"/>
                <a:ea typeface="微软雅黑"/>
              </a:rPr>
              <a:t>① 已做的小修改</a:t>
            </a:r>
          </a:p>
          <a:p>
            <a:pPr lvl="1" marL="285750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sz="1150" b="0">
                <a:latin typeface="Segoe UI"/>
                <a:ea typeface="微软雅黑"/>
              </a:rPr>
              <a:t>OPD 反馈修复实验：训练流程从此前 day12 左右直接崩溃，</a:t>
            </a:r>
            <a:r>
              <a:rPr sz="1150" b="1">
                <a:latin typeface="Segoe UI"/>
                <a:ea typeface="微软雅黑"/>
              </a:rPr>
              <a:t>延后到能持续跑完 day22</a:t>
            </a:r>
            <a:r>
              <a:rPr sz="1150" b="0">
                <a:latin typeface="Segoe UI"/>
                <a:ea typeface="微软雅黑"/>
              </a:rPr>
              <a:t>（进程不再提前终止）</a:t>
            </a:r>
          </a:p>
          <a:p>
            <a:pPr lvl="1" marL="285750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sz="1150" b="0">
                <a:latin typeface="Segoe UI"/>
                <a:ea typeface="微软雅黑"/>
              </a:rPr>
              <a:t>进一步定位到确定性 checker 的一类结构性缺陷：部分检查是</a:t>
            </a:r>
            <a:r>
              <a:rPr sz="1150" b="1">
                <a:latin typeface="Segoe UI"/>
                <a:ea typeface="微软雅黑"/>
              </a:rPr>
              <a:t>累计跨轮次计数</a:t>
            </a:r>
            <a:r>
              <a:rPr sz="1150" b="0">
                <a:latin typeface="Segoe UI"/>
                <a:ea typeface="微软雅黑"/>
              </a:rPr>
              <a:t>，本轮做对也可能因更早轮次欠账被判负</a:t>
            </a:r>
          </a:p>
          <a:p>
            <a:pPr lvl="1" marL="285750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sz="1150" b="0">
                <a:latin typeface="Segoe UI"/>
                <a:ea typeface="微软雅黑"/>
              </a:rPr>
              <a:t>已设计并实现修复（</a:t>
            </a:r>
            <a:r>
              <a:rPr sz="1150" b="1">
                <a:latin typeface="Segoe UI"/>
                <a:ea typeface="微软雅黑"/>
              </a:rPr>
              <a:t>只看本轮净增</a:t>
            </a:r>
            <a:r>
              <a:rPr sz="1150" b="0">
                <a:latin typeface="Segoe UI"/>
                <a:ea typeface="微软雅黑"/>
              </a:rPr>
              <a:t>的判定口径），真实训练核实打分完全正确：</a:t>
            </a:r>
            <a:r>
              <a:rPr sz="1150" b="1">
                <a:latin typeface="Segoe UI"/>
                <a:ea typeface="微软雅黑"/>
              </a:rPr>
              <a:t>4 个升级案例全部命中、0 个误判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74920" y="1417320"/>
            <a:ext cx="2834640" cy="141732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F79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04040"/>
                </a:solidFill>
                <a:latin typeface="Segoe UI"/>
                <a:ea typeface="微软雅黑"/>
              </a:rPr>
              <a:t>旧逻辑：累计计数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404040"/>
                </a:solidFill>
                <a:latin typeface="Segoe UI"/>
                <a:ea typeface="微软雅黑"/>
              </a:rPr>
              <a:t>round2 本轮写对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C0504D"/>
                </a:solidFill>
                <a:latin typeface="Segoe UI"/>
                <a:ea typeface="微软雅黑"/>
              </a:rPr>
              <a:t>但历史欠账未补 → 判 FAIL ✗</a:t>
            </a:r>
          </a:p>
        </p:txBody>
      </p:sp>
      <p:sp>
        <p:nvSpPr>
          <p:cNvPr id="5" name="Right Arrow 4"/>
          <p:cNvSpPr/>
          <p:nvPr/>
        </p:nvSpPr>
        <p:spPr>
          <a:xfrm>
            <a:off x="8001000" y="1961388"/>
            <a:ext cx="502920" cy="329184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41080" y="1417320"/>
            <a:ext cx="2834640" cy="1417320"/>
          </a:xfrm>
          <a:prstGeom prst="roundRect">
            <a:avLst>
              <a:gd name="adj" fmla="val 6000"/>
            </a:avLst>
          </a:prstGeom>
          <a:solidFill>
            <a:srgbClr val="EBF1DD"/>
          </a:solidFill>
          <a:ln w="12700">
            <a:solidFill>
              <a:srgbClr val="9BB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04040"/>
                </a:solidFill>
                <a:latin typeface="Segoe UI"/>
                <a:ea typeface="微软雅黑"/>
              </a:rPr>
              <a:t>新逻辑：本轮净增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404040"/>
                </a:solidFill>
                <a:latin typeface="Segoe UI"/>
                <a:ea typeface="微软雅黑"/>
              </a:rPr>
              <a:t>round2 本轮写对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4F7A1E"/>
                </a:solidFill>
                <a:latin typeface="Segoe UI"/>
                <a:ea typeface="微软雅黑"/>
              </a:rPr>
              <a:t>只看本轮新增文件 → 判 PASS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2907792"/>
            <a:ext cx="66568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808080"/>
                </a:solidFill>
                <a:latin typeface="Segoe UI"/>
                <a:ea typeface="微软雅黑"/>
              </a:rPr>
              <a:t>官方 Acc./Compl. 判定口径不变，只改训练用的奖励信号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4434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350" b="1">
                <a:latin typeface="Segoe UI"/>
                <a:ea typeface="微软雅黑"/>
              </a:rPr>
              <a:t>② 存在的问题</a:t>
            </a:r>
          </a:p>
          <a:p>
            <a:pPr lvl="1" marL="285750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sz="1150" b="0">
                <a:latin typeface="Segoe UI"/>
                <a:ea typeface="微软雅黑"/>
              </a:rPr>
              <a:t>但</a:t>
            </a:r>
            <a:r>
              <a:rPr sz="1150" b="1">
                <a:latin typeface="Segoe UI"/>
                <a:ea typeface="微软雅黑"/>
              </a:rPr>
              <a:t>跑得更久不等于效果更好</a:t>
            </a:r>
            <a:r>
              <a:rPr sz="1150" b="0">
                <a:latin typeface="Segoe UI"/>
                <a:ea typeface="微软雅黑"/>
              </a:rPr>
              <a:t>：OPD 反馈修复实验 day01-22 整体 Acc. 均值 </a:t>
            </a:r>
            <a:r>
              <a:rPr sz="1150" b="1">
                <a:latin typeface="Segoe UI"/>
                <a:ea typeface="微软雅黑"/>
              </a:rPr>
              <a:t>31.0%</a:t>
            </a:r>
            <a:r>
              <a:rPr sz="1150" b="0">
                <a:latin typeface="Segoe UI"/>
                <a:ea typeface="微软雅黑"/>
              </a:rPr>
              <a:t>，明显低于 K=6 冻结版本的 </a:t>
            </a:r>
            <a:r>
              <a:rPr sz="1150" b="1">
                <a:latin typeface="Segoe UI"/>
                <a:ea typeface="微软雅黑"/>
              </a:rPr>
              <a:t>41.7%</a:t>
            </a:r>
            <a:r>
              <a:rPr sz="1150" b="0">
                <a:latin typeface="Segoe UI"/>
                <a:ea typeface="微软雅黑"/>
              </a:rPr>
              <a:t>（-10.7 个百分点）</a:t>
            </a:r>
          </a:p>
          <a:p>
            <a:pPr lvl="1" marL="285750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sz="1150" b="0">
                <a:latin typeface="Segoe UI"/>
                <a:ea typeface="微软雅黑"/>
              </a:rPr>
              <a:t>day16 起差距持续扩大，</a:t>
            </a:r>
            <a:r>
              <a:rPr sz="1150" b="1">
                <a:latin typeface="Segoe UI"/>
                <a:ea typeface="微软雅黑"/>
              </a:rPr>
              <a:t>day20-22 三天 Acc./Compl. 完全归零</a:t>
            </a:r>
            <a:r>
              <a:rPr sz="1150" b="0">
                <a:latin typeface="Segoe UI"/>
                <a:ea typeface="微软雅黑"/>
              </a:rPr>
              <a:t>——右图逐日对比</a:t>
            </a:r>
          </a:p>
          <a:p>
            <a:pPr lvl="1" marL="285750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sz="1150" b="0">
                <a:latin typeface="Segoe UI"/>
                <a:ea typeface="微软雅黑"/>
              </a:rPr>
              <a:t>怀疑上游原因：中间步骤独立判官持续给超长 thinking 打正分，被反复强化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74920" y="3429000"/>
          <a:ext cx="6656832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897880"/>
            <a:ext cx="11292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350" b="1">
                <a:latin typeface="Segoe UI"/>
                <a:ea typeface="微软雅黑"/>
              </a:rPr>
              <a:t>③ 下一步计划</a:t>
            </a:r>
          </a:p>
          <a:p>
            <a:pPr lvl="1" marL="285750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sz="1150" b="0">
                <a:latin typeface="Segoe UI"/>
                <a:ea typeface="微软雅黑"/>
              </a:rPr>
              <a:t>中间步骤打分消融实验：保留中间步骤（样本量不变），奖励来源从判官分改为本轮最终确定性结果，验证上述假设</a:t>
            </a:r>
          </a:p>
          <a:p>
            <a:pPr lvl="1" marL="285750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sz="1150" b="0">
                <a:latin typeface="Segoe UI"/>
                <a:ea typeface="微软雅黑"/>
              </a:rPr>
              <a:t>终极目标：完整训满 30 天，用</a:t>
            </a:r>
            <a:r>
              <a:rPr sz="1150" b="1">
                <a:latin typeface="Segoe UI"/>
                <a:ea typeface="微软雅黑"/>
              </a:rPr>
              <a:t>训练前后全程对比</a:t>
            </a:r>
            <a:r>
              <a:rPr sz="1150" b="0">
                <a:latin typeface="Segoe UI"/>
                <a:ea typeface="微软雅黑"/>
              </a:rPr>
              <a:t>取代目前 K=6 这个权宜结果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105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Segoe UI</vt:lpstr>
      <vt:lpstr>Office Theme</vt:lpstr>
      <vt:lpstr>工作完成情况 ｜ 方法泛化方案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#MAO ZEHUI#</cp:lastModifiedBy>
  <cp:revision>21</cp:revision>
  <dcterms:created xsi:type="dcterms:W3CDTF">2025-08-12T09:33:41Z</dcterms:created>
  <dcterms:modified xsi:type="dcterms:W3CDTF">2026-08-31T02:50:28Z</dcterms:modified>
</cp:coreProperties>
</file>